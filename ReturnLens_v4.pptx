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IBM Plex Mono"/>
              </a:defRPr>
            </a:pPr>
            <a:r>
              <a:t>AGENTX HACKATHON 2026 · TRACK PS-04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114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172621"/>
                </a:solidFill>
                <a:latin typeface="Inter"/>
              </a:defRPr>
            </a:pPr>
            <a:r>
              <a:t>RETURNLENS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B55"/>
                </a:solidFill>
                <a:latin typeface="Inter"/>
              </a:defRPr>
            </a:pPr>
            <a:r>
              <a:t>“Review returns with cited video evidence.”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4114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6E64"/>
                </a:solidFill>
                <a:latin typeface="Inter"/>
              </a:defRPr>
            </a:pPr>
            <a:r>
              <a:t>An evidence-backed return triage agent for small direct-to-consumer sellers.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72621"/>
                </a:solidFill>
                <a:latin typeface="IBM Plex Mono"/>
              </a:defRPr>
            </a:pPr>
            <a:r>
              <a:t>Team Rookie · 3 members · PS-04 submission</a:t>
            </a:r>
          </a:p>
          <a:p>
            <a:pPr>
              <a:defRPr sz="1100">
                <a:solidFill>
                  <a:srgbClr val="596E64"/>
                </a:solidFill>
                <a:latin typeface="Inter"/>
              </a:defRPr>
            </a:pPr>
            <a:r>
              <a:t>User: Solo D2C merchant managing orders and returns alone.</a:t>
            </a:r>
          </a:p>
          <a:p>
            <a:pPr>
              <a:defRPr sz="1100">
                <a:solidFill>
                  <a:srgbClr val="596E64"/>
                </a:solidFill>
                <a:latin typeface="Inter"/>
              </a:defRPr>
            </a:pPr>
            <a:r>
              <a:t>Scope in 24h: Return triage only, mock store data + 1 order-status route.</a:t>
            </a:r>
          </a:p>
          <a:p>
            <a:pPr>
              <a:defRPr sz="1100" b="1">
                <a:solidFill>
                  <a:srgbClr val="172621"/>
                </a:solidFill>
                <a:latin typeface="Inter"/>
              </a:defRPr>
            </a:pPr>
            <a:r>
              <a:t>Not another chatbot; not an autonomous refund gate.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73152" cy="2011680"/>
          </a:xfrm>
          <a:prstGeom prst="rect">
            <a:avLst/>
          </a:prstGeom>
          <a:solidFill>
            <a:srgbClr val="00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005840"/>
            <a:ext cx="6339535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1005840"/>
            <a:ext cx="6339535" cy="411480"/>
          </a:xfrm>
          <a:prstGeom prst="rect">
            <a:avLst/>
          </a:prstGeom>
          <a:solidFill>
            <a:srgbClr val="17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3EF"/>
                </a:solidFill>
                <a:latin typeface="IBM Plex Mono"/>
              </a:defRPr>
            </a:pPr>
            <a:r>
              <a:t>RETURNLENS SELLER CONSOLE · CASE #RET-4082          ORDER #ORD-9021</a:t>
            </a:r>
          </a:p>
        </p:txBody>
      </p:sp>
      <p:pic>
        <p:nvPicPr>
          <p:cNvPr id="11" name="Picture 10" descr="hero_video_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17320"/>
            <a:ext cx="3474720" cy="45262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595360" y="1417320"/>
            <a:ext cx="2864815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554480"/>
            <a:ext cx="24990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A8E85"/>
                </a:solidFill>
                <a:latin typeface="IBM Plex Mono"/>
              </a:defRPr>
            </a:pPr>
            <a:r>
              <a:t>ORDER TRUTH</a:t>
            </a:r>
          </a:p>
          <a:p>
            <a:pPr>
              <a:defRPr sz="1200" b="1">
                <a:solidFill>
                  <a:srgbClr val="172621"/>
                </a:solidFill>
                <a:latin typeface="Inter"/>
              </a:defRPr>
            </a:pPr>
            <a:r>
              <a:t>HEAD-WHT-02 · White Headphones</a:t>
            </a:r>
          </a:p>
          <a:p>
            <a:pPr>
              <a:defRPr sz="1000">
                <a:solidFill>
                  <a:srgbClr val="596E64"/>
                </a:solidFill>
                <a:latin typeface="Inter"/>
              </a:defRPr>
            </a:pPr>
            <a:r>
              <a:t>₹1,499 · Delivered Day 4 (Within 7d window)</a:t>
            </a:r>
          </a:p>
          <a:p>
            <a:br/>
            <a:pPr>
              <a:defRPr sz="1000" b="1">
                <a:solidFill>
                  <a:srgbClr val="7A8E85"/>
                </a:solidFill>
                <a:latin typeface="IBM Plex Mono"/>
              </a:defRPr>
            </a:pPr>
            <a:r>
              <a:t>EVIDENCE CITATION</a:t>
            </a:r>
          </a:p>
          <a:p>
            <a:pPr>
              <a:defRPr sz="1200" b="1">
                <a:solidFill>
                  <a:srgbClr val="172621"/>
                </a:solidFill>
                <a:latin typeface="Inter"/>
              </a:defRPr>
            </a:pPr>
            <a:r>
              <a:t>Inspection Frame 00:14</a:t>
            </a:r>
          </a:p>
          <a:p>
            <a:pPr>
              <a:defRPr sz="1000">
                <a:solidFill>
                  <a:srgbClr val="596E64"/>
                </a:solidFill>
                <a:latin typeface="Inter"/>
              </a:defRPr>
            </a:pPr>
            <a:r>
              <a:t>Casing crack verified at lower seam</a:t>
            </a:r>
          </a:p>
          <a:p>
            <a:br/>
            <a:pPr>
              <a:defRPr sz="1000" b="1">
                <a:solidFill>
                  <a:srgbClr val="7A8E85"/>
                </a:solidFill>
                <a:latin typeface="IBM Plex Mono"/>
              </a:defRPr>
            </a:pPr>
            <a:r>
              <a:t>POLICY VERIFICATION</a:t>
            </a:r>
          </a:p>
          <a:p>
            <a:pPr>
              <a:defRPr sz="1200" b="1">
                <a:solidFill>
                  <a:srgbClr val="172621"/>
                </a:solidFill>
                <a:latin typeface="Inter"/>
              </a:defRPr>
            </a:pPr>
            <a:r>
              <a:t>P-01 Physical Defect: 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4663440"/>
            <a:ext cx="2499055" cy="365760"/>
          </a:xfrm>
          <a:prstGeom prst="rect">
            <a:avLst/>
          </a:prstGeom>
          <a:solidFill>
            <a:srgbClr val="E1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B55"/>
                </a:solidFill>
                <a:latin typeface="IBM Plex Mono"/>
              </a:defRPr>
            </a:pPr>
            <a:r>
              <a:t>READY FOR SELLER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5120640"/>
            <a:ext cx="2499055" cy="411480"/>
          </a:xfrm>
          <a:prstGeom prst="rect">
            <a:avLst/>
          </a:prstGeom>
          <a:solidFill>
            <a:srgbClr val="00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Approve Return &amp; Draft Refund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3679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E85"/>
                </a:solidFill>
                <a:latin typeface="IBM Plex Mono"/>
              </a:defRPr>
            </a:pPr>
            <a:r>
              <a:t>ReturnLens · Idea Pitch Deck · PS-04 · Team Rookie (3 members)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336792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E85"/>
                </a:solidFill>
                <a:latin typeface="IBM Plex Mono"/>
              </a:defRPr>
            </a:pPr>
            <a:r>
              <a:t>Slide 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IBM Plex Mono"/>
              </a:defRPr>
            </a:pPr>
            <a:r>
              <a:t>THE PROBLEM · SOLO SELLER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72621"/>
                </a:solidFill>
                <a:latin typeface="Inter"/>
              </a:defRPr>
            </a:pPr>
            <a:r>
              <a:t>One return decision. Four disconnected 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6E64"/>
                </a:solidFill>
                <a:latin typeface="Inter"/>
              </a:defRPr>
            </a:pPr>
            <a:r>
              <a:t>The return decision is made from memory, before the evidence is checked.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3108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B55"/>
                </a:solidFill>
                <a:latin typeface="IBM Plex Mono"/>
              </a:defRPr>
            </a:pPr>
            <a:r>
              <a:t>01 BUYER CHAT</a:t>
            </a:r>
          </a:p>
          <a:p>
            <a:pPr>
              <a:defRPr sz="1400" b="1">
                <a:solidFill>
                  <a:srgbClr val="172621"/>
                </a:solidFill>
                <a:latin typeface="Inter"/>
              </a:defRPr>
            </a:pPr>
            <a:r>
              <a:t>“Received damaged item”</a:t>
            </a:r>
          </a:p>
          <a:p>
            <a:pPr>
              <a:defRPr sz="1100">
                <a:solidFill>
                  <a:srgbClr val="596E64"/>
                </a:solidFill>
                <a:latin typeface="Inter"/>
              </a:defRPr>
            </a:pPr>
            <a:r>
              <a:t>Buyer upload: 30–60s unboxing video + reason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97680"/>
            <a:ext cx="3108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B55"/>
                </a:solidFill>
                <a:latin typeface="IBM Plex Mono"/>
              </a:defRPr>
            </a:pPr>
            <a:r>
              <a:t>03 COURIER TRACKING</a:t>
            </a:r>
          </a:p>
          <a:p>
            <a:pPr>
              <a:defRPr sz="1400" b="1">
                <a:solidFill>
                  <a:srgbClr val="172621"/>
                </a:solidFill>
                <a:latin typeface="Inter"/>
              </a:defRPr>
            </a:pPr>
            <a:r>
              <a:t>Delivered 4 days ago</a:t>
            </a:r>
          </a:p>
          <a:p>
            <a:pPr>
              <a:defRPr sz="1100">
                <a:solidFill>
                  <a:srgbClr val="596E64"/>
                </a:solidFill>
                <a:latin typeface="Inter"/>
              </a:defRPr>
            </a:pPr>
            <a:r>
              <a:t>Shippo mock tracking API scan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2468880"/>
            <a:ext cx="3108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B55"/>
                </a:solidFill>
                <a:latin typeface="IBM Plex Mono"/>
              </a:defRPr>
            </a:pPr>
            <a:r>
              <a:t>02 ORDER RECORD</a:t>
            </a:r>
          </a:p>
          <a:p>
            <a:pPr>
              <a:defRPr sz="1400" b="1">
                <a:solidFill>
                  <a:srgbClr val="172621"/>
                </a:solidFill>
                <a:latin typeface="Inter"/>
              </a:defRPr>
            </a:pPr>
            <a:r>
              <a:t>White Headphones · ₹1,499</a:t>
            </a:r>
          </a:p>
          <a:p>
            <a:pPr>
              <a:defRPr sz="1100">
                <a:solidFill>
                  <a:srgbClr val="596E64"/>
                </a:solidFill>
                <a:latin typeface="Inter"/>
              </a:defRPr>
            </a:pPr>
            <a:r>
              <a:t>Shopify mock store API inventory database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4297680"/>
            <a:ext cx="3108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B55"/>
                </a:solidFill>
                <a:latin typeface="IBM Plex Mono"/>
              </a:defRPr>
            </a:pPr>
            <a:r>
              <a:t>04 RETURN POLICY</a:t>
            </a:r>
          </a:p>
          <a:p>
            <a:pPr>
              <a:defRPr sz="1400" b="1">
                <a:solidFill>
                  <a:srgbClr val="172621"/>
                </a:solidFill>
                <a:latin typeface="Inter"/>
              </a:defRPr>
            </a:pPr>
            <a:r>
              <a:t>7-Day Window · Sealed Tag</a:t>
            </a:r>
          </a:p>
          <a:p>
            <a:pPr>
              <a:defRPr sz="1100">
                <a:solidFill>
                  <a:srgbClr val="596E64"/>
                </a:solidFill>
                <a:latin typeface="Inter"/>
              </a:defRPr>
            </a:pPr>
            <a:r>
              <a:t>Deterministic code rules P-01 to P-08, never prompts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651760"/>
            <a:ext cx="3931920" cy="2560320"/>
          </a:xfrm>
          <a:prstGeom prst="rect">
            <a:avLst/>
          </a:prstGeom>
          <a:solidFill>
            <a:srgbClr val="172621"/>
          </a:solidFill>
          <a:ln w="25400">
            <a:solidFill>
              <a:srgbClr val="D95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95D39"/>
                </a:solidFill>
                <a:latin typeface="IBM Plex Mono"/>
              </a:defRPr>
            </a:pPr>
            <a:r>
              <a:t>CRITICAL INFORMATION GAP</a:t>
            </a:r>
          </a:p>
          <a:p>
            <a:pPr algn="ctr">
              <a:defRPr sz="1400" b="1">
                <a:solidFill>
                  <a:srgbClr val="F5F3EF"/>
                </a:solidFill>
                <a:latin typeface="Inter"/>
              </a:defRPr>
            </a:pPr>
            <a:r>
              <a:t>NO SINGLE RECORD TIES ORDER, VIDEO &amp; POLICY TOGETHER</a:t>
            </a:r>
          </a:p>
          <a:p>
            <a:pPr algn="ctr">
              <a:defRPr sz="1000">
                <a:solidFill>
                  <a:srgbClr val="D1D5DB"/>
                </a:solidFill>
                <a:latin typeface="Inter"/>
              </a:defRPr>
            </a:pPr>
            <a:r>
              <a:t>Today the seller opens many tabs, then decides alone. A wrong refund loses money and stock; an unfair denial loses a repeat customer. The gap is not a missing returns portal, it is that no single record ties order, video frame, policy clause, and decision together.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3679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E85"/>
                </a:solidFill>
                <a:latin typeface="IBM Plex Mono"/>
              </a:defRPr>
            </a:pPr>
            <a:r>
              <a:t>Fraud estimates differ by definition: 9% (NRF 2025, fraud only) vs 15.14% (Appriss/Deloitte 2024, fraud + abuse).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336792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E85"/>
                </a:solidFill>
                <a:latin typeface="IBM Plex Mono"/>
              </a:defRPr>
            </a:pPr>
            <a:r>
              <a:t>Slide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IBM Plex Mono"/>
              </a:defRPr>
            </a:pPr>
            <a:r>
              <a:t>VISUAL EVIDENCE BENCHMARK · CORE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72621"/>
                </a:solidFill>
                <a:latin typeface="Inter"/>
              </a:defRPr>
            </a:pPr>
            <a:r>
              <a:t>The order says white. The video shows black.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6E64"/>
                </a:solidFill>
                <a:latin typeface="Inter"/>
              </a:defRPr>
            </a:pPr>
            <a:r>
              <a:t>ReturnLens surfaces the contradiction instead of auto-denying.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33832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mo_white_or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48840"/>
            <a:ext cx="338328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120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2621"/>
                </a:solidFill>
                <a:latin typeface="IBM Plex Mono"/>
              </a:defRPr>
            </a:pPr>
            <a:r>
              <a:t>ORDER RECORD · SKU: HEAD-WHT-02</a:t>
            </a:r>
          </a:p>
          <a:p>
            <a:pPr>
              <a:defRPr sz="1000">
                <a:solidFill>
                  <a:srgbClr val="596E64"/>
                </a:solidFill>
                <a:latin typeface="Inter"/>
              </a:defRPr>
            </a:pPr>
            <a:r>
              <a:t>Matte White · ₹1,499 · Delivered 4 days ago · Tag present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148840"/>
            <a:ext cx="33832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mo_black_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148840"/>
            <a:ext cx="3383280" cy="2926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9120" y="5120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2621"/>
                </a:solidFill>
                <a:latin typeface="IBM Plex Mono"/>
              </a:defRPr>
            </a:pPr>
            <a:r>
              <a:t>VIDEO FRAME · TIME 00:07 / 00:32</a:t>
            </a:r>
          </a:p>
          <a:p>
            <a:pPr>
              <a:defRPr sz="1000">
                <a:solidFill>
                  <a:srgbClr val="596E64"/>
                </a:solidFill>
                <a:latin typeface="Inter"/>
              </a:defRPr>
            </a:pPr>
            <a:r>
              <a:t>Observed: HEAD-BLK-09 · Midnight Black · Mock evidence pack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3474720"/>
            <a:ext cx="1645920" cy="45720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BM Plex Mono"/>
              </a:defRPr>
            </a:pPr>
            <a:r>
              <a:t>COLOR MISMATCH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148840"/>
            <a:ext cx="3596335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2148840"/>
            <a:ext cx="73152" cy="402336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24028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5D39"/>
                </a:solidFill>
                <a:latin typeface="IBM Plex Mono"/>
              </a:defRPr>
            </a:pPr>
            <a:r>
              <a:t>DETERMINISTIC POLICY GATE</a:t>
            </a:r>
          </a:p>
          <a:p>
            <a:pPr>
              <a:defRPr sz="1500" b="1">
                <a:solidFill>
                  <a:srgbClr val="172621"/>
                </a:solidFill>
                <a:latin typeface="Inter"/>
              </a:defRPr>
            </a:pPr>
            <a:r>
              <a:t>Policy P-03 Check: FAIL</a:t>
            </a:r>
          </a:p>
          <a:p>
            <a:pPr>
              <a:defRPr sz="1000">
                <a:solidFill>
                  <a:srgbClr val="596E64"/>
                </a:solidFill>
                <a:latin typeface="Inter"/>
              </a:defRPr>
            </a:pPr>
            <a:r>
              <a:t>Specification contradiction flagged against Shopify order manifest.</a:t>
            </a:r>
          </a:p>
          <a:p>
            <a:br/>
            <a:pPr>
              <a:defRPr sz="900" b="1">
                <a:solidFill>
                  <a:srgbClr val="006B55"/>
                </a:solidFill>
                <a:latin typeface="IBM Plex Mono"/>
              </a:defRPr>
            </a:pPr>
            <a:r>
              <a:t>typed JSON, requires_seller_approval: true</a:t>
            </a:r>
          </a:p>
          <a:p>
            <a:br/>
            <a:pPr>
              <a:defRPr sz="1000" b="1">
                <a:solidFill>
                  <a:srgbClr val="991B1B"/>
                </a:solidFill>
                <a:latin typeface="IBM Plex Mono"/>
              </a:defRPr>
            </a:pPr>
            <a:r>
              <a:t>STATUS: ESCALATE (NEEDS SELLER REVIEW)</a:t>
            </a:r>
          </a:p>
          <a:p>
            <a:br/>
            <a:pPr>
              <a:defRPr sz="900" b="1">
                <a:solidFill>
                  <a:srgbClr val="172621"/>
                </a:solidFill>
                <a:latin typeface="IBM Plex Mono"/>
              </a:defRPr>
            </a:pPr>
            <a:r>
              <a:t>Seller Action Options:</a:t>
            </a:r>
          </a:p>
          <a:p>
            <a:pPr>
              <a:defRPr sz="900">
                <a:solidFill>
                  <a:srgbClr val="172621"/>
                </a:solidFill>
                <a:latin typeface="Inter"/>
              </a:defRPr>
            </a:pPr>
            <a:r>
              <a:t>1. Accept as merchant mis-shipment</a:t>
            </a:r>
            <a:br/>
            <a:r>
              <a:t>2. Ask customer for outside-box shipping label</a:t>
            </a:r>
            <a:br/>
            <a:r>
              <a:t>3. Hold return for physical inspection at warehouse</a:t>
            </a:r>
          </a:p>
          <a:p>
            <a:br/>
            <a:pPr>
              <a:defRPr sz="850">
                <a:solidFill>
                  <a:srgbClr val="596E64"/>
                </a:solidFill>
                <a:latin typeface="Inter"/>
              </a:defRPr>
            </a:pPr>
            <a:r>
              <a:t>Cap: 0 &lt; amount &lt;= min(₹4,999, remaining refundable amount, order paid amount)</a:t>
            </a:r>
            <a:br/>
            <a:r>
              <a:t>No auto-denial · No refund released without seller click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3679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E85"/>
                </a:solidFill>
                <a:latin typeface="IBM Plex Mono"/>
              </a:defRPr>
            </a:pPr>
            <a:r>
              <a:t>Illustrative staged evidence · Mock Shopify &amp; Shippo APIs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336792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E85"/>
                </a:solidFill>
                <a:latin typeface="IBM Plex Mono"/>
              </a:defRPr>
            </a:pPr>
            <a:r>
              <a:t>Slide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1A7"/>
                </a:solidFill>
                <a:latin typeface="IBM Plex Mono"/>
              </a:defRPr>
            </a:pPr>
            <a:r>
              <a:t>SYSTEM ARCHITECTURE · DETERMINISTIC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3EF"/>
                </a:solidFill>
                <a:latin typeface="Inter"/>
              </a:defRPr>
            </a:pPr>
            <a:r>
              <a:t>Models observe. Code verifies. Seller authorizes.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A3B8B0"/>
                </a:solidFill>
                <a:latin typeface="Inter"/>
              </a:defRPr>
            </a:pPr>
            <a:r>
              <a:t>Policy checks and seller approval control actions.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691640" cy="1280160"/>
          </a:xfrm>
          <a:prstGeom prst="rect">
            <a:avLst/>
          </a:prstGeom>
          <a:solidFill>
            <a:srgbClr val="172621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C8279"/>
                </a:solidFill>
                <a:latin typeface="IBM Plex Mono"/>
              </a:defRPr>
            </a:pPr>
            <a:r>
              <a:t>01 PLAN</a:t>
            </a:r>
          </a:p>
          <a:p>
            <a:pPr>
              <a:defRPr sz="1200" b="1">
                <a:solidFill>
                  <a:srgbClr val="F5F3EF"/>
                </a:solidFill>
                <a:latin typeface="Inter"/>
              </a:defRPr>
            </a:pPr>
            <a:r>
              <a:t>Planner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1691640" cy="36576"/>
          </a:xfrm>
          <a:prstGeom prst="rect">
            <a:avLst/>
          </a:prstGeom>
          <a:solidFill>
            <a:srgbClr val="00D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3017520"/>
            <a:ext cx="1472184" cy="274320"/>
          </a:xfrm>
          <a:prstGeom prst="rect">
            <a:avLst/>
          </a:prstGeom>
          <a:solidFill>
            <a:srgbClr val="003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D1A7"/>
                </a:solidFill>
                <a:latin typeface="IBM Plex Mono"/>
              </a:defRPr>
            </a:pPr>
            <a: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2888" y="2148840"/>
            <a:ext cx="1691640" cy="1280160"/>
          </a:xfrm>
          <a:prstGeom prst="rect">
            <a:avLst/>
          </a:prstGeom>
          <a:solidFill>
            <a:srgbClr val="172621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C8279"/>
                </a:solidFill>
                <a:latin typeface="IBM Plex Mono"/>
              </a:defRPr>
            </a:pPr>
            <a:r>
              <a:t>02 RETRIEVE</a:t>
            </a:r>
          </a:p>
          <a:p>
            <a:pPr>
              <a:defRPr sz="1200" b="1">
                <a:solidFill>
                  <a:srgbClr val="F5F3EF"/>
                </a:solidFill>
                <a:latin typeface="Inter"/>
              </a:defRPr>
            </a:pPr>
            <a:r>
              <a:t>Tools &amp; Video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32888" y="2148840"/>
            <a:ext cx="1691640" cy="36576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42616" y="3017520"/>
            <a:ext cx="1472184" cy="274320"/>
          </a:xfrm>
          <a:prstGeom prst="rect">
            <a:avLst/>
          </a:prstGeom>
          <a:solidFill>
            <a:srgbClr val="263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3EF"/>
                </a:solidFill>
                <a:latin typeface="IBM Plex Mono"/>
              </a:defRPr>
            </a:pPr>
            <a:r>
              <a:t>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2148840"/>
            <a:ext cx="1691640" cy="1280160"/>
          </a:xfrm>
          <a:prstGeom prst="rect">
            <a:avLst/>
          </a:prstGeom>
          <a:solidFill>
            <a:srgbClr val="172621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C8279"/>
                </a:solidFill>
                <a:latin typeface="IBM Plex Mono"/>
              </a:defRPr>
            </a:pPr>
            <a:r>
              <a:t>03 EVALUATE</a:t>
            </a:r>
          </a:p>
          <a:p>
            <a:pPr>
              <a:defRPr sz="1200" b="1">
                <a:solidFill>
                  <a:srgbClr val="F5F3EF"/>
                </a:solidFill>
                <a:latin typeface="Inter"/>
              </a:defRPr>
            </a:pPr>
            <a:r>
              <a:t>Policy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2148840"/>
            <a:ext cx="1691640" cy="36576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3984" y="3017520"/>
            <a:ext cx="1472184" cy="274320"/>
          </a:xfrm>
          <a:prstGeom prst="rect">
            <a:avLst/>
          </a:prstGeom>
          <a:solidFill>
            <a:srgbClr val="263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3EF"/>
                </a:solidFill>
                <a:latin typeface="IBM Plex Mono"/>
              </a:defRPr>
            </a:pPr>
            <a:r>
              <a:t>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5624" y="2148840"/>
            <a:ext cx="1691640" cy="1280160"/>
          </a:xfrm>
          <a:prstGeom prst="rect">
            <a:avLst/>
          </a:prstGeom>
          <a:solidFill>
            <a:srgbClr val="172621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C8279"/>
                </a:solidFill>
                <a:latin typeface="IBM Plex Mono"/>
              </a:defRPr>
            </a:pPr>
            <a:r>
              <a:t>04 AUDIT</a:t>
            </a:r>
          </a:p>
          <a:p>
            <a:pPr>
              <a:defRPr sz="1200" b="1">
                <a:solidFill>
                  <a:srgbClr val="F5F3EF"/>
                </a:solidFill>
                <a:latin typeface="Inter"/>
              </a:defRPr>
            </a:pPr>
            <a:r>
              <a:t>Critic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5624" y="2148840"/>
            <a:ext cx="1691640" cy="36576"/>
          </a:xfrm>
          <a:prstGeom prst="rect">
            <a:avLst/>
          </a:prstGeom>
          <a:solidFill>
            <a:srgbClr val="00D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3017520"/>
            <a:ext cx="1472184" cy="274320"/>
          </a:xfrm>
          <a:prstGeom prst="rect">
            <a:avLst/>
          </a:prstGeom>
          <a:solidFill>
            <a:srgbClr val="003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D1A7"/>
                </a:solidFill>
                <a:latin typeface="IBM Plex Mono"/>
              </a:defRPr>
            </a:pPr>
            <a:r>
              <a:t>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36992" y="2148840"/>
            <a:ext cx="1691640" cy="1280160"/>
          </a:xfrm>
          <a:prstGeom prst="rect">
            <a:avLst/>
          </a:prstGeom>
          <a:solidFill>
            <a:srgbClr val="172621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C8279"/>
                </a:solidFill>
                <a:latin typeface="IBM Plex Mono"/>
              </a:defRPr>
            </a:pPr>
            <a:r>
              <a:t>05 AUTHORIZE</a:t>
            </a:r>
          </a:p>
          <a:p>
            <a:pPr>
              <a:defRPr sz="1200" b="1">
                <a:solidFill>
                  <a:srgbClr val="F5F3EF"/>
                </a:solidFill>
                <a:latin typeface="Inter"/>
              </a:defRPr>
            </a:pPr>
            <a:r>
              <a:t>Seller 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6992" y="2148840"/>
            <a:ext cx="169164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3017520"/>
            <a:ext cx="1472184" cy="274320"/>
          </a:xfrm>
          <a:prstGeom prst="rect">
            <a:avLst/>
          </a:prstGeom>
          <a:solidFill>
            <a:srgbClr val="452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BBF24"/>
                </a:solidFill>
                <a:latin typeface="IBM Plex Mono"/>
              </a:defRPr>
            </a:pPr>
            <a:r>
              <a:t>HUMAN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38360" y="2148840"/>
            <a:ext cx="1691640" cy="1280160"/>
          </a:xfrm>
          <a:prstGeom prst="rect">
            <a:avLst/>
          </a:prstGeom>
          <a:solidFill>
            <a:srgbClr val="172621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C8279"/>
                </a:solidFill>
                <a:latin typeface="IBM Plex Mono"/>
              </a:defRPr>
            </a:pPr>
            <a:r>
              <a:t>06 RECORD</a:t>
            </a:r>
          </a:p>
          <a:p>
            <a:pPr>
              <a:defRPr sz="1200" b="1">
                <a:solidFill>
                  <a:srgbClr val="F5F3EF"/>
                </a:solidFill>
                <a:latin typeface="Inter"/>
              </a:defRPr>
            </a:pPr>
            <a:r>
              <a:t>Audit 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38360" y="2148840"/>
            <a:ext cx="1691640" cy="36576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48088" y="3017520"/>
            <a:ext cx="1472184" cy="274320"/>
          </a:xfrm>
          <a:prstGeom prst="rect">
            <a:avLst/>
          </a:prstGeom>
          <a:solidFill>
            <a:srgbClr val="263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3EF"/>
                </a:solidFill>
                <a:latin typeface="IBM Plex Mono"/>
              </a:defRPr>
            </a:pPr>
            <a:r>
              <a:t>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657600"/>
            <a:ext cx="2560320" cy="1188720"/>
          </a:xfrm>
          <a:prstGeom prst="rect">
            <a:avLst/>
          </a:prstGeom>
          <a:solidFill>
            <a:srgbClr val="121F1B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7171"/>
                </a:solidFill>
                <a:latin typeface="IBM Plex Mono"/>
              </a:defRPr>
            </a:pPr>
            <a:r>
              <a:t>1. CONTRADICTION → ESCALATE</a:t>
            </a:r>
          </a:p>
          <a:p>
            <a:pPr>
              <a:defRPr sz="950">
                <a:solidFill>
                  <a:srgbClr val="A3B8B0"/>
                </a:solidFill>
                <a:latin typeface="Inter"/>
              </a:defRPr>
            </a:pPr>
            <a:r>
              <a:t>Discrepancy flagged (e.g. Case B). Inhibits automated label and refund draft.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47288" y="3657600"/>
            <a:ext cx="2560320" cy="1188720"/>
          </a:xfrm>
          <a:prstGeom prst="rect">
            <a:avLst/>
          </a:prstGeom>
          <a:solidFill>
            <a:srgbClr val="121F1B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BBF24"/>
                </a:solidFill>
                <a:latin typeface="IBM Plex Mono"/>
              </a:defRPr>
            </a:pPr>
            <a:r>
              <a:t>2. HARD FAIL → ESCALATE</a:t>
            </a:r>
          </a:p>
          <a:p>
            <a:pPr>
              <a:defRPr sz="950">
                <a:solidFill>
                  <a:srgbClr val="A3B8B0"/>
                </a:solidFill>
                <a:latin typeface="Inter"/>
              </a:defRPr>
            </a:pPr>
            <a:r>
              <a:t>Mandatory rule violation (e.g. expired window). Seller reviews; never auto-deny.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3657600"/>
            <a:ext cx="2560320" cy="1188720"/>
          </a:xfrm>
          <a:prstGeom prst="rect">
            <a:avLst/>
          </a:prstGeom>
          <a:solidFill>
            <a:srgbClr val="121F1B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60A5FA"/>
                </a:solidFill>
                <a:latin typeface="IBM Plex Mono"/>
              </a:defRPr>
            </a:pPr>
            <a:r>
              <a:t>3. UNCLEAR ONLY → ASK MORE</a:t>
            </a:r>
          </a:p>
          <a:p>
            <a:pPr>
              <a:defRPr sz="950">
                <a:solidFill>
                  <a:srgbClr val="A3B8B0"/>
                </a:solidFill>
                <a:latin typeface="Inter"/>
              </a:defRPr>
            </a:pPr>
            <a:r>
              <a:t>Low brightness or blur (e.g. Case C). Prompts exact re-film checklist (1 retry limit).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3657600"/>
            <a:ext cx="2560320" cy="1188720"/>
          </a:xfrm>
          <a:prstGeom prst="rect">
            <a:avLst/>
          </a:prstGeom>
          <a:solidFill>
            <a:srgbClr val="121F1B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4D399"/>
                </a:solidFill>
                <a:latin typeface="IBM Plex Mono"/>
              </a:defRPr>
            </a:pPr>
            <a:r>
              <a:t>4. ALL PASS → APPROVE REVIEW</a:t>
            </a:r>
          </a:p>
          <a:p>
            <a:pPr>
              <a:defRPr sz="950">
                <a:solidFill>
                  <a:srgbClr val="A3B8B0"/>
                </a:solidFill>
                <a:latin typeface="Inter"/>
              </a:defRPr>
            </a:pPr>
            <a:r>
              <a:t>All clauses pass (e.g. Case A). Prepares mock label and drafts refund in pending_return_receipt.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029200"/>
            <a:ext cx="10728655" cy="822960"/>
          </a:xfrm>
          <a:prstGeom prst="rect">
            <a:avLst/>
          </a:prstGeom>
          <a:solidFill>
            <a:srgbClr val="121F1B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A3B8B0"/>
                </a:solidFill>
                <a:latin typeface="IBM Plex Mono"/>
              </a:defRPr>
            </a:pPr>
            <a:r>
              <a:t>■ Model Calls: Exactly 3 base calls per case (planner, vision, critic) plus retries  |  ■ Policy Clauses: Deterministic Python rules P-01 to P-08, never prompts</a:t>
            </a:r>
          </a:p>
          <a:p>
            <a:pPr>
              <a:defRPr sz="950">
                <a:solidFill>
                  <a:srgbClr val="A3B8B0"/>
                </a:solidFill>
                <a:latin typeface="IBM Plex Mono"/>
              </a:defRPr>
            </a:pPr>
            <a:r>
              <a:t>■ Critic: The critic reviews cited frames and flags unsupported observations  |  ■ Safety: Prompt injection cannot alter policy code or bypass human gate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22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33679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786E"/>
                </a:solidFill>
                <a:latin typeface="IBM Plex Mono"/>
              </a:defRPr>
            </a:pPr>
            <a:r>
              <a:t>Structured audit log recorded at every state transition · Decision priority: Contradiction &gt; Hard fail &gt; Unclear only &gt; All 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786E"/>
                </a:solidFill>
                <a:latin typeface="IBM Plex Mono"/>
              </a:defRPr>
            </a:pPr>
            <a:r>
              <a:t>Slide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IBM Plex Mono"/>
              </a:defRPr>
            </a:pPr>
            <a:r>
              <a:t>DEMO SCENARIOS · GROUNDED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72621"/>
                </a:solidFill>
                <a:latin typeface="Inter"/>
              </a:defRPr>
            </a:pPr>
            <a:r>
              <a:t>Four scenarios. Four predictable behaviors.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6E64"/>
                </a:solidFill>
                <a:latin typeface="Inter"/>
              </a:defRPr>
            </a:pPr>
            <a:r>
              <a:t>Every decision can be clicked back to a frame, a clause, and a log entry.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072865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368296"/>
            <a:ext cx="1554480" cy="420624"/>
          </a:xfrm>
          <a:prstGeom prst="rect">
            <a:avLst/>
          </a:prstGeom>
          <a:solidFill>
            <a:srgbClr val="E1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B55"/>
                </a:solidFill>
                <a:latin typeface="IBM Plex Mono"/>
              </a:defRPr>
            </a:pPr>
            <a:r>
              <a:t>CASE A ·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258568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2621"/>
                </a:solidFill>
                <a:latin typeface="Inter"/>
              </a:defRPr>
            </a:pPr>
            <a:r>
              <a:t>ORD-1042 (₹1,499) · SKU matches manifest, tag present, visible defect within 7-day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9514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6B55"/>
                </a:solidFill>
                <a:latin typeface="IBM Plex Mono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258568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96E64"/>
                </a:solidFill>
                <a:latin typeface="Inter"/>
              </a:defRPr>
            </a:pPr>
            <a:r>
              <a:t>Seller approval releases mock return label and refund draft in pending_return_receipt, not executed refund.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45536"/>
            <a:ext cx="1072865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64992"/>
            <a:ext cx="1554480" cy="420624"/>
          </a:xfrm>
          <a:prstGeom prst="rect">
            <a:avLst/>
          </a:prstGeom>
          <a:solidFill>
            <a:srgbClr val="F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91B1B"/>
                </a:solidFill>
                <a:latin typeface="IBM Plex Mono"/>
              </a:defRPr>
            </a:pPr>
            <a:r>
              <a:t>CASE B · ESCALATE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255264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2621"/>
                </a:solidFill>
                <a:latin typeface="Inter"/>
              </a:defRPr>
            </a:pPr>
            <a:r>
              <a:t>HEAD-WHT-02 vs HEAD-BLK-09 at Frame 00:07 · Policy P-03 SKU mismatch FAIL.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918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6B55"/>
                </a:solidFill>
                <a:latin typeface="IBM Plex Mono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255264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96E64"/>
                </a:solidFill>
                <a:latin typeface="Inter"/>
              </a:defRPr>
            </a:pPr>
            <a:r>
              <a:t>ESCALATE (no label, no refund, no denial). Seller options: mis-shipment / box label / physical inspection.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42232"/>
            <a:ext cx="1072865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361688"/>
            <a:ext cx="1554480" cy="42062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40AF"/>
                </a:solidFill>
                <a:latin typeface="IBM Plex Mono"/>
              </a:defRPr>
            </a:pPr>
            <a:r>
              <a:t>CASE C · ASK MORE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25196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2621"/>
                </a:solidFill>
                <a:latin typeface="Inter"/>
              </a:defRPr>
            </a:pPr>
            <a:r>
              <a:t>4-second dark video, brightness 28, only 2 usable frames · Unclear evidence check.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28853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6B55"/>
                </a:solidFill>
                <a:latin typeface="IBM Plex Mono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2519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96E64"/>
                </a:solidFill>
                <a:latin typeface="Inter"/>
              </a:defRPr>
            </a:pPr>
            <a:r>
              <a:t>Case stays open with exact re-film checklist. One retry limit prevents customer lock-out.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138928"/>
            <a:ext cx="1072865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5358384"/>
            <a:ext cx="1554480" cy="420624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5F46"/>
                </a:solidFill>
                <a:latin typeface="IBM Plex Mono"/>
              </a:defRPr>
            </a:pPr>
            <a:r>
              <a:t>CASE D · CONTINUITY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248656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2621"/>
                </a:solidFill>
                <a:latin typeface="Inter"/>
              </a:defRPr>
            </a:pPr>
            <a:r>
              <a:t>Unbroken take: opening sealed parcel to showing the label in one continuous sequence.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28523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6B55"/>
                </a:solidFill>
                <a:latin typeface="IBM Plex Mono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5248656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96E64"/>
                </a:solidFill>
                <a:latin typeface="Inter"/>
              </a:defRPr>
            </a:pPr>
            <a:r>
              <a:t>Continuity verified: prevents photo-swap fraud before mock return label generation. Proves why video beats photos.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33679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E85"/>
                </a:solidFill>
                <a:latin typeface="IBM Plex Mono"/>
              </a:defRPr>
            </a:pPr>
            <a:r>
              <a:t>Staged sample videos, mock store data, no real customer PII · Cap: min(₹4,999, remaining refundable amount, order paid amount)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336792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E85"/>
                </a:solidFill>
                <a:latin typeface="IBM Plex Mono"/>
              </a:defRPr>
            </a:pPr>
            <a:r>
              <a:t>Slide 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IBM Plex Mono"/>
              </a:defRPr>
            </a:pPr>
            <a:r>
              <a:t>EXECUTION PLAN · TEAM ROOKIE (3 MEMBERS)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72621"/>
                </a:solidFill>
                <a:latin typeface="Inter"/>
              </a:defRPr>
            </a:pPr>
            <a:r>
              <a:t>Built for a 24-hour sprint.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6E64"/>
                </a:solidFill>
                <a:latin typeface="Inter"/>
              </a:defRPr>
            </a:pPr>
            <a:r>
              <a:t>Buildable in 24 hours by 3 people, if the scope stays narrow.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10728655" cy="36576"/>
          </a:xfrm>
          <a:prstGeom prst="rect">
            <a:avLst/>
          </a:prstGeom>
          <a:solidFill>
            <a:srgbClr val="00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6B55"/>
                </a:solidFill>
                <a:latin typeface="IBM Plex Mono"/>
              </a:defRPr>
            </a:pPr>
            <a:r>
              <a:t>PERSON A</a:t>
            </a:r>
          </a:p>
          <a:p>
            <a:pPr>
              <a:defRPr sz="1300" b="1">
                <a:solidFill>
                  <a:srgbClr val="172621"/>
                </a:solidFill>
                <a:latin typeface="Inter"/>
              </a:defRPr>
            </a:pPr>
            <a:r>
              <a:t>Backend &amp; Agent Core</a:t>
            </a:r>
          </a:p>
          <a:p>
            <a:pPr>
              <a:defRPr sz="1050">
                <a:solidFill>
                  <a:srgbClr val="596E64"/>
                </a:solidFill>
                <a:latin typeface="Inter"/>
              </a:defRPr>
            </a:pPr>
            <a:r>
              <a:t>Backend, agent graph, policy, critic, audit log.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2544" y="2057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6B55"/>
                </a:solidFill>
                <a:latin typeface="IBM Plex Mono"/>
              </a:defRPr>
            </a:pPr>
            <a:r>
              <a:t>PERSON B</a:t>
            </a:r>
          </a:p>
          <a:p>
            <a:pPr>
              <a:defRPr sz="1300" b="1">
                <a:solidFill>
                  <a:srgbClr val="172621"/>
                </a:solidFill>
                <a:latin typeface="Inter"/>
              </a:defRPr>
            </a:pPr>
            <a:r>
              <a:t>Video Pipeline &amp; UI</a:t>
            </a:r>
          </a:p>
          <a:p>
            <a:pPr>
              <a:defRPr sz="1050">
                <a:solidFill>
                  <a:srgbClr val="596E64"/>
                </a:solidFill>
                <a:latin typeface="Inter"/>
              </a:defRPr>
            </a:pPr>
            <a:r>
              <a:t>Video pipeline, video indexer, seller console, evidence pack 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057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6B55"/>
                </a:solidFill>
                <a:latin typeface="IBM Plex Mono"/>
              </a:defRPr>
            </a:pPr>
            <a:r>
              <a:t>PERSON C</a:t>
            </a:r>
          </a:p>
          <a:p>
            <a:pPr>
              <a:defRPr sz="1300" b="1">
                <a:solidFill>
                  <a:srgbClr val="172621"/>
                </a:solidFill>
                <a:latin typeface="Inter"/>
              </a:defRPr>
            </a:pPr>
            <a:r>
              <a:t>Integration &amp; Verification</a:t>
            </a:r>
          </a:p>
          <a:p>
            <a:pPr>
              <a:defRPr sz="1050">
                <a:solidFill>
                  <a:srgbClr val="596E64"/>
                </a:solidFill>
                <a:latin typeface="Inter"/>
              </a:defRPr>
            </a:pPr>
            <a:r>
              <a:t>Integration, mock data, 4 demo cases, fallback testing, demo video, README.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54680"/>
            <a:ext cx="5212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154680"/>
            <a:ext cx="73152" cy="2011680"/>
          </a:xfrm>
          <a:prstGeom prst="rect">
            <a:avLst/>
          </a:prstGeom>
          <a:solidFill>
            <a:srgbClr val="00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IBM Plex Mono"/>
              </a:defRPr>
            </a:pPr>
            <a:r>
              <a:t>NEVER CUT (CORE ENGINE)</a:t>
            </a:r>
          </a:p>
          <a:p>
            <a:pPr>
              <a:defRPr sz="1100">
                <a:solidFill>
                  <a:srgbClr val="172621"/>
                </a:solidFill>
                <a:latin typeface="Inter"/>
              </a:defRPr>
            </a:pPr>
            <a:r>
              <a:t>• Deterministic policy engine (P-01 to P-08)</a:t>
            </a:r>
            <a:br/>
            <a:r>
              <a:t>• Evidence-pack frame citation</a:t>
            </a:r>
            <a:br/>
            <a:r>
              <a:t>• Fail-closed seller approval gate</a:t>
            </a:r>
            <a:br/>
            <a:r>
              <a:t>• Structured JSON audit log</a:t>
            </a:r>
            <a:br/>
            <a:r>
              <a:t>• 4 reproducible demo cases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8095" y="3154680"/>
            <a:ext cx="5212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8095" y="3154680"/>
            <a:ext cx="73152" cy="201168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324612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5D39"/>
                </a:solidFill>
                <a:latin typeface="IBM Plex Mono"/>
              </a:defRPr>
            </a:pPr>
            <a:r>
              <a:t>CUT FIRST (DEFERRED EXPANSION)</a:t>
            </a:r>
          </a:p>
          <a:p>
            <a:pPr>
              <a:defRPr sz="1100">
                <a:solidFill>
                  <a:srgbClr val="172621"/>
                </a:solidFill>
                <a:latin typeface="Inter"/>
              </a:defRPr>
            </a:pPr>
            <a:r>
              <a:t>• Video OCR barcode scanner</a:t>
            </a:r>
            <a:br/>
            <a:r>
              <a:t>• Auto-drafted customer email reply</a:t>
            </a:r>
            <a:br/>
            <a:r>
              <a:t>• Seller analytics dashboard</a:t>
            </a:r>
            <a:br/>
            <a:r>
              <a:t>• Production payment gateways / live WhatsApp webhooks</a:t>
            </a:r>
            <a:br/>
            <a:r>
              <a:t>• Public cloud deployment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03520"/>
            <a:ext cx="10728655" cy="685800"/>
          </a:xfrm>
          <a:prstGeom prst="rect">
            <a:avLst/>
          </a:prstGeom>
          <a:solidFill>
            <a:srgbClr val="FAF8F5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172621"/>
                </a:solidFill>
                <a:latin typeface="Inter"/>
              </a:defRPr>
            </a:pPr>
            <a:r>
              <a:t>“The winning hackathon agent is not the one with the most tool definitions. It is the one where every action is held to evidence, and the seller stays in control.”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3679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E85"/>
                </a:solidFill>
                <a:latin typeface="IBM Plex Mono"/>
              </a:defRPr>
            </a:pPr>
            <a:r>
              <a:t>Team Rookie (3 members) · PS-04 Autonomous Support Agent · 24-Hour Prototype Feasibility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6336792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E85"/>
                </a:solidFill>
                <a:latin typeface="IBM Plex Mono"/>
              </a:defRPr>
            </a:pPr>
            <a:r>
              <a:t>Slide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