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Product Hero &amp; Executive Summary:</a:t>
            </a:r>
          </a:p>
          <a:p>
            <a:r>
              <a:t>- Problem Statement Fit: PS-04 (Autonomous Support Agent for Online Sellers).</a:t>
            </a:r>
          </a:p>
          <a:p>
            <a:r>
              <a:t>- Target User: Solo direct-to-consumer (D2C) online merchants managing customer support, shipping, and returns alone.</a:t>
            </a:r>
          </a:p>
          <a:p>
            <a:r>
              <a:t>- Core Friction: Solo sellers spend 15–20 minutes per return opening fragmented tabs (buyer chat, Shopify, Shippo tracking, store return policy). Return decisions are currently made from memory without unified evidence.</a:t>
            </a:r>
          </a:p>
          <a:p>
            <a:r>
              <a:t>- Core Thesis: 'Models observe. Code verifies. Seller authorizes.'</a:t>
            </a:r>
          </a:p>
          <a:p>
            <a:r>
              <a:t>- The Console Mockup showcases our core benchmark (Case B): Buyer ordered White Headphones (HEAD-WHT-02, ₹1,499), but unboxing frame 00:07 reveals a Black item. The agent flags the contradiction and presents actionable choices to the seller.</a:t>
            </a:r>
          </a:p>
          <a:p>
            <a:r>
              <a:t>- Safety Boundary: The system never autonomously issues a refund or denies a customer. Financial release strictly requires 1-click merchant authorization.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Problem Space &amp; The Four Disconnected Sources:</a:t>
            </a:r>
          </a:p>
          <a:p>
            <a:r>
              <a:t>- The returns bottleneck for solo sellers is not an absent returns portal; it is fragmented, unverified context.</a:t>
            </a:r>
          </a:p>
          <a:p>
            <a:r>
              <a:t>- The four disconnected sources:</a:t>
            </a:r>
          </a:p>
          <a:p>
            <a:r>
              <a:t>  1. Buyer claim in chat (unverified claims, emotional text).</a:t>
            </a:r>
          </a:p>
          <a:p>
            <a:r>
              <a:t>  2. Store truth in Shopify (SKU HEAD-WHT-02, ₹1,499).</a:t>
            </a:r>
          </a:p>
          <a:p>
            <a:r>
              <a:t>  3. Courier tracking in Shippo (delivered 4 days ago).</a:t>
            </a:r>
          </a:p>
          <a:p>
            <a:r>
              <a:t>  4. Store return policy document (7-day defect window, security tag).</a:t>
            </a:r>
          </a:p>
          <a:p>
            <a:r>
              <a:t>- Central Gap: Four systems, but no traceable decision. The merchant makes memory-based decisions across multiple tabs.</a:t>
            </a:r>
          </a:p>
          <a:p>
            <a:r>
              <a:t>- Fraud Context (Sourced definitions): NRF 2025 reports 9% for strictly criminal return fraud, whereas Appriss/Deloitte 2024 reports 15.14% when combining fraud and policy abuse (wardrobing, unboxing swaps). These measure distinct scopes and must never be merged.</a:t>
            </a:r>
          </a:p>
          <a:p>
            <a:r>
              <a:t>- Asymmetric Merchant Risk: Wrong refund loses inventory and gross margin; unfair denial destroys customer lifetime value (LTV).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The Star Demo &amp; Technical Honesty in Vision Citation:</a:t>
            </a:r>
          </a:p>
          <a:p>
            <a:r>
              <a:t>- Core Benchmark Scenario (Case B): Buyer ordered White Headphones (HEAD-WHT-02, ₹1,499), but unboxing frame 00:07 shows black headphones.</a:t>
            </a:r>
          </a:p>
          <a:p>
            <a:r>
              <a:t>- Visual Grounding Honesty: The agent does NOT claim to read an unreadable SKU barcode from frame 00:07. It factually observes: 'Observed Color: Midnight Black · Exact SKU: Not verified · Tag: Not visible in cited frame'.</a:t>
            </a:r>
          </a:p>
          <a:p>
            <a:r>
              <a:t>- Decision Logic: Seeing a black item when white was ordered is an undeniable visual contradiction against the manifest. Instead of auto-denying the customer (which might alienate an honest buyer if the warehouse mis-shipped), the policy engine triggers ESCALATE.</a:t>
            </a:r>
          </a:p>
          <a:p>
            <a:r>
              <a:t>- Three Clear Merchant Options:</a:t>
            </a:r>
          </a:p>
          <a:p>
            <a:r>
              <a:t>  1. Request unboxing video with packaging label / serial number visible.</a:t>
            </a:r>
          </a:p>
          <a:p>
            <a:r>
              <a:t>  2. Reject return under policy (item does not match order record).</a:t>
            </a:r>
          </a:p>
          <a:p>
            <a:r>
              <a:t>  3. Override &amp; approve if seller acknowledges known warehouse fulfillment error.</a:t>
            </a:r>
          </a:p>
          <a:p>
            <a:r>
              <a:t>- Financial Guardrail: min(₹4,999, remaining refundable amount, order paid amount). No money moves without seller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System Architecture, Agentic Governance &amp; Technical Q&amp;A Defense:</a:t>
            </a:r>
          </a:p>
          <a:p>
            <a:r>
              <a:t>- Philosophy: 'Models observe. Code verifies. Seller authorizes.'</a:t>
            </a:r>
          </a:p>
          <a:p>
            <a:r>
              <a:t>- DEFENSE QUESTION 1: Why is this an agent rather than a hardcoded workflow?</a:t>
            </a:r>
          </a:p>
          <a:p>
            <a:r>
              <a:t>  ReturnLens is an autonomous state machine with dynamic action selection, multi-modal observation, and stateful lifecycle management. In Case C, when a customer submits a dark/blurry video (average brightness 28), the agent does NOT simply fail or run a static linear chain. It inspects the frames, determines evidence is insufficient under Policy P-05, dynamically decides to invoke ask_for_evidence() with specific re-filming guidance, transitions the ticket to WAITING_FOR_EVIDENCE, pauses execution while retaining state and order context, and resumes the exact triage session when new media arrives. Conversely, for routine order status requests, the agent selects the zero-vision fast path directly querying mock APIs.</a:t>
            </a:r>
          </a:p>
          <a:p>
            <a:r>
              <a:t>- DEFENSE QUESTION 2: What happens if vision or critic models hallucinate?</a:t>
            </a:r>
          </a:p>
          <a:p>
            <a:r>
              <a:t>  Vision models produce non-binding observation metadata, never authoritative decisions. Hard business rules (return windows from carrier delivery timestamps, SKU comparisons) are executed in deterministic Python code (P-01 to P-08). The critic provides an adversarial sanity check against cited timestamps. If both vision and critic experience correlated hallucinations, the fail-closed human seller gate guarantees that no refund or return label can ever be issued without seller review.</a:t>
            </a:r>
          </a:p>
          <a:p>
            <a:r>
              <a:t>- DEFENSE QUESTION 3: How do you prevent duplicate or incorrect refunds?</a:t>
            </a:r>
          </a:p>
          <a:p>
            <a:r>
              <a:t>  1. Idempotency keys (hash(order_id, return_id, transaction_type)) prevent double-execution.</a:t>
            </a:r>
          </a:p>
          <a:p>
            <a:r>
              <a:t>  2. Ledgers track cumulative refunded amounts against total order value: 0 &lt; amount &lt;= min(₹4,999, remaining_refundable_amount, order_paid_amount).</a:t>
            </a:r>
          </a:p>
          <a:p>
            <a:r>
              <a:t>  3. LLMs possess zero capability to call payment gateways directly; all actions produce draft state objects awaiting merchant authorization.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Four Reproducible Benchmark Scenarios:</a:t>
            </a:r>
          </a:p>
          <a:p>
            <a:r>
              <a:t>- Grounding Note: These four scenarios represent staged prototype test suites and deterministic expected behaviors, NOT ungrounded production field metrics.</a:t>
            </a:r>
          </a:p>
          <a:p>
            <a:r>
              <a:t>- Case 01 (Consistent Claim): All rules pass (within 7d, SKU matches manifest, tag visible, physical crack observed). System drafts return shipping label and refund draft in 'pending_return_receipt' state. No refund money is transferred until physical warehouse receipt.</a:t>
            </a:r>
          </a:p>
          <a:p>
            <a:r>
              <a:t>- Case 02 (Contradiction): Color mismatch detected (ordered white, unboxed black). System prevents auto-rejection and routes to seller review with 3 concrete resolution options.</a:t>
            </a:r>
          </a:p>
          <a:p>
            <a:r>
              <a:t>- Case 03 (Unclear / Agentic Loop): Dark video (28/255 avg brightness). Instead of auto-denying, the agent provides a clear checklist, transitions to WAITING_FOR_EVIDENCE, and resumes on upload (1 retry limit protects customers from infinite loops).</a:t>
            </a:r>
          </a:p>
          <a:p>
            <a:r>
              <a:t>- Case 04 (Continuity): Expected prototype behavior: inspect parcel-to-product sequence to flag suspicious cut-aways or missing transitions.</a:t>
            </a:r>
          </a:p>
          <a:p>
            <a:r>
              <a:t>- Financial Cap Formula: min(₹4,999, remaining refundable amount, order paid amount) strictly prevents over-refunding.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24-Hour Sprint Feasibility, Ownership &amp; Strict Scope Guardrails:</a:t>
            </a:r>
          </a:p>
          <a:p>
            <a:r>
              <a:t>- Feasibility Argument: Why is ReturnLens realistically buildable in 24 hours by 3 engineers?</a:t>
            </a:r>
          </a:p>
          <a:p>
            <a:r>
              <a:t>  1. No live external production dependencies: deterministic mock APIs for Shopify &amp; Shippo eliminate external latency and flakiness.</a:t>
            </a:r>
          </a:p>
          <a:p>
            <a:r>
              <a:t>  2. Clear division of labor with single-threaded ownership across 3 teammates:</a:t>
            </a:r>
          </a:p>
          <a:p>
            <a:r>
              <a:t>     - Person A (Backend &amp; State Machine): LangGraph orchestrator, mock store/courier APIs, order status fast path, state serialization.</a:t>
            </a:r>
          </a:p>
          <a:p>
            <a:r>
              <a:t>     - Person B (Video Pipeline &amp; UI): FFmpeg keyframe extraction, deterministic rules P-01 to P-08, critic prompt, seller console.</a:t>
            </a:r>
          </a:p>
          <a:p>
            <a:r>
              <a:t>     - Person C (Integration &amp; Validation): Clarification/resume loop, 4 staged demo cases (A-D), authorization boundary tests, demo video recording, README.</a:t>
            </a:r>
          </a:p>
          <a:p>
            <a:r>
              <a:t>  3. Strict Scope Discipline:</a:t>
            </a:r>
          </a:p>
          <a:p>
            <a:r>
              <a:t>     - NEVER CUT: Core policy engine, frame citations, seller authorization gate, structured audit log, clarification/resume loop, 4 demo cases.</a:t>
            </a:r>
          </a:p>
          <a:p>
            <a:r>
              <a:t>     - CUT FIRST IF BEHIND: Real carrier webhooks, multi-product order parsing, video OCR barcode scanning, production payment gateways, seller analytics dashboards.</a:t>
            </a:r>
          </a:p>
          <a:p>
            <a:r>
              <a:t>- Winning Philosophy: 'The winning hackathon agent is not the one with the most tool definitions. It is the one where every action is held to evidence, and the seller stays in control.'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AGENTX HACKATHON 2026 · TRACK PS-04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4023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172621"/>
                </a:solidFill>
                <a:latin typeface="Inter"/>
              </a:defRPr>
            </a:pPr>
            <a:r>
              <a:t>ReturnLens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621"/>
                </a:solidFill>
                <a:latin typeface="Inter"/>
              </a:defRPr>
            </a:pPr>
            <a:r>
              <a:t>Every return decision, backed by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96E64"/>
                </a:solidFill>
                <a:latin typeface="Inter"/>
              </a:defRPr>
            </a:pPr>
            <a:r>
              <a:t>Evidence-backed returns triage for independent online sellers.</a:t>
            </a:r>
          </a:p>
          <a:p>
            <a:br/>
            <a:pPr>
              <a:defRPr sz="1300">
                <a:solidFill>
                  <a:srgbClr val="596E64"/>
                </a:solidFill>
                <a:latin typeface="Inter"/>
              </a:defRPr>
            </a:pPr>
            <a:r>
              <a:t>When a customer submits an unboxing video, ReturnLens cross-references store truth, verifies deterministic code policies, and gives the solo seller a 1-click decision console.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7A8E85"/>
                </a:solidFill>
                <a:latin typeface="IBM Plex Mono"/>
              </a:defRPr>
            </a:pPr>
            <a:r>
              <a:t>Team Rookie (3 Members) · 24-Hour Prototype Feasibility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685800"/>
            <a:ext cx="6293815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66360" y="685800"/>
            <a:ext cx="6293815" cy="457200"/>
          </a:xfrm>
          <a:prstGeom prst="rect">
            <a:avLst/>
          </a:prstGeom>
          <a:solidFill>
            <a:srgbClr val="1F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D1A7"/>
                </a:solidFill>
                <a:latin typeface="IBM Plex Mono"/>
              </a:defRPr>
            </a:pPr>
            <a:r>
              <a:t>RETURNLENS SELLER CONSOLE  ·  CASE #RT-8821</a:t>
            </a:r>
          </a:p>
        </p:txBody>
      </p:sp>
      <p:pic>
        <p:nvPicPr>
          <p:cNvPr id="10" name="Picture 9" descr="studio_white_headph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280160"/>
            <a:ext cx="2880360" cy="19202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349240" y="3246120"/>
            <a:ext cx="2880360" cy="292608"/>
          </a:xfrm>
          <a:prstGeom prst="rect">
            <a:avLst/>
          </a:prstGeom>
          <a:solidFill>
            <a:srgbClr val="E1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6B55"/>
                </a:solidFill>
                <a:latin typeface="IBM Plex Mono"/>
              </a:defRPr>
            </a:pPr>
            <a:r>
              <a:t>ORDERED: HEAD-WHT-02 (WHITE)</a:t>
            </a:r>
          </a:p>
        </p:txBody>
      </p:sp>
      <p:pic>
        <p:nvPicPr>
          <p:cNvPr id="12" name="Picture 11" descr="unboxing_black_headph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935" y="1280160"/>
            <a:ext cx="2880360" cy="19202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396935" y="3246120"/>
            <a:ext cx="2880360" cy="292608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991B1B"/>
                </a:solidFill>
                <a:latin typeface="IBM Plex Mono"/>
              </a:defRPr>
            </a:pPr>
            <a:r>
              <a:t>OBSERVED: BLACK ITEM · FRAME 00:07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639312"/>
            <a:ext cx="5928055" cy="658368"/>
          </a:xfrm>
          <a:prstGeom prst="rect">
            <a:avLst/>
          </a:prstGeom>
          <a:solidFill>
            <a:srgbClr val="FCECE8"/>
          </a:solidFill>
          <a:ln w="12700">
            <a:solidFill>
              <a:srgbClr val="D95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991B1B"/>
                </a:solidFill>
                <a:latin typeface="IBM Plex Mono"/>
              </a:defRPr>
            </a:pPr>
            <a:r>
              <a:t>P-03: COLOR CONTRADICTION DETECTED</a:t>
            </a:r>
          </a:p>
          <a:p>
            <a:pPr>
              <a:defRPr sz="950">
                <a:solidFill>
                  <a:srgbClr val="991B1B"/>
                </a:solidFill>
                <a:latin typeface="Inter"/>
              </a:defRPr>
            </a:pPr>
            <a:r>
              <a:t>P-04 Return Window: PASS (Day 4 of 7)  |  P-03 Manifest Match: CONTRADICTION FLAGGED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4370832"/>
            <a:ext cx="5928055" cy="36576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92400E"/>
                </a:solidFill>
                <a:latin typeface="IBM Plex Mono"/>
              </a:defRPr>
            </a:pPr>
            <a:r>
              <a:t>STATUS: ESCALATED FOR SELLER DECISION (HUMAN GATE)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4809744"/>
            <a:ext cx="5928055" cy="502920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Inter"/>
              </a:defRPr>
            </a:pPr>
            <a:r>
              <a:t>Review Evidence &amp; Authorize Draft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7A8E85"/>
                </a:solidFill>
                <a:latin typeface="IBM Plex Mono"/>
              </a:defRPr>
            </a:pPr>
            <a:r>
              <a:t>ReturnLens · Pitch Deck · PS-04 Track · Team Rookie (3 Members)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7A8E85"/>
                </a:solidFill>
                <a:latin typeface="IBM Plex Mono"/>
              </a:defRPr>
            </a:pPr>
            <a:r>
              <a:t>Slide 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THE PROBLEM · SOLO SELLER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One return. Four disconnected sources.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596E64"/>
                </a:solidFill>
                <a:latin typeface="Inter"/>
              </a:defRPr>
            </a:pPr>
            <a:r>
              <a:t>Four systems. No traceable decision.  Without a shared record, the seller connects order facts, video, and policy manually from memory.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4846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06B55"/>
                </a:solidFill>
                <a:latin typeface="IBM Plex Mono"/>
              </a:defRPr>
            </a:pPr>
            <a:r>
              <a:t>01  BUYER MESSAGE</a:t>
            </a:r>
          </a:p>
          <a:p>
            <a:pPr>
              <a:defRPr sz="1100">
                <a:solidFill>
                  <a:srgbClr val="172621"/>
                </a:solidFill>
                <a:latin typeface="Inter"/>
              </a:defRPr>
            </a:pPr>
            <a:r>
              <a:t>Subjective text &amp; unindexed video claim in chat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035808"/>
            <a:ext cx="4846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06B55"/>
                </a:solidFill>
                <a:latin typeface="IBM Plex Mono"/>
              </a:defRPr>
            </a:pPr>
            <a:r>
              <a:t>02  ORDER RECORD</a:t>
            </a:r>
          </a:p>
          <a:p>
            <a:pPr>
              <a:defRPr sz="1100">
                <a:solidFill>
                  <a:srgbClr val="172621"/>
                </a:solidFill>
                <a:latin typeface="Inter"/>
              </a:defRPr>
            </a:pPr>
            <a:r>
              <a:t>Shopify manifest: HEAD-WHT-02, Matte White, ₹1,499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014216"/>
            <a:ext cx="4846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06B55"/>
                </a:solidFill>
                <a:latin typeface="IBM Plex Mono"/>
              </a:defRPr>
            </a:pPr>
            <a:r>
              <a:t>03  COURIER STATUS</a:t>
            </a:r>
          </a:p>
          <a:p>
            <a:pPr>
              <a:defRPr sz="1100">
                <a:solidFill>
                  <a:srgbClr val="172621"/>
                </a:solidFill>
                <a:latin typeface="Inter"/>
              </a:defRPr>
            </a:pPr>
            <a:r>
              <a:t>Shippo scan: delivered 4 days ago (Day 4 of 7)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992624"/>
            <a:ext cx="4846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06B55"/>
                </a:solidFill>
                <a:latin typeface="IBM Plex Mono"/>
              </a:defRPr>
            </a:pPr>
            <a:r>
              <a:t>04  RETURN POLICY</a:t>
            </a:r>
          </a:p>
          <a:p>
            <a:pPr>
              <a:defRPr sz="1100">
                <a:solidFill>
                  <a:srgbClr val="172621"/>
                </a:solidFill>
                <a:latin typeface="Inter"/>
              </a:defRPr>
            </a:pPr>
            <a:r>
              <a:t>7-day defect window; security packaging tag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3474720"/>
            <a:ext cx="365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D95D39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057400"/>
            <a:ext cx="5242255" cy="3803904"/>
          </a:xfrm>
          <a:prstGeom prst="rect">
            <a:avLst/>
          </a:prstGeom>
          <a:solidFill>
            <a:srgbClr val="172621"/>
          </a:solidFill>
          <a:ln w="25400">
            <a:solidFill>
              <a:srgbClr val="D95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95D39"/>
                </a:solidFill>
                <a:latin typeface="IBM Plex Mono"/>
              </a:defRPr>
            </a:pPr>
            <a:r>
              <a:t>THE MISSING LINK</a:t>
            </a:r>
          </a:p>
          <a:p>
            <a:pPr algn="ctr">
              <a:defRPr sz="2200" b="1">
                <a:solidFill>
                  <a:srgbClr val="F5F3EF"/>
                </a:solidFill>
                <a:latin typeface="Inter"/>
              </a:defRPr>
            </a:pPr>
            <a:r>
              <a:t>NO SHARED EVIDENCE RECORD</a:t>
            </a:r>
          </a:p>
          <a:p>
            <a:br/>
            <a:pPr algn="ctr">
              <a:defRPr sz="1500" b="1" i="1">
                <a:solidFill>
                  <a:srgbClr val="FBBF24"/>
                </a:solidFill>
                <a:latin typeface="Inter"/>
              </a:defRPr>
            </a:pPr>
            <a:r>
              <a:t>“What evidence supports this return decision?”</a:t>
            </a:r>
          </a:p>
          <a:p>
            <a:br/>
            <a:pPr algn="ctr">
              <a:defRPr sz="1150">
                <a:solidFill>
                  <a:srgbClr val="D1D5DB"/>
                </a:solidFill>
                <a:latin typeface="Inter"/>
              </a:defRPr>
            </a:pPr>
            <a:r>
              <a:t>Today the seller opens 4 tabs and guesses. An erroneous refund burns inventory margin; an unfair denial destroys repeat customer trust.</a:t>
            </a:r>
            <a:br/>
            <a:br/>
            <a:r>
              <a:t>The gap is not a missing return portal — it is the lack of an immutable trace linking order truth, video keyframes, and policy terms before money moves.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7A8E85"/>
                </a:solidFill>
                <a:latin typeface="IBM Plex Mono"/>
              </a:defRPr>
            </a:pPr>
            <a:r>
              <a:t>Fraud research: 9% strict fraud (NRF 2025) vs 15.14% fraud + abuse (Appriss/Deloitte 2024). Details in notes.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7A8E85"/>
                </a:solidFill>
                <a:latin typeface="IBM Plex Mono"/>
              </a:defRPr>
            </a:pPr>
            <a:r>
              <a:t>Slide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STAR DEMO · CORE BENCHMARK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The order says white. The video shows black.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286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96E64"/>
                </a:solidFill>
                <a:latin typeface="Inter"/>
              </a:defRPr>
            </a:pPr>
            <a:r>
              <a:t>ReturnLens flags the contradiction — the seller decides.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71323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udio_white_headph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48840"/>
            <a:ext cx="3291840" cy="2651760"/>
          </a:xfrm>
          <a:prstGeom prst="rect">
            <a:avLst/>
          </a:prstGeom>
        </p:spPr>
      </p:pic>
      <p:pic>
        <p:nvPicPr>
          <p:cNvPr id="8" name="Picture 7" descr="unboxing_black_headph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148840"/>
            <a:ext cx="3291840" cy="2651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4873752"/>
            <a:ext cx="3291840" cy="320040"/>
          </a:xfrm>
          <a:prstGeom prst="rect">
            <a:avLst/>
          </a:prstGeom>
          <a:solidFill>
            <a:srgbClr val="E1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06B55"/>
                </a:solidFill>
                <a:latin typeface="IBM Plex Mono"/>
              </a:defRPr>
            </a:pPr>
            <a:r>
              <a:t>STORE CATALOG TRUTH: HEAD-WHT-02 (WHITE)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4873752"/>
            <a:ext cx="3291840" cy="320040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991B1B"/>
                </a:solidFill>
                <a:latin typeface="IBM Plex Mono"/>
              </a:defRPr>
            </a:pPr>
            <a:r>
              <a:t>UNBOXING KEYFRAME (STAGED): MIDNIGHT 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57800"/>
            <a:ext cx="6766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Visual Grounding Honesty: Keyframe resolution proves black casing. Exact SKU barcode is unreadable in this frame; ReturnLens factually records 'Observed Color: Black · Exact SKU: Not verified' and cites frame 00:07.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19872" y="1965960"/>
            <a:ext cx="3340303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2103120"/>
            <a:ext cx="2974543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5D39"/>
                </a:solidFill>
                <a:latin typeface="IBM Plex Mono"/>
              </a:defRPr>
            </a:pPr>
            <a:r>
              <a:t>POLICY GATE EVALUATION</a:t>
            </a:r>
          </a:p>
          <a:p>
            <a:pPr>
              <a:defRPr sz="1600" b="1">
                <a:solidFill>
                  <a:srgbClr val="991B1B"/>
                </a:solidFill>
                <a:latin typeface="Inter"/>
              </a:defRPr>
            </a:pPr>
            <a:r>
              <a:t>P-03: COLOR CONTRADICTION</a:t>
            </a:r>
          </a:p>
          <a:p>
            <a:pPr>
              <a:defRPr sz="950" b="1">
                <a:solidFill>
                  <a:srgbClr val="991B1B"/>
                </a:solidFill>
                <a:latin typeface="IBM Plex Mono"/>
              </a:defRPr>
            </a:pPr>
            <a:r>
              <a:t>STATUS: SELLER REVIEW REQUIRED</a:t>
            </a:r>
          </a:p>
          <a:p>
            <a:br/>
            <a:pPr>
              <a:defRPr sz="1100" b="1">
                <a:solidFill>
                  <a:srgbClr val="172621"/>
                </a:solidFill>
                <a:latin typeface="Inter"/>
              </a:defRPr>
            </a:pPr>
            <a:r>
              <a:t>Key Findings: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• OBSERVED: Midnight Black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• UNVERIFIED: Exact SKU barcode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• NEXT ACTION: Seller review</a:t>
            </a:r>
          </a:p>
          <a:p>
            <a:br/>
            <a:pPr>
              <a:defRPr sz="1100" b="1">
                <a:solidFill>
                  <a:srgbClr val="172621"/>
                </a:solidFill>
                <a:latin typeface="Inter"/>
              </a:defRPr>
            </a:pPr>
            <a:r>
              <a:t>Seller Resolution Options: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1. Request unboxing box label photo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2. Reject return (item does not match order)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3. Override &amp; approve (warehouse error)</a:t>
            </a:r>
          </a:p>
          <a:p>
            <a:br/>
            <a:pPr>
              <a:defRPr sz="900" b="1">
                <a:solidFill>
                  <a:srgbClr val="596E64"/>
                </a:solidFill>
                <a:latin typeface="IBM Plex Mono"/>
              </a:defRPr>
            </a:pPr>
            <a:r>
              <a:t>No auto-denial · No refund without seller click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7A8E85"/>
                </a:solidFill>
                <a:latin typeface="IBM Plex Mono"/>
              </a:defRPr>
            </a:pPr>
            <a:r>
              <a:t>Illustrative staged evidence · Mock Shopify &amp; Shippo APIs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7A8E85"/>
                </a:solidFill>
                <a:latin typeface="IBM Plex Mono"/>
              </a:defRPr>
            </a:pPr>
            <a:r>
              <a:t>Slide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D1A7"/>
                </a:solidFill>
                <a:latin typeface="IBM Plex Mono"/>
              </a:defRPr>
            </a:pPr>
            <a:r>
              <a:t>SYSTEM ARCHITECTURE · DYNAMIC AGENTIC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5F3EF"/>
                </a:solidFill>
                <a:latin typeface="Inter"/>
              </a:defRPr>
            </a:pPr>
            <a:r>
              <a:t>Models observe. Code verifies. Seller authorizes.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286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A3B8B0"/>
                </a:solidFill>
                <a:latin typeface="Inter"/>
              </a:defRPr>
            </a:pPr>
            <a:r>
              <a:t>Dynamic action selection and stateful resumption under deterministic human authorization.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291840" cy="123444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0D1A7"/>
                </a:solidFill>
                <a:latin typeface="IBM Plex Mono"/>
              </a:defRPr>
            </a:pPr>
            <a:r>
              <a:t>01 MODEL ZONE</a:t>
            </a:r>
          </a:p>
          <a:p>
            <a:pPr>
              <a:defRPr sz="1300" b="1">
                <a:solidFill>
                  <a:srgbClr val="F5F3EF"/>
                </a:solidFill>
                <a:latin typeface="Inter"/>
              </a:defRPr>
            </a:pPr>
            <a:r>
              <a:t>Plan &amp; Observe</a:t>
            </a:r>
          </a:p>
          <a:p>
            <a:pPr>
              <a:defRPr sz="950">
                <a:solidFill>
                  <a:srgbClr val="A3B8B0"/>
                </a:solidFill>
                <a:latin typeface="Inter"/>
              </a:defRPr>
            </a:pPr>
            <a:r>
              <a:t>Planner validates JSON schema · Vision extracts keyframes &amp; non-binding visual metadata.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3291840" cy="36576"/>
          </a:xfrm>
          <a:prstGeom prst="rect">
            <a:avLst/>
          </a:prstGeom>
          <a:solidFill>
            <a:srgbClr val="00D1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42816" y="1965960"/>
            <a:ext cx="3840480" cy="123444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5F3EF"/>
                </a:solidFill>
                <a:latin typeface="IBM Plex Mono"/>
              </a:defRPr>
            </a:pPr>
            <a:r>
              <a:t>02 CODE ZONE</a:t>
            </a:r>
          </a:p>
          <a:p>
            <a:pPr>
              <a:defRPr sz="1300" b="1">
                <a:solidFill>
                  <a:srgbClr val="F5F3EF"/>
                </a:solidFill>
                <a:latin typeface="Inter"/>
              </a:defRPr>
            </a:pPr>
            <a:r>
              <a:t>Retrieve &amp; Enforce Policy</a:t>
            </a:r>
          </a:p>
          <a:p>
            <a:pPr>
              <a:defRPr sz="950">
                <a:solidFill>
                  <a:srgbClr val="A3B8B0"/>
                </a:solidFill>
                <a:latin typeface="Inter"/>
              </a:defRPr>
            </a:pPr>
            <a:r>
              <a:t>Deterministic Python rules P-01 to P-08 · Shippo &amp; Shopify mock APIs enforce hard rules.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42816" y="1965960"/>
            <a:ext cx="3840480" cy="36576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02752" y="1965960"/>
            <a:ext cx="3157423" cy="123444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BBF24"/>
                </a:solidFill>
                <a:latin typeface="IBM Plex Mono"/>
              </a:defRPr>
            </a:pPr>
            <a:r>
              <a:t>03 HUMAN SELLER GATE</a:t>
            </a:r>
          </a:p>
          <a:p>
            <a:pPr>
              <a:defRPr sz="1300" b="1">
                <a:solidFill>
                  <a:srgbClr val="F5F3EF"/>
                </a:solidFill>
                <a:latin typeface="Inter"/>
              </a:defRPr>
            </a:pPr>
            <a:r>
              <a:t>Authorize Consequential Action</a:t>
            </a:r>
          </a:p>
          <a:p>
            <a:pPr>
              <a:defRPr sz="950">
                <a:solidFill>
                  <a:srgbClr val="A3B8B0"/>
                </a:solidFill>
                <a:latin typeface="Inter"/>
              </a:defRPr>
            </a:pPr>
            <a:r>
              <a:t>Fail-closed authorization gate · 1-click human merchant confirmation for refund release.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965960"/>
            <a:ext cx="3157423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429000"/>
            <a:ext cx="10728655" cy="1874519"/>
          </a:xfrm>
          <a:prstGeom prst="rect">
            <a:avLst/>
          </a:prstGeom>
          <a:solidFill>
            <a:srgbClr val="14221D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93C5FD"/>
                </a:solidFill>
                <a:latin typeface="IBM Plex Mono"/>
              </a:defRPr>
            </a:pPr>
            <a:r>
              <a:t>HERO AGENTIC INTERACTION: DYNAMIC STATEFUL CLARIFICATION LOOP (CASE C)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904488"/>
            <a:ext cx="1536192" cy="502920"/>
          </a:xfrm>
          <a:prstGeom prst="rect">
            <a:avLst/>
          </a:prstGeom>
          <a:solidFill>
            <a:srgbClr val="1F302A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5F3EF"/>
                </a:solidFill>
                <a:latin typeface="IBM Plex Mono"/>
              </a:defRPr>
            </a:pPr>
            <a:r>
              <a:t>Dark Frames (brightness 28)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0592" y="3977640"/>
            <a:ext cx="2560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93C5FD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06624" y="3904488"/>
            <a:ext cx="1536192" cy="502920"/>
          </a:xfrm>
          <a:prstGeom prst="rect">
            <a:avLst/>
          </a:prstGeom>
          <a:solidFill>
            <a:srgbClr val="1F302A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5F3EF"/>
                </a:solidFill>
                <a:latin typeface="IBM Plex Mono"/>
              </a:defRPr>
            </a:pPr>
            <a:r>
              <a:t>ask_for_evidence()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42816" y="3977640"/>
            <a:ext cx="2560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93C5FD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98848" y="3904488"/>
            <a:ext cx="1536192" cy="502920"/>
          </a:xfrm>
          <a:prstGeom prst="rect">
            <a:avLst/>
          </a:prstGeom>
          <a:solidFill>
            <a:srgbClr val="1E3A8A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DBEAFE"/>
                </a:solidFill>
                <a:latin typeface="IBM Plex Mono"/>
              </a:defRPr>
            </a:pPr>
            <a:r>
              <a:t>WAITING_FOR_EVIDENCE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3977640"/>
            <a:ext cx="2560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93C5FD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91072" y="3904488"/>
            <a:ext cx="1536192" cy="502920"/>
          </a:xfrm>
          <a:prstGeom prst="rect">
            <a:avLst/>
          </a:prstGeom>
          <a:solidFill>
            <a:srgbClr val="1F302A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5F3EF"/>
                </a:solidFill>
                <a:latin typeface="IBM Plex Mono"/>
              </a:defRPr>
            </a:pPr>
            <a:r>
              <a:t>Customer Uploads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3977640"/>
            <a:ext cx="2560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93C5FD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3904488"/>
            <a:ext cx="1536192" cy="502920"/>
          </a:xfrm>
          <a:prstGeom prst="rect">
            <a:avLst/>
          </a:prstGeom>
          <a:solidFill>
            <a:srgbClr val="1E3A8A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DBEAFE"/>
                </a:solidFill>
                <a:latin typeface="IBM Plex Mono"/>
              </a:defRPr>
            </a:pPr>
            <a:r>
              <a:t>RESUME CASE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9488" y="3977640"/>
            <a:ext cx="2560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93C5FD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75520" y="3904488"/>
            <a:ext cx="1536192" cy="502920"/>
          </a:xfrm>
          <a:prstGeom prst="rect">
            <a:avLst/>
          </a:prstGeom>
          <a:solidFill>
            <a:srgbClr val="1F302A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5F3EF"/>
                </a:solidFill>
                <a:latin typeface="IBM Plex Mono"/>
              </a:defRPr>
            </a:pPr>
            <a:r>
              <a:t>Seller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A3B8B0"/>
                </a:solidFill>
                <a:latin typeface="Inter"/>
              </a:defRPr>
            </a:pPr>
            <a:r>
              <a:t>Why an agent? When video quality is insufficient, ReturnLens halts execution, issues a targeted re-film checklist, serializes case state into WAITING_FOR_EVIDENCE, and automatically resumes the exact case upon upload (1 retry limit prevents customer lock-out).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486400"/>
            <a:ext cx="10728655" cy="658368"/>
          </a:xfrm>
          <a:prstGeom prst="rect">
            <a:avLst/>
          </a:prstGeom>
          <a:solidFill>
            <a:srgbClr val="121F1B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34D399"/>
                </a:solidFill>
                <a:latin typeface="IBM Plex Mono"/>
              </a:defRPr>
            </a:pPr>
            <a:r>
              <a:t>SECONDARY PS-04 ROUTE: Query store &amp; courier tracking for "Where is my order?" without calling multimodal vision models.</a:t>
            </a:r>
          </a:p>
          <a:p>
            <a:pPr>
              <a:defRPr sz="900">
                <a:solidFill>
                  <a:srgbClr val="A3B8B0"/>
                </a:solidFill>
                <a:latin typeface="IBM Plex Mono"/>
              </a:defRPr>
            </a:pPr>
            <a:r>
              <a:t>SYSTEM OUTPUT: Immutable JSON Audit Trail recorded at every state transition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223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C786E"/>
                </a:solidFill>
                <a:latin typeface="IBM Plex Mono"/>
              </a:defRPr>
            </a:pPr>
            <a:r>
              <a:t>Structured audit log recorded at every state transition · Decision priority: Contradiction &gt; Hard fail &gt; Unclear only &gt; All pass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C786E"/>
                </a:solidFill>
                <a:latin typeface="IBM Plex Mono"/>
              </a:defRPr>
            </a:pPr>
            <a:r>
              <a:t>Slide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DEMO SCENARIOS · BEHAVIORAL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Different evidence. Different 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286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596E64"/>
                </a:solidFill>
                <a:latin typeface="Inter"/>
              </a:defRPr>
            </a:pPr>
            <a:r>
              <a:t>Predictable, controlled prototype responses across four distinct evidence conditions.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76856"/>
            <a:ext cx="1920240" cy="429768"/>
          </a:xfrm>
          <a:prstGeom prst="rect">
            <a:avLst/>
          </a:prstGeom>
          <a:solidFill>
            <a:srgbClr val="E1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06B55"/>
                </a:solidFill>
                <a:latin typeface="IBM Plex Mono"/>
              </a:defRPr>
            </a:pPr>
            <a:r>
              <a:t>01 · CONSISTENT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67128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72621"/>
                </a:solidFill>
                <a:latin typeface="Inter"/>
              </a:defRPr>
            </a:pPr>
            <a:r>
              <a:t>Evidence Supported · Manifest matches, packaging tag present, cosmetic defect observed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258568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B55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167128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PREPARE SELLER REVIEW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Drafts mock shipping label and refund draft in pending_return_receipt. Money releases only on physical receipt.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035808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255264"/>
            <a:ext cx="1920240" cy="429768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991B1B"/>
                </a:solidFill>
                <a:latin typeface="IBM Plex Mono"/>
              </a:defRPr>
            </a:pPr>
            <a:r>
              <a:t>02 · CONTRADICTION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3145536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72621"/>
                </a:solidFill>
                <a:latin typeface="Inter"/>
              </a:defRPr>
            </a:pPr>
            <a:r>
              <a:t>Ordered White, Observed Black · HEAD-WHT-02 ordered vs Frame 00:07 Black item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3236976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B55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145536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BM Plex Mono"/>
              </a:defRPr>
            </a:pPr>
            <a:r>
              <a:t>ESCALATE TO SELLER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Policy P-03 blocks automation. Inhibits label and refund. Seller selects: mis-shipment / box label / warehouse inspection.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014216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4233672"/>
            <a:ext cx="1920240" cy="42976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E40AF"/>
                </a:solidFill>
                <a:latin typeface="IBM Plex Mono"/>
              </a:defRPr>
            </a:pPr>
            <a:r>
              <a:t>03 · UNCLEAR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4123944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72621"/>
                </a:solidFill>
                <a:latin typeface="Inter"/>
              </a:defRPr>
            </a:pPr>
            <a:r>
              <a:t>Dark or Unreadable Evidence · 4s low-light video (brightness 28/255), barcode obscured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4215384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B55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123944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40AF"/>
                </a:solidFill>
                <a:latin typeface="IBM Plex Mono"/>
              </a:defRPr>
            </a:pPr>
            <a:r>
              <a:t>ASK AND RESUME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Calls ask_for_evidence(); transitions to WAITING_FOR_EVIDENCE; resumes context on upload (1 retry limit).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992624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5212080"/>
            <a:ext cx="1920240" cy="429768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65F46"/>
                </a:solidFill>
                <a:latin typeface="IBM Plex Mono"/>
              </a:defRPr>
            </a:pPr>
            <a:r>
              <a:t>04 · SEQUENCE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5102352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72621"/>
                </a:solidFill>
                <a:latin typeface="Inter"/>
              </a:defRPr>
            </a:pPr>
            <a:r>
              <a:t>Continuity Uncertain · Staged take from sealed parcel opening to product reveal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5193792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B55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5102352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5F46"/>
                </a:solidFill>
                <a:latin typeface="IBM Plex Mono"/>
              </a:defRPr>
            </a:pPr>
            <a:r>
              <a:t>INSPECT SEQUENCE CONTINUITY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Expected prototype behavior: inspects sequence continuity and flags cutaways for seller review.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7A8E85"/>
                </a:solidFill>
                <a:latin typeface="IBM Plex Mono"/>
              </a:defRPr>
            </a:pPr>
            <a:r>
              <a:t>Staged prototype scenarios · Expected agent behaviors, not measured production metrics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7A8E85"/>
                </a:solidFill>
                <a:latin typeface="IBM Plex Mono"/>
              </a:defRPr>
            </a:pPr>
            <a:r>
              <a:t>Slide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24-HOUR PROTOTYPE PLAN · FEASIBILITY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A credible prototype in 24 hours.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286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596E64"/>
                </a:solidFill>
                <a:latin typeface="Inter"/>
              </a:defRPr>
            </a:pPr>
            <a:r>
              <a:t>Strict scope boundaries and single-threaded ownership make the prototype buildable in one 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10728655" cy="36576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48256"/>
            <a:ext cx="2560320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00–06h · FOUNDATION</a:t>
            </a:r>
          </a:p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Mock APIs &amp; Agent State</a:t>
            </a:r>
          </a:p>
          <a:p>
            <a:pPr>
              <a:defRPr sz="1000" b="1">
                <a:solidFill>
                  <a:srgbClr val="006B55"/>
                </a:solidFill>
                <a:latin typeface="Inter"/>
              </a:defRPr>
            </a:pPr>
            <a:r>
              <a:t>Person A (Backend)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LangGraph state machine, mock store &amp; courier fixtures, order status route.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47288" y="2048256"/>
            <a:ext cx="2560320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06–12h · EVIDENCE</a:t>
            </a:r>
          </a:p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Evidence Pipeline &amp; Policy</a:t>
            </a:r>
          </a:p>
          <a:p>
            <a:pPr>
              <a:defRPr sz="1000" b="1">
                <a:solidFill>
                  <a:srgbClr val="006B55"/>
                </a:solidFill>
                <a:latin typeface="Inter"/>
              </a:defRPr>
            </a:pPr>
            <a:r>
              <a:t>Person B (Vision &amp; UI)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FFmpeg keyframe indexer, vision prompt schema, rules P-01 to P-08, critic prompt.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3056" y="2048256"/>
            <a:ext cx="2560320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12–18h · INTEGRATION</a:t>
            </a:r>
          </a:p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State Flow &amp; Scenarios</a:t>
            </a:r>
          </a:p>
          <a:p>
            <a:pPr>
              <a:defRPr sz="1000" b="1">
                <a:solidFill>
                  <a:srgbClr val="006B55"/>
                </a:solidFill>
                <a:latin typeface="Inter"/>
              </a:defRPr>
            </a:pPr>
            <a:r>
              <a:t>Person C (Integration with A/B)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Clarification/resume loop, seller review console UI, wiring 4 staged demo cases.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78824" y="2048256"/>
            <a:ext cx="2560320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18–24h · VALIDATION</a:t>
            </a:r>
          </a:p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Testing &amp; Submission</a:t>
            </a:r>
          </a:p>
          <a:p>
            <a:pPr>
              <a:defRPr sz="1000" b="1">
                <a:solidFill>
                  <a:srgbClr val="006B55"/>
                </a:solidFill>
                <a:latin typeface="Inter"/>
              </a:defRPr>
            </a:pPr>
            <a:r>
              <a:t>All 3 Members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Authorization safety tests, edge cases, fallback validation, demo video recording.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77639"/>
            <a:ext cx="5257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977639"/>
            <a:ext cx="73152" cy="2103120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87367"/>
            <a:ext cx="4937760" cy="188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MUST DELIVER (CORE PROTOTYPE)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Deterministic policy engine (P-01 to P-08)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Evidence-pack keyframe citations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Fail-closed seller authorization gate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Structured JSON audit trail log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Stateful clarification/resume loop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4 reproducible demo scenarios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2375" y="3977639"/>
            <a:ext cx="5257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2375" y="3977639"/>
            <a:ext cx="73152" cy="21031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0975" y="4087367"/>
            <a:ext cx="4937760" cy="188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5D39"/>
                </a:solidFill>
                <a:latin typeface="IBM Plex Mono"/>
              </a:defRPr>
            </a:pPr>
            <a:r>
              <a:t>CUT FIRST IF BEHIND (DEFERRED EXPANSION)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Live carrier webhooks (keep mock courier)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Multi-item return parsing (keep 1 item/return)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Video OCR barcode scanner (keep visual color)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Live payment gateways (keep draft refunds)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Merchant analytics dashboard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7A8E85"/>
                </a:solidFill>
                <a:latin typeface="IBM Plex Mono"/>
              </a:defRPr>
            </a:pPr>
            <a:r>
              <a:t>Team Rookie (3 Members) · PS-04 Autonomous Support Agent · 24-Hour Prototype Feasibility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7A8E85"/>
                </a:solidFill>
                <a:latin typeface="IBM Plex Mono"/>
              </a:defRPr>
            </a:pPr>
            <a:r>
              <a:t>Slide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