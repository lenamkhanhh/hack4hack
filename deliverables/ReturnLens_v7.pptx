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Product Hero &amp; Executive Summary:</a:t>
            </a:r>
          </a:p>
          <a:p>
            <a:r>
              <a:t>- Problem Statement Fit: PS-04 (Autonomous Support Agent for Online Sellers).</a:t>
            </a:r>
          </a:p>
          <a:p>
            <a:r>
              <a:t>- Target User: Solo direct-to-consumer (D2C) online merchants managing customer support, shipping, and returns alone.</a:t>
            </a:r>
          </a:p>
          <a:p>
            <a:r>
              <a:t>- Core Friction: Solo sellers lose valuable hours navigating fragmented tabs (buyer chat, Shopify, Shippo tracking, store return policy). Return decisions are currently made from memory without unified evidence.</a:t>
            </a:r>
          </a:p>
          <a:p>
            <a:r>
              <a:t>- Core Thesis: 'Models observe. Code verifies. Seller authorizes.'</a:t>
            </a:r>
          </a:p>
          <a:p>
            <a:r>
              <a:t>- Console Focus: Side-by-side comparison between ordered White Headphones (HEAD-WHT-02, ₹1,499) and unboxed Black Headphones (Frame 00:07). The agent flags the contradiction, leaves exact SKU unverified, and surfaces actionable resolution choices to the seller.</a:t>
            </a:r>
          </a:p>
          <a:p>
            <a:r>
              <a:t>- Safety Boundary: The system never autonomously issues a refund or denies a customer. Financial release strictly requires 1-click merchant authorization.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Problem Space &amp; The Four Disconnected Sources:</a:t>
            </a:r>
          </a:p>
          <a:p>
            <a:r>
              <a:t>- The returns bottleneck for solo sellers is not an absent returns portal; it is fragmented, unverified context across four disconnected systems:</a:t>
            </a:r>
          </a:p>
          <a:p>
            <a:r>
              <a:t>  1. Buyer claim in chat (unverified claims, emotional text).</a:t>
            </a:r>
          </a:p>
          <a:p>
            <a:r>
              <a:t>  2. Store truth in Shopify (SKU HEAD-WHT-02, ₹1,499).</a:t>
            </a:r>
          </a:p>
          <a:p>
            <a:r>
              <a:t>  3. Courier tracking in Shippo (delivered 4 days ago).</a:t>
            </a:r>
          </a:p>
          <a:p>
            <a:r>
              <a:t>  4. Store return policy document (7-day defect window, security tag).</a:t>
            </a:r>
          </a:p>
          <a:p>
            <a:r>
              <a:t>- Central Gap: Four systems, but no traceable decision. The merchant makes memory-based decisions across multiple tabs.</a:t>
            </a:r>
          </a:p>
          <a:p>
            <a:r>
              <a:t>- Sourced Fraud Context: NRF 2025 reports 9% for strictly criminal return fraud, whereas Appriss/Deloitte 2024 reports 15.14% when combining fraud and policy abuse (wardrobing, unboxing swaps). These measure distinct scopes and must never be merged.</a:t>
            </a:r>
          </a:p>
          <a:p>
            <a:r>
              <a:t>- Asymmetric Merchant Risk: Wrong refund loses inventory and gross margin; unfair denial destroys customer lifetime value (LTV).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The Star Demo &amp; Technical Honesty in Vision Citation:</a:t>
            </a:r>
          </a:p>
          <a:p>
            <a:r>
              <a:t>- Core Benchmark Scenario (Case B): Buyer ordered White Headphones (HEAD-WHT-02, ₹1,499), but unboxing frame 00:07 shows black casing.</a:t>
            </a:r>
          </a:p>
          <a:p>
            <a:r>
              <a:t>- Visual Grounding Honesty: The agent does NOT claim to verify the exact SKU barcode from frame 00:07. It factually observes: 'Black casing (color-consistent with HEAD-BLK-09) · Barcode unverified · SKU not verified'. Frame citations provide a traceable reference, not proof of footage authenticity.</a:t>
            </a:r>
          </a:p>
          <a:p>
            <a:r>
              <a:t>- Decision Logic: Seeing a black item when white was ordered is an undeniable visual contradiction against the manifest. Instead of auto-denying the customer, the policy engine triggers ESCALATE.</a:t>
            </a:r>
          </a:p>
          <a:p>
            <a:r>
              <a:t>- Three Preserved Seller Options (matching slide face):</a:t>
            </a:r>
          </a:p>
          <a:p>
            <a:r>
              <a:t>  1. Accept as warehouse mis-shipment.</a:t>
            </a:r>
          </a:p>
          <a:p>
            <a:r>
              <a:t>  2. Request photo of outside-box shipping label.</a:t>
            </a:r>
          </a:p>
          <a:p>
            <a:r>
              <a:t>  3. Hold return for physical parcel inspection.</a:t>
            </a:r>
          </a:p>
          <a:p>
            <a:r>
              <a:t>- Financial Guardrail: min(₹4,999, remaining refundable amount, order paid amount). No money moves without seller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System Architecture, Agentic Governance &amp; Technical Q&amp;A Defense:</a:t>
            </a:r>
          </a:p>
          <a:p>
            <a:r>
              <a:t>- Philosophy: 'Models observe. Code verifies. Seller authorizes.'</a:t>
            </a:r>
          </a:p>
          <a:p>
            <a:r>
              <a:t>- Responsibilities: Planner model proposes tool actions; backend code validates JSON schemas; FFmpeg extracts keyframes; vision model generates cited observations; deterministic Python rules evaluate policy P-01 to P-08; seller gate authorizes consequential actions.</a:t>
            </a:r>
          </a:p>
          <a:p>
            <a:r>
              <a:t>- DEFENSE QUESTION 1: Why is this an agent rather than a hardcoded workflow?</a:t>
            </a:r>
          </a:p>
          <a:p>
            <a:r>
              <a:t>  ReturnLens is an autonomous state machine with dynamic action selection, multimodal observation, and stateful lifecycle management. In Case C, when a customer submits a dark or blurry video (average brightness 28), the agent does NOT simply fail or run a static linear chain. It inspects the frames, determines evidence is insufficient under Policy P-05, dynamically decides to invoke ask_for_evidence() with specific re-filming guidance, transitions the ticket to WAITING_FOR_EVIDENCE, pauses execution while retaining state and order context, and resumes the exact triage session when new media arrives. Conversely, for routine order status requests, the agent selects the zero-vision fast path directly querying mock APIs.</a:t>
            </a:r>
          </a:p>
          <a:p>
            <a:r>
              <a:t>- DEFENSE QUESTION 2: What happens if vision or critic models hallucinate?</a:t>
            </a:r>
          </a:p>
          <a:p>
            <a:r>
              <a:t>  Vision models produce non-binding observation metadata, never authoritative decisions. Hard business rules (return windows from carrier delivery timestamps, SKU comparisons) are executed in deterministic Python code (P-01 to P-08). The critic provides an adversarial sanity check against cited timestamps. If both vision and critic experience correlated hallucinations, the fail-closed human seller gate guarantees that no refund or return label can ever be issued without seller review.</a:t>
            </a:r>
          </a:p>
          <a:p>
            <a:r>
              <a:t>- DEFENSE QUESTION 3: How do you prevent duplicate or incorrect refunds?</a:t>
            </a:r>
          </a:p>
          <a:p>
            <a:r>
              <a:t>  1. Idempotency keys (hash(order_id, return_id, transaction_type)) with backend uniqueness checks prevent duplicate execution.</a:t>
            </a:r>
          </a:p>
          <a:p>
            <a:r>
              <a:t>  2. Ledgers enforce: 0 &lt; amount &lt;= min(₹4,999, remaining_refundable_amount, order_paid_amount).</a:t>
            </a:r>
          </a:p>
          <a:p>
            <a:r>
              <a:t>  3. Sequence: Refund proposal -&gt; Code validation -&gt; Seller approval -&gt; Revalidation -&gt; Draft creation -&gt; Receipt -&gt; Release. LLMs possess zero capability to call payment gateways directly.</a:t>
            </a:r>
          </a:p>
          <a:p>
            <a:r>
              <a:t>- Security Hardening: Authorization signature binds case ID, SHA256 evidence hash, and policy version. State is revalidated before any draft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Four Reproducible Benchmark Scenarios:</a:t>
            </a:r>
          </a:p>
          <a:p>
            <a:r>
              <a:t>- Grounding Note: These four scenarios represent staged prototype test suites and deterministic expected behaviors, NOT ungrounded production field metrics.</a:t>
            </a:r>
          </a:p>
          <a:p>
            <a:r>
              <a:t>- Case 01 (Consistent Claim): All rules pass (within 7d, SKU matches manifest, tag visible, physical crack observed). System drafts return shipping label and refund draft in 'pending_return_receipt' state. No refund money is transferred until physical warehouse receipt.</a:t>
            </a:r>
          </a:p>
          <a:p>
            <a:r>
              <a:t>- Case 02 (Contradiction): Color mismatch detected (ordered white, unboxed black). System prevents auto-rejection and routes to seller review with 3 concrete resolution options.</a:t>
            </a:r>
          </a:p>
          <a:p>
            <a:r>
              <a:t>- Case 03 (Unclear / Agentic Loop): Dark video (28/255 avg brightness). Instead of auto-denying, the agent provides a clear checklist, transitions to WAITING_FOR_EVIDENCE, and resumes on upload (1 retry limit protects customers from infinite loops).</a:t>
            </a:r>
          </a:p>
          <a:p>
            <a:r>
              <a:t>- Case 04 (Continuity): Expected prototype behavior: inspect parcel-to-product sequence to flag suspicious cut-aways or missing transitions. Does not claim proven prevention of video manipulation.</a:t>
            </a:r>
          </a:p>
          <a:p>
            <a:r>
              <a:t>- Financial Cap Formula: min(₹4,999, remaining refundable amount, order paid amount) strictly prevents over-refunding.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— 24-Hour Sprint Feasibility, Ownership &amp; Strict Scope Guardrails:</a:t>
            </a:r>
          </a:p>
          <a:p>
            <a:r>
              <a:t>- Feasibility Argument: Why is ReturnLens realistically buildable in 24 hours by 3 engineers?</a:t>
            </a:r>
          </a:p>
          <a:p>
            <a:r>
              <a:t>  1. No live external production dependencies: deterministic mock APIs for Shopify &amp; Shippo eliminate external latency and flakiness.</a:t>
            </a:r>
          </a:p>
          <a:p>
            <a:r>
              <a:t>  2. Clear division of labor with single-threaded component ownership across 3 teammates:</a:t>
            </a:r>
          </a:p>
          <a:p>
            <a:r>
              <a:t>     - Person A (Backend / Policy / Authorization): LangGraph orchestrator, mock store &amp; courier APIs, order status fast path, deterministic rules P-01 to P-08, fail-closed authorization gate, approval binding (case ID + evidence hash + policy version).</a:t>
            </a:r>
          </a:p>
          <a:p>
            <a:r>
              <a:t>     - Person B (Vision / Evidence / UI): FFmpeg keyframe pipeline (~1fps sampling), vision schema, critic prompt, interactive 1-click seller console UI with mock evidence pack.</a:t>
            </a:r>
          </a:p>
          <a:p>
            <a:r>
              <a:t>     - Person C (Integration / Scenarios / QA): Test fixtures for 3 core demo cases (A–C) + Case D sequence test, Case C clarification/resume lifecycle, fail-closed human gate testing, demo video recording, README.</a:t>
            </a:r>
          </a:p>
          <a:p>
            <a:r>
              <a:t>  3. Strict Scope Discipline (matching slide face):</a:t>
            </a:r>
          </a:p>
          <a:p>
            <a:r>
              <a:t>     - MUST DELIVER: Mock store &amp; courier APIs, deterministic policy engine &amp; seller gate, Case B color contradiction &amp; Case C re-film loop, 3 core demo cases (A–C) + Case D sequence test, approval binding (case + evidence hash + policy version), structured JSON audit trail &amp; order-status fast path.</a:t>
            </a:r>
          </a:p>
          <a:p>
            <a:r>
              <a:t>     - CUT FIRST IF BEHIND: Advanced video forensic splice analysis (Case D stretch), WhatsApp bot, exchanges, multi-seller auth, audio analysis, public cloud deployment.</a:t>
            </a:r>
          </a:p>
          <a:p>
            <a:r>
              <a:t>- Winning Philosophy: 'The winning hackathon agent is not the one with the most tool definitions. It is the one where every action is held to evidence, and the seller stays in control.'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9184"/>
            <a:ext cx="109728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0A5C48"/>
                </a:solidFill>
                <a:latin typeface="Consolas"/>
              </a:defRPr>
            </a:pPr>
            <a:r>
              <a:t>AGENTX HACKATHON 2026 · TRACK PS-04 · TEAM ROOKIE (3 MEMBERS)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777240"/>
            <a:ext cx="411480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4800" b="1">
                <a:solidFill>
                  <a:srgbClr val="11201A"/>
                </a:solidFill>
                <a:latin typeface="Calibri"/>
              </a:defRPr>
            </a:pPr>
            <a:r>
              <a:t>ReturnLens</a:t>
            </a:r>
          </a:p>
          <a:p>
            <a:pPr>
              <a:spcAft>
                <a:spcPts val="1400"/>
              </a:spcAft>
              <a:defRPr sz="2200" b="1">
                <a:solidFill>
                  <a:srgbClr val="0A5C48"/>
                </a:solidFill>
                <a:latin typeface="Calibri"/>
              </a:defRPr>
            </a:pPr>
            <a:r>
              <a:t>Every return decision, backed by evidence.</a:t>
            </a:r>
          </a:p>
          <a:p>
            <a:pPr>
              <a:spcAft>
                <a:spcPts val="1600"/>
              </a:spcAft>
              <a:defRPr sz="1550">
                <a:solidFill>
                  <a:srgbClr val="566B60"/>
                </a:solidFill>
                <a:latin typeface="Calibri"/>
              </a:defRPr>
            </a:pPr>
            <a:r>
              <a:t>ReturnLens unifies unboxing video evidence, store truth, and policy checks into a 1-click decision console for solo merchants.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4681728"/>
            <a:ext cx="4114800" cy="1444752"/>
          </a:xfrm>
          <a:prstGeom prst="roundRect">
            <a:avLst/>
          </a:prstGeom>
          <a:solidFill>
            <a:srgbClr val="F3EFE9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791456"/>
            <a:ext cx="3822191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4032"/>
                </a:solidFill>
                <a:latin typeface="Consolas"/>
              </a:defRPr>
            </a:pPr>
            <a:r>
              <a:t>CORE ARCHITECTURAL PRINCIPLE</a:t>
            </a:r>
          </a:p>
          <a:p>
            <a:pPr>
              <a:defRPr sz="1350" b="1">
                <a:solidFill>
                  <a:srgbClr val="11201A"/>
                </a:solidFill>
                <a:latin typeface="Calibri"/>
              </a:defRPr>
            </a:pPr>
            <a:r>
              <a:t>“Models observe. Code verifies. Seller authorizes.”</a:t>
            </a:r>
          </a:p>
          <a:p>
            <a:pPr>
              <a:defRPr sz="950">
                <a:solidFill>
                  <a:srgbClr val="283C33"/>
                </a:solidFill>
                <a:latin typeface="Consolas"/>
              </a:defRPr>
            </a:pPr>
            <a:r>
              <a:t>Scope: Return triage + order status · Mock fixtures · Never auto-refunds</a:t>
            </a:r>
            <a:br/>
            <a:r>
              <a:t>Guardrail: Server cap ≤ min(₹4,999, remaining, paid) · Hash-bound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73168" y="777240"/>
            <a:ext cx="6995160" cy="4654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73168" y="777240"/>
            <a:ext cx="6995160" cy="384048"/>
          </a:xfrm>
          <a:prstGeom prst="rect">
            <a:avLst/>
          </a:prstGeom>
          <a:solidFill>
            <a:srgbClr val="1120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56048" y="909828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20640" y="909828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85232" y="909828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04688" y="832104"/>
            <a:ext cx="6126480" cy="29260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FDF2D0"/>
                </a:solidFill>
                <a:latin typeface="Consolas"/>
              </a:defRPr>
            </a:pPr>
            <a:r>
              <a:t>RETURNLENS SELLER CONSOLE — CASE #RT-8821       [ MOCK EVIDENCE PACK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73168" y="1161288"/>
            <a:ext cx="6995160" cy="310896"/>
          </a:xfrm>
          <a:prstGeom prst="rect">
            <a:avLst/>
          </a:prstGeom>
          <a:solidFill>
            <a:srgbClr val="F3EFE9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56048" y="1197864"/>
            <a:ext cx="6629400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>
                <a:solidFill>
                  <a:srgbClr val="11201A"/>
                </a:solidFill>
                <a:latin typeface="Consolas"/>
              </a:defRPr>
            </a:pPr>
            <a:r>
              <a:t>CASE: RT-8821 · ORDER: ORD-7729 · SKU: HEAD-WHT-02      DELIVERED: 4d ago (Window: Day 4/7 PASS)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56048" y="1581912"/>
            <a:ext cx="3246120" cy="233172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tudio_white_headphon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673352"/>
            <a:ext cx="3063240" cy="10789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47488" y="2788920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66B60"/>
                </a:solidFill>
                <a:latin typeface="Consolas"/>
              </a:defRPr>
            </a:pPr>
            <a:r>
              <a:t>STORE TRUTH · SHOPIFY</a:t>
            </a:r>
          </a:p>
          <a:p>
            <a:pPr>
              <a:defRPr sz="1350" b="1">
                <a:solidFill>
                  <a:srgbClr val="11201A"/>
                </a:solidFill>
                <a:latin typeface="Calibri"/>
              </a:defRPr>
            </a:pPr>
            <a:r>
              <a:t>HEAD-WHT-02 (Matte White)</a:t>
            </a:r>
          </a:p>
          <a:p>
            <a:pPr>
              <a:defRPr sz="1050">
                <a:solidFill>
                  <a:srgbClr val="566B60"/>
                </a:solidFill>
                <a:latin typeface="Calibri"/>
              </a:defRPr>
            </a:pPr>
            <a:r>
              <a:t>₹1,499 paid · Studio Spec · Tag present</a:t>
            </a:r>
            <a:br/>
            <a:r>
              <a:t>Delivered: 4d ago (Shippo #SH-9012)</a:t>
            </a:r>
            <a:br/>
            <a:r>
              <a:t>Return Window: Day 4/7 (P-04 PASS)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39328" y="1581912"/>
            <a:ext cx="3246120" cy="2331720"/>
          </a:xfrm>
          <a:prstGeom prst="roundRect">
            <a:avLst/>
          </a:prstGeom>
          <a:solidFill>
            <a:srgbClr val="FDF3F1"/>
          </a:solidFill>
          <a:ln w="19050">
            <a:solidFill>
              <a:srgbClr val="F7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unboxing_black_headphon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1673352"/>
            <a:ext cx="3063240" cy="10789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430768" y="2788920"/>
            <a:ext cx="3063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C84B31"/>
                </a:solidFill>
                <a:latin typeface="Consolas"/>
              </a:defRPr>
            </a:pPr>
            <a:r>
              <a:t>OBSERVED · VIDEO FRAME 00:07</a:t>
            </a:r>
          </a:p>
          <a:p>
            <a:pPr>
              <a:defRPr sz="1300" b="1">
                <a:solidFill>
                  <a:srgbClr val="9E2A2B"/>
                </a:solidFill>
                <a:latin typeface="Calibri"/>
              </a:defRPr>
            </a:pPr>
            <a:r>
              <a:t>Black Casing (color-consistent with HEAD-BLK-09)</a:t>
            </a:r>
          </a:p>
          <a:p>
            <a:pPr>
              <a:defRPr sz="1050">
                <a:solidFill>
                  <a:srgbClr val="283C33"/>
                </a:solidFill>
                <a:latin typeface="Calibri"/>
              </a:defRPr>
            </a:pPr>
            <a:r>
              <a:t>Barcode: Unverified · Exact SKU: Not verified</a:t>
            </a:r>
            <a:br/>
            <a:r>
              <a:t>Lighting: Optimal (142/255) · Policy P-03 FAIL</a:t>
            </a:r>
            <a:br/>
            <a:r>
              <a:t>Contradiction flagged → Route to human seller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56048" y="4005072"/>
            <a:ext cx="6629400" cy="402336"/>
          </a:xfrm>
          <a:prstGeom prst="roundRect">
            <a:avLst/>
          </a:prstGeom>
          <a:solidFill>
            <a:srgbClr val="FDF3F1"/>
          </a:solidFill>
          <a:ln w="12700">
            <a:solidFill>
              <a:srgbClr val="F7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65776" y="4059936"/>
            <a:ext cx="6409944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9E2A2B"/>
                </a:solidFill>
                <a:latin typeface="Consolas"/>
              </a:defRPr>
            </a:pPr>
            <a:r>
              <a:t>P-03 CONTRADICTION: Item in parcel does not match ordered SKU · Citation: Keyframe 00:07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56048" y="4480560"/>
            <a:ext cx="6629400" cy="310896"/>
          </a:xfrm>
          <a:prstGeom prst="roundRect">
            <a:avLst/>
          </a:prstGeom>
          <a:solidFill>
            <a:srgbClr val="F3EFE9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5776" y="4526280"/>
            <a:ext cx="64099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66B60"/>
                </a:solidFill>
                <a:latin typeface="Consolas"/>
              </a:defRPr>
            </a:pPr>
            <a:r>
              <a:t>AUDIT LEDGER: Logged to SQLite · SHA256 evidence hash · Server refund cap: ≤ min(₹4,999, rem, paid)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56048" y="4919472"/>
            <a:ext cx="2926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2400E"/>
                </a:solidFill>
                <a:latin typeface="Consolas"/>
              </a:defRPr>
            </a:pPr>
            <a:r>
              <a:t>● SELLER GATE (FAIL-CLOSED)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27848" y="4882896"/>
            <a:ext cx="1691640" cy="347472"/>
          </a:xfrm>
          <a:prstGeom prst="roundRect">
            <a:avLst/>
          </a:prstGeom>
          <a:solidFill>
            <a:srgbClr val="F3EFE9"/>
          </a:solidFill>
          <a:ln w="12700">
            <a:solidFill>
              <a:srgbClr val="CAC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1201A"/>
                </a:solidFill>
                <a:latin typeface="Calibri"/>
              </a:defRPr>
            </a:pPr>
            <a:r>
              <a:t>Request Box Label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10928" y="4882896"/>
            <a:ext cx="1874519" cy="347472"/>
          </a:xfrm>
          <a:prstGeom prst="roundRect">
            <a:avLst/>
          </a:prstGeom>
          <a:solidFill>
            <a:srgbClr val="0A5C48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Review &amp; Authorize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" y="6400800"/>
            <a:ext cx="11347704" cy="13716"/>
          </a:xfrm>
          <a:prstGeom prst="rect">
            <a:avLst/>
          </a:prstGeom>
          <a:solidFill>
            <a:srgbClr val="E2DCD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8A9C93"/>
                </a:solidFill>
                <a:latin typeface="Consolas"/>
              </a:defRPr>
            </a:pPr>
            <a:r>
              <a:t>RETURNLENS V7 · AGENTX HACKATHON 2026 PS-04 · TEAM ROOKIE (3 MEMBERS)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252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8A9C93"/>
                </a:solidFill>
                <a:latin typeface="Consolas"/>
              </a:defRPr>
            </a:pPr>
            <a: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918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5C48"/>
                </a:solidFill>
                <a:latin typeface="Consolas"/>
              </a:defRPr>
            </a:pPr>
            <a:r>
              <a:t>THE PROBLEM · SOLO MERCHANT BOTTLENECK · 4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9436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201A"/>
                </a:solidFill>
                <a:latin typeface="Calibri"/>
              </a:defRPr>
            </a:pPr>
            <a:r>
              <a:t>One return. Four disconnected systems. Zero shared record.</a:t>
            </a:r>
          </a:p>
          <a:p>
            <a:pPr>
              <a:defRPr sz="1550">
                <a:solidFill>
                  <a:srgbClr val="566B60"/>
                </a:solidFill>
                <a:latin typeface="Calibri"/>
              </a:defRPr>
            </a:pPr>
            <a:r>
              <a:t>Solo merchants cross-reference tabs, video footage, and policy rules manually before moving money.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1508760"/>
            <a:ext cx="411480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0352" y="1600200"/>
            <a:ext cx="1051560" cy="219456"/>
          </a:xfrm>
          <a:prstGeom prst="roundRect">
            <a:avLst/>
          </a:prstGeom>
          <a:solidFill>
            <a:srgbClr val="E8F5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4032"/>
                </a:solidFill>
                <a:latin typeface="Consolas"/>
              </a:defRPr>
            </a:pPr>
            <a:r>
              <a:t>SOURCE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5064" y="1572768"/>
            <a:ext cx="2788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1201A"/>
                </a:solidFill>
                <a:latin typeface="Calibri"/>
              </a:defRPr>
            </a:pPr>
            <a:r>
              <a:t>BUYER 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185623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66B60"/>
                </a:solidFill>
                <a:latin typeface="Calibri"/>
              </a:defRPr>
            </a:pPr>
            <a:r>
              <a:t>Subjective text &amp; unindexed video claim in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6864" y="1709928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5C4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404872"/>
            <a:ext cx="411480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0352" y="2496312"/>
            <a:ext cx="1051560" cy="219456"/>
          </a:xfrm>
          <a:prstGeom prst="roundRect">
            <a:avLst/>
          </a:prstGeom>
          <a:solidFill>
            <a:srgbClr val="E8F5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4032"/>
                </a:solidFill>
                <a:latin typeface="Consolas"/>
              </a:defRPr>
            </a:pPr>
            <a:r>
              <a:t>SOURCE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5064" y="2468880"/>
            <a:ext cx="2788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1201A"/>
                </a:solidFill>
                <a:latin typeface="Calibri"/>
              </a:defRPr>
            </a:pPr>
            <a:r>
              <a:t>ORDER 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275234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66B60"/>
                </a:solidFill>
                <a:latin typeface="Calibri"/>
              </a:defRPr>
            </a:pPr>
            <a:r>
              <a:t>Shopify manifest: HEAD-WHT-02, Matte White, ₹1,499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60604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5C4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3300984"/>
            <a:ext cx="411480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0352" y="3392424"/>
            <a:ext cx="1051560" cy="219456"/>
          </a:xfrm>
          <a:prstGeom prst="roundRect">
            <a:avLst/>
          </a:prstGeom>
          <a:solidFill>
            <a:srgbClr val="E8F5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4032"/>
                </a:solidFill>
                <a:latin typeface="Consolas"/>
              </a:defRPr>
            </a:pPr>
            <a:r>
              <a:t>SOURCE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55064" y="3364992"/>
            <a:ext cx="2788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1201A"/>
                </a:solidFill>
                <a:latin typeface="Calibri"/>
              </a:defRPr>
            </a:pPr>
            <a:r>
              <a:t>COURIER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364845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66B60"/>
                </a:solidFill>
                <a:latin typeface="Calibri"/>
              </a:defRPr>
            </a:pPr>
            <a:r>
              <a:t>Shippo scan: delivered 4 days ago (Day 4 of 7)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350215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5C4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" y="4197096"/>
            <a:ext cx="411480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30352" y="4288536"/>
            <a:ext cx="1051560" cy="219456"/>
          </a:xfrm>
          <a:prstGeom prst="roundRect">
            <a:avLst/>
          </a:prstGeom>
          <a:solidFill>
            <a:srgbClr val="E8F5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4032"/>
                </a:solidFill>
                <a:latin typeface="Consolas"/>
              </a:defRPr>
            </a:pPr>
            <a:r>
              <a:t>SOURCE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55064" y="4261104"/>
            <a:ext cx="278892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1201A"/>
                </a:solidFill>
                <a:latin typeface="Calibri"/>
              </a:defRPr>
            </a:pPr>
            <a:r>
              <a:t>RETURN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" y="454456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66B60"/>
                </a:solidFill>
                <a:latin typeface="Calibri"/>
              </a:defRPr>
            </a:pPr>
            <a:r>
              <a:t>7-day defect window; security packaging tag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4398264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A5C4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9784" y="1508760"/>
            <a:ext cx="6638544" cy="3611880"/>
          </a:xfrm>
          <a:prstGeom prst="roundRect">
            <a:avLst/>
          </a:prstGeom>
          <a:solidFill>
            <a:srgbClr val="1120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41264" y="1874520"/>
            <a:ext cx="581558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FFD485"/>
                </a:solidFill>
                <a:latin typeface="Consolas"/>
              </a:defRPr>
            </a:pPr>
            <a:r>
              <a:t>THE CRITICAL INFORMATION GAP</a:t>
            </a:r>
          </a:p>
          <a:p>
            <a:pPr>
              <a:spcAft>
                <a:spcPts val="160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“What verifiable evidence justifies moving this money?”</a:t>
            </a:r>
          </a:p>
          <a:p>
            <a:pPr>
              <a:spcAft>
                <a:spcPts val="1200"/>
              </a:spcAft>
              <a:defRPr sz="1500">
                <a:solidFill>
                  <a:srgbClr val="DFEAE5"/>
                </a:solidFill>
                <a:latin typeface="Calibri"/>
              </a:defRPr>
            </a:pPr>
            <a:r>
              <a:t>Four disconnected systems. One solo seller making high-stakes financial decisions across browser tabs.</a:t>
            </a:r>
          </a:p>
          <a:p>
            <a:pPr>
              <a:defRPr sz="1350">
                <a:solidFill>
                  <a:srgbClr val="A5C0B6"/>
                </a:solidFill>
                <a:latin typeface="Calibri"/>
              </a:defRPr>
            </a:pPr>
            <a:r>
              <a:t>Without an auditable evidence pack, the merchant either refunds blind (losing COGS and 2-way freight) or disputes unfairly (destroying customer trust and merchant ratings).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624" y="5285232"/>
            <a:ext cx="5559552" cy="932688"/>
          </a:xfrm>
          <a:prstGeom prst="roundRect">
            <a:avLst/>
          </a:prstGeom>
          <a:solidFill>
            <a:srgbClr val="F3EFE9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376672"/>
            <a:ext cx="52669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4032"/>
                </a:solidFill>
                <a:latin typeface="Consolas"/>
              </a:defRPr>
            </a:pPr>
            <a:r>
              <a:t>INDUSTRY FRAUD BASELINE (DEFINITIONS DIFFER · NOT DIRECTLY COMPARABLE)</a:t>
            </a:r>
          </a:p>
          <a:p>
            <a:pPr>
              <a:defRPr sz="1100">
                <a:solidFill>
                  <a:srgbClr val="283C33"/>
                </a:solidFill>
                <a:latin typeface="Calibri"/>
              </a:defRPr>
            </a:pPr>
            <a:r>
              <a:t>• 9.0% Return Fraud (NRF 2025): Strict criminal fraud only (unboxing swaps, empty boxes).</a:t>
            </a:r>
            <a:br/>
            <a:r>
              <a:t>• 15.14% Abuse (Appriss/Deloitte 2024): Criminal fraud combined with policy abuse (wardrobing).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8776" y="5285232"/>
            <a:ext cx="5559552" cy="932688"/>
          </a:xfrm>
          <a:prstGeom prst="roundRect">
            <a:avLst/>
          </a:prstGeom>
          <a:solidFill>
            <a:srgbClr val="F3EFE9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5376672"/>
            <a:ext cx="52669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4032"/>
                </a:solidFill>
                <a:latin typeface="Consolas"/>
              </a:defRPr>
            </a:pPr>
            <a:r>
              <a:t>SOLO MERCHANT ASYMMETRIC RISK</a:t>
            </a:r>
          </a:p>
          <a:p>
            <a:pPr>
              <a:defRPr sz="1100">
                <a:solidFill>
                  <a:srgbClr val="283C33"/>
                </a:solidFill>
                <a:latin typeface="Calibri"/>
              </a:defRPr>
            </a:pPr>
            <a:r>
              <a:t>• Wrong refund = Lost product COGS + 2-way shipping costs (unrecoverable margin loss).</a:t>
            </a:r>
            <a:br/>
            <a:r>
              <a:t>• Unfair denial = Ruined customer trust, chargeback penalties &amp; degraded seller account health.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" y="6400800"/>
            <a:ext cx="11347704" cy="13716"/>
          </a:xfrm>
          <a:prstGeom prst="rect">
            <a:avLst/>
          </a:prstGeom>
          <a:solidFill>
            <a:srgbClr val="E2DCD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8A9C93"/>
                </a:solidFill>
                <a:latin typeface="Consolas"/>
              </a:defRPr>
            </a:pPr>
            <a:r>
              <a:t>RETURNLENS V7 · AGENTX HACKATHON 2026 PS-04 · TEAM ROOKIE (3 MEMBERS)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252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8A9C93"/>
                </a:solidFill>
                <a:latin typeface="Consolas"/>
              </a:defRPr>
            </a:pPr>
            <a: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918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5C48"/>
                </a:solidFill>
                <a:latin typeface="Consolas"/>
              </a:defRPr>
            </a:pPr>
            <a:r>
              <a:t>STAR DEMO · CORE BENCHMARK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9436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201A"/>
                </a:solidFill>
                <a:latin typeface="Calibri"/>
              </a:defRPr>
            </a:pPr>
            <a:r>
              <a:t>The order says white. The video shows black.</a:t>
            </a:r>
          </a:p>
          <a:p>
            <a:pPr>
              <a:defRPr sz="1550">
                <a:solidFill>
                  <a:srgbClr val="566B60"/>
                </a:solidFill>
                <a:latin typeface="Calibri"/>
              </a:defRPr>
            </a:pPr>
            <a:r>
              <a:t>ReturnLens flags the contradiction — the seller decides.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1508760"/>
            <a:ext cx="5138928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55064"/>
            <a:ext cx="47000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A5C48"/>
                </a:solidFill>
                <a:latin typeface="Consolas"/>
              </a:defRPr>
            </a:pPr>
            <a:r>
              <a:t>ORDER MANIFEST · STORE CATALOG TRUTH (#ORD-7729)</a:t>
            </a:r>
          </a:p>
        </p:txBody>
      </p:sp>
      <p:pic>
        <p:nvPicPr>
          <p:cNvPr id="7" name="Picture 6" descr="studio_white_headphon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11680"/>
            <a:ext cx="4700016" cy="2057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160520"/>
            <a:ext cx="4700016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1201A"/>
                </a:solidFill>
                <a:latin typeface="Calibri"/>
              </a:defRPr>
            </a:pPr>
            <a:r>
              <a:t>SKU: HEAD-WHT-02 · Spec: Matte White Casing</a:t>
            </a:r>
          </a:p>
          <a:p>
            <a:pPr>
              <a:defRPr sz="1100">
                <a:solidFill>
                  <a:srgbClr val="283C33"/>
                </a:solidFill>
                <a:latin typeface="Consolas"/>
              </a:defRPr>
            </a:pPr>
            <a:r>
              <a:t>Price: ₹1,499 paid · Delivered: 4d ago (Shippo #SH-9012)</a:t>
            </a:r>
            <a:br/>
            <a:r>
              <a:t>Return Window P-04 (7-Day Policy): PASS (Day 4 of 7)</a:t>
            </a:r>
          </a:p>
        </p:txBody>
      </p:sp>
      <p:sp>
        <p:nvSpPr>
          <p:cNvPr id="9" name="Oval 8"/>
          <p:cNvSpPr/>
          <p:nvPr/>
        </p:nvSpPr>
        <p:spPr>
          <a:xfrm>
            <a:off x="5678424" y="2834640"/>
            <a:ext cx="841248" cy="841248"/>
          </a:xfrm>
          <a:prstGeom prst="ellipse">
            <a:avLst/>
          </a:prstGeom>
          <a:solidFill>
            <a:srgbClr val="C84B3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508760"/>
            <a:ext cx="5138928" cy="3657600"/>
          </a:xfrm>
          <a:prstGeom prst="roundRect">
            <a:avLst/>
          </a:prstGeom>
          <a:solidFill>
            <a:srgbClr val="FFFDFC"/>
          </a:solidFill>
          <a:ln w="19050">
            <a:solidFill>
              <a:srgbClr val="F7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9712" y="1655064"/>
            <a:ext cx="4700016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C84B31"/>
                </a:solidFill>
                <a:latin typeface="Consolas"/>
              </a:defRPr>
            </a:pPr>
            <a:r>
              <a:t>MOCK EVIDENCE PACK · VIDEO CITATION (FRAME 00:07)</a:t>
            </a:r>
          </a:p>
        </p:txBody>
      </p:sp>
      <p:pic>
        <p:nvPicPr>
          <p:cNvPr id="12" name="Picture 11" descr="unboxing_black_headphon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2011680"/>
            <a:ext cx="4700016" cy="2057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39712" y="4160520"/>
            <a:ext cx="4700016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E2A2B"/>
                </a:solidFill>
                <a:latin typeface="Calibri"/>
              </a:defRPr>
            </a:pPr>
            <a:r>
              <a:t>Observed: Black Casing (color-consistent with HEAD-BLK-09)</a:t>
            </a:r>
          </a:p>
          <a:p>
            <a:pPr>
              <a:defRPr sz="1100">
                <a:solidFill>
                  <a:srgbClr val="9E2A2B"/>
                </a:solidFill>
                <a:latin typeface="Consolas"/>
              </a:defRPr>
            </a:pPr>
            <a:r>
              <a:t>Exact SKU: Not verified (Barcode unverified) · Policy P-03 FAIL</a:t>
            </a:r>
            <a:br/>
            <a:r>
              <a:t>Lighting: Optimal (142/255) · REC 00:07 / 00:24 (Mock Keyframe)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5330952"/>
            <a:ext cx="11347704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40410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9E2A2B"/>
                </a:solidFill>
                <a:latin typeface="Consolas"/>
              </a:defRPr>
            </a:pPr>
            <a:r>
              <a:t>POLICY P-03 RESULT: ESCALATE TO SELLER GATE (FAIL-CLOSED)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404104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66B60"/>
                </a:solidFill>
                <a:latin typeface="Consolas"/>
              </a:defRPr>
            </a:pPr>
            <a:r>
              <a:t>Guardrail: 0 &lt; amt ≤ min(₹4,999, rem_ref, paid) · Never auto-refunds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742432"/>
            <a:ext cx="3584448" cy="402336"/>
          </a:xfrm>
          <a:prstGeom prst="roundRect">
            <a:avLst/>
          </a:prstGeom>
          <a:solidFill>
            <a:srgbClr val="F3EFE9"/>
          </a:solidFill>
          <a:ln w="12700">
            <a:solidFill>
              <a:srgbClr val="CAC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201A"/>
                </a:solidFill>
                <a:latin typeface="Calibri"/>
              </a:defRPr>
            </a:pPr>
            <a:r>
              <a:t>1. Accept as warehouse mis-shipment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5742432"/>
            <a:ext cx="3584448" cy="402336"/>
          </a:xfrm>
          <a:prstGeom prst="roundRect">
            <a:avLst/>
          </a:prstGeom>
          <a:solidFill>
            <a:srgbClr val="F3EFE9"/>
          </a:solidFill>
          <a:ln w="12700">
            <a:solidFill>
              <a:srgbClr val="CAC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201A"/>
                </a:solidFill>
                <a:latin typeface="Calibri"/>
              </a:defRPr>
            </a:pPr>
            <a:r>
              <a:t>2. Request photo of outside-box shipping label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5742432"/>
            <a:ext cx="3584448" cy="402336"/>
          </a:xfrm>
          <a:prstGeom prst="roundRect">
            <a:avLst/>
          </a:prstGeom>
          <a:solidFill>
            <a:srgbClr val="F3EFE9"/>
          </a:solidFill>
          <a:ln w="12700">
            <a:solidFill>
              <a:srgbClr val="CAC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1201A"/>
                </a:solidFill>
                <a:latin typeface="Calibri"/>
              </a:defRPr>
            </a:pPr>
            <a:r>
              <a:t>3. Hold return for physical parcel inspection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" y="6400800"/>
            <a:ext cx="11347704" cy="13716"/>
          </a:xfrm>
          <a:prstGeom prst="rect">
            <a:avLst/>
          </a:prstGeom>
          <a:solidFill>
            <a:srgbClr val="E2DCD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8A9C93"/>
                </a:solidFill>
                <a:latin typeface="Consolas"/>
              </a:defRPr>
            </a:pPr>
            <a:r>
              <a:t>RETURNLENS V7 · AGENTX HACKATHON 2026 PS-04 · TEAM ROOKIE (3 MEMBERS)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252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8A9C93"/>
                </a:solidFill>
                <a:latin typeface="Consolas"/>
              </a:defRPr>
            </a:pPr>
            <a: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613"/>
          </a:solidFill>
          <a:ln>
            <a:solidFill>
              <a:srgbClr val="0B1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918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onsolas"/>
              </a:defRPr>
            </a:pPr>
            <a:r>
              <a:t>SYSTEM ARCHITECTURE · DYNAMIC AGENTIC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9436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7F4"/>
                </a:solidFill>
                <a:latin typeface="Calibri"/>
              </a:defRPr>
            </a:pPr>
            <a:r>
              <a:t>Models observe. Code verifies. Seller authorizes.</a:t>
            </a:r>
          </a:p>
          <a:p>
            <a:pPr>
              <a:defRPr sz="1550">
                <a:solidFill>
                  <a:srgbClr val="95AFA5"/>
                </a:solidFill>
                <a:latin typeface="Calibri"/>
              </a:defRPr>
            </a:pPr>
            <a:r>
              <a:t>Exactly 3 base model calls per triage case. Weak evidence escalates. Never releases automated refunds.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1508760"/>
            <a:ext cx="11347704" cy="1005840"/>
          </a:xfrm>
          <a:prstGeom prst="roundRect">
            <a:avLst/>
          </a:prstGeom>
          <a:solidFill>
            <a:srgbClr val="13231E"/>
          </a:solidFill>
          <a:ln w="12700">
            <a:solidFill>
              <a:srgbClr val="223B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2DD4BF"/>
                </a:solidFill>
                <a:latin typeface="Consolas"/>
              </a:defRPr>
            </a:pPr>
            <a:r>
              <a:t>1. Planner</a:t>
            </a:r>
          </a:p>
          <a:p>
            <a:pPr>
              <a:defRPr sz="900" b="1">
                <a:solidFill>
                  <a:srgbClr val="2DD4BF"/>
                </a:solidFill>
                <a:latin typeface="Consolas"/>
              </a:defRPr>
            </a:pPr>
            <a:r>
              <a:t>Model Call 1</a:t>
            </a:r>
          </a:p>
          <a:p>
            <a:pPr>
              <a:defRPr sz="1000">
                <a:solidFill>
                  <a:srgbClr val="95AFA5"/>
                </a:solidFill>
                <a:latin typeface="Calibri"/>
              </a:defRPr>
            </a:pPr>
            <a:r>
              <a:t>Proposes typed JSON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79" y="1600200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2DD4BF"/>
                </a:solidFill>
                <a:latin typeface="Consolas"/>
              </a:defRPr>
            </a:pPr>
            <a:r>
              <a:t>2. Tools &amp; Vision</a:t>
            </a:r>
          </a:p>
          <a:p>
            <a:pPr>
              <a:defRPr sz="900" b="1">
                <a:solidFill>
                  <a:srgbClr val="2DD4BF"/>
                </a:solidFill>
                <a:latin typeface="Consolas"/>
              </a:defRPr>
            </a:pPr>
            <a:r>
              <a:t>Model Call 2</a:t>
            </a:r>
          </a:p>
          <a:p>
            <a:pPr>
              <a:defRPr sz="1000">
                <a:solidFill>
                  <a:srgbClr val="95AFA5"/>
                </a:solidFill>
                <a:latin typeface="Calibri"/>
              </a:defRPr>
            </a:pPr>
            <a:r>
              <a:t>FFmpeg keyframes +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600200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8F7F4"/>
                </a:solidFill>
                <a:latin typeface="Consolas"/>
              </a:defRPr>
            </a:pPr>
            <a:r>
              <a:t>3. Policy Engine</a:t>
            </a:r>
          </a:p>
          <a:p>
            <a:pPr>
              <a:defRPr sz="900" b="1">
                <a:solidFill>
                  <a:srgbClr val="95AFA5"/>
                </a:solidFill>
                <a:latin typeface="Consolas"/>
              </a:defRPr>
            </a:pPr>
            <a:r>
              <a:t>Deterministic Code</a:t>
            </a:r>
          </a:p>
          <a:p>
            <a:pPr>
              <a:defRPr sz="1000">
                <a:solidFill>
                  <a:srgbClr val="95AFA5"/>
                </a:solidFill>
                <a:latin typeface="Calibri"/>
              </a:defRPr>
            </a:pPr>
            <a:r>
              <a:t>Evaluates rules P-01–P-08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00200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2DD4BF"/>
                </a:solidFill>
                <a:latin typeface="Consolas"/>
              </a:defRPr>
            </a:pPr>
            <a:r>
              <a:t>4. Critic</a:t>
            </a:r>
          </a:p>
          <a:p>
            <a:pPr>
              <a:defRPr sz="900" b="1">
                <a:solidFill>
                  <a:srgbClr val="2DD4BF"/>
                </a:solidFill>
                <a:latin typeface="Consolas"/>
              </a:defRPr>
            </a:pPr>
            <a:r>
              <a:t>Model Call 3</a:t>
            </a:r>
          </a:p>
          <a:p>
            <a:pPr>
              <a:defRPr sz="1000">
                <a:solidFill>
                  <a:srgbClr val="95AFA5"/>
                </a:solidFill>
                <a:latin typeface="Calibri"/>
              </a:defRPr>
            </a:pPr>
            <a:r>
              <a:t>Verifies cited timestamps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600200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8F7F4"/>
                </a:solidFill>
                <a:latin typeface="Consolas"/>
              </a:defRPr>
            </a:pPr>
            <a:r>
              <a:t>5. Seller Gate</a:t>
            </a:r>
          </a:p>
          <a:p>
            <a:pPr>
              <a:defRPr sz="900" b="1">
                <a:solidFill>
                  <a:srgbClr val="FFD485"/>
                </a:solidFill>
                <a:latin typeface="Consolas"/>
              </a:defRPr>
            </a:pPr>
            <a:r>
              <a:t>Human Merchant</a:t>
            </a:r>
          </a:p>
          <a:p>
            <a:pPr>
              <a:defRPr sz="1000">
                <a:solidFill>
                  <a:srgbClr val="95AFA5"/>
                </a:solidFill>
                <a:latin typeface="Calibri"/>
              </a:defRPr>
            </a:pPr>
            <a:r>
              <a:t>Fail-closed 1-click 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1600200"/>
            <a:ext cx="1737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8F7F4"/>
                </a:solidFill>
                <a:latin typeface="Consolas"/>
              </a:defRPr>
            </a:pPr>
            <a:r>
              <a:t>6. Audit Ledger</a:t>
            </a:r>
          </a:p>
          <a:p>
            <a:pPr>
              <a:defRPr sz="900" b="1">
                <a:solidFill>
                  <a:srgbClr val="95AFA5"/>
                </a:solidFill>
                <a:latin typeface="Consolas"/>
              </a:defRPr>
            </a:pPr>
            <a:r>
              <a:t>SQLite / JSON</a:t>
            </a:r>
          </a:p>
          <a:p>
            <a:pPr>
              <a:defRPr sz="1000">
                <a:solidFill>
                  <a:srgbClr val="95AFA5"/>
                </a:solidFill>
                <a:latin typeface="Calibri"/>
              </a:defRPr>
            </a:pPr>
            <a:r>
              <a:t>Append-only signed audit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2670048"/>
            <a:ext cx="3611880" cy="2487168"/>
          </a:xfrm>
          <a:prstGeom prst="roundRect">
            <a:avLst/>
          </a:prstGeom>
          <a:solidFill>
            <a:srgbClr val="13231E"/>
          </a:solidFill>
          <a:ln w="12700">
            <a:solidFill>
              <a:srgbClr val="223B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34640"/>
            <a:ext cx="324612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Consolas"/>
              </a:defRPr>
            </a:pPr>
            <a:r>
              <a:t>CALL BUDGET &amp; MODEL RESTRICTION</a:t>
            </a:r>
          </a:p>
          <a:p>
            <a:pPr>
              <a:spcAft>
                <a:spcPts val="800"/>
              </a:spcAft>
              <a:defRPr sz="1700" b="1">
                <a:solidFill>
                  <a:srgbClr val="F8F7F4"/>
                </a:solidFill>
                <a:latin typeface="Calibri"/>
              </a:defRPr>
            </a:pPr>
            <a:r>
              <a:t>Exactly 3 Model Calls</a:t>
            </a:r>
          </a:p>
          <a:p>
            <a:pPr>
              <a:defRPr sz="1200">
                <a:solidFill>
                  <a:srgbClr val="95AFA5"/>
                </a:solidFill>
                <a:latin typeface="Calibri"/>
              </a:defRPr>
            </a:pPr>
            <a:r>
              <a:t>1. Planner proposes typed tool actions.</a:t>
            </a:r>
            <a:br/>
            <a:r>
              <a:t>2. Vision model inspects server-extracted keyframes.</a:t>
            </a:r>
            <a:br/>
            <a:r>
              <a:t>3. Critic evaluates citations against policy.</a:t>
            </a:r>
            <a:br/>
            <a:br/>
            <a:r>
              <a:t>MODELS NEVER ACCESS PAYMENT APIS DIRECTLY.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2670048"/>
            <a:ext cx="3611880" cy="2487168"/>
          </a:xfrm>
          <a:prstGeom prst="roundRect">
            <a:avLst/>
          </a:prstGeom>
          <a:solidFill>
            <a:srgbClr val="142822"/>
          </a:solidFill>
          <a:ln w="19050">
            <a:solidFill>
              <a:srgbClr val="0A5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2834640"/>
            <a:ext cx="324612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Consolas"/>
              </a:defRPr>
            </a:pPr>
            <a:r>
              <a:t>STATEFUL RESUMPTION (CASE C)</a:t>
            </a:r>
          </a:p>
          <a:p>
            <a:pPr>
              <a:spcAft>
                <a:spcPts val="800"/>
              </a:spcAft>
              <a:defRPr sz="1700" b="1">
                <a:solidFill>
                  <a:srgbClr val="F8F7F4"/>
                </a:solidFill>
                <a:latin typeface="Calibri"/>
              </a:defRPr>
            </a:pPr>
            <a:r>
              <a:t>Clarification &amp; Re-Film Loop</a:t>
            </a:r>
          </a:p>
          <a:p>
            <a:pPr>
              <a:defRPr sz="1150">
                <a:solidFill>
                  <a:srgbClr val="D2E5DC"/>
                </a:solidFill>
                <a:latin typeface="Calibri"/>
              </a:defRPr>
            </a:pPr>
            <a:r>
              <a:t>Low-light video (28/255 brightness) triggers ask_for_evidence().</a:t>
            </a:r>
            <a:br/>
            <a:br/>
            <a:r>
              <a:t>State saves to WAITING_FOR_EVIDENCE → Resumes on upload.</a:t>
            </a:r>
            <a:br/>
            <a:br/>
            <a:r>
              <a:t>TERMINATION RULE: After 1 retry, escalates to seller with both attempts logged (never auto-denies).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2670048"/>
            <a:ext cx="3611880" cy="2487168"/>
          </a:xfrm>
          <a:prstGeom prst="roundRect">
            <a:avLst/>
          </a:prstGeom>
          <a:solidFill>
            <a:srgbClr val="13231E"/>
          </a:solidFill>
          <a:ln w="12700">
            <a:solidFill>
              <a:srgbClr val="223B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0183" y="2834640"/>
            <a:ext cx="3246120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  <a:latin typeface="Consolas"/>
              </a:defRPr>
            </a:pPr>
            <a:r>
              <a:t>SECONDARY PS-04 ROUTE</a:t>
            </a:r>
          </a:p>
          <a:p>
            <a:pPr>
              <a:spcAft>
                <a:spcPts val="800"/>
              </a:spcAft>
              <a:defRPr sz="1700" b="1">
                <a:solidFill>
                  <a:srgbClr val="F8F7F4"/>
                </a:solidFill>
                <a:latin typeface="Calibri"/>
              </a:defRPr>
            </a:pPr>
            <a:r>
              <a:t>Tiny PS-04 Order Route</a:t>
            </a:r>
          </a:p>
          <a:p>
            <a:pPr>
              <a:defRPr sz="1200">
                <a:solidFill>
                  <a:srgbClr val="95AFA5"/>
                </a:solidFill>
                <a:latin typeface="Calibri"/>
              </a:defRPr>
            </a:pPr>
            <a:r>
              <a:t>For routine "Where is my order?" inquiries, the agent bypasses vision models entirely:</a:t>
            </a:r>
            <a:br/>
            <a:br/>
            <a:r>
              <a:t>Store API → Courier API → Status Reply</a:t>
            </a:r>
            <a:br/>
            <a:br/>
            <a:r>
              <a:t>Zero vision token waste · Instant response.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5303520"/>
            <a:ext cx="11347704" cy="731520"/>
          </a:xfrm>
          <a:prstGeom prst="roundRect">
            <a:avLst/>
          </a:prstGeom>
          <a:solidFill>
            <a:srgbClr val="11221D"/>
          </a:solidFill>
          <a:ln w="12700">
            <a:solidFill>
              <a:srgbClr val="223B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3949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D485"/>
                </a:solidFill>
                <a:latin typeface="Consolas"/>
              </a:defRPr>
            </a:pPr>
            <a:r>
              <a:t>FAIL-CLOSED FINANCIAL GATE: requires_seller_approval: true · Approval binds case + evidence hash + policy version.</a:t>
            </a:r>
          </a:p>
          <a:p>
            <a:pPr>
              <a:defRPr sz="1050">
                <a:solidFill>
                  <a:srgbClr val="95AFA5"/>
                </a:solidFill>
                <a:latin typeface="Consolas"/>
              </a:defRPr>
            </a:pPr>
            <a:r>
              <a:t>Server Cap: 0 &lt; amount &lt;= min(₹4,999, remaining_refundable, order_paid) · Revalidation check before draft release.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" y="6400800"/>
            <a:ext cx="11347704" cy="13716"/>
          </a:xfrm>
          <a:prstGeom prst="rect">
            <a:avLst/>
          </a:prstGeom>
          <a:solidFill>
            <a:srgbClr val="223B33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95AFA5"/>
                </a:solidFill>
                <a:latin typeface="Consolas"/>
              </a:defRPr>
            </a:pPr>
            <a:r>
              <a:t>RETURNLENS V7 · AGENTX HACKATHON 2026 PS-04 · TEAM ROOKIE (3 MEMBERS)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252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95AFA5"/>
                </a:solidFill>
                <a:latin typeface="Consolas"/>
              </a:defRPr>
            </a:pPr>
            <a: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918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5C48"/>
                </a:solidFill>
                <a:latin typeface="Consolas"/>
              </a:defRPr>
            </a:pPr>
            <a:r>
              <a:t>DEMO SCENARIOS · BEHAVIORAL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9436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201A"/>
                </a:solidFill>
                <a:latin typeface="Calibri"/>
              </a:defRPr>
            </a:pPr>
            <a:r>
              <a:t>Different evidence. Different action.</a:t>
            </a:r>
          </a:p>
          <a:p>
            <a:pPr>
              <a:defRPr sz="1550">
                <a:solidFill>
                  <a:srgbClr val="566B60"/>
                </a:solidFill>
                <a:latin typeface="Calibri"/>
              </a:defRPr>
            </a:pPr>
            <a:r>
              <a:t>Every case produces an auditable mock evidence pack. No automatic policy approvals.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1508760"/>
            <a:ext cx="4937760" cy="46817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7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55064"/>
            <a:ext cx="4498848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C84B31"/>
                </a:solidFill>
                <a:latin typeface="Consolas"/>
              </a:defRPr>
            </a:pPr>
            <a:r>
              <a:t>CORE BENCHMARK SCENARIO · P-03 CONTRADICTION</a:t>
            </a:r>
          </a:p>
          <a:p>
            <a:pPr>
              <a:defRPr sz="2000" b="1">
                <a:solidFill>
                  <a:srgbClr val="11201A"/>
                </a:solidFill>
                <a:latin typeface="Calibri"/>
              </a:defRPr>
            </a:pPr>
            <a:r>
              <a:t>Case B: Color Contradiction</a:t>
            </a:r>
          </a:p>
          <a:p>
            <a:pPr>
              <a:defRPr sz="1200">
                <a:solidFill>
                  <a:srgbClr val="566B60"/>
                </a:solidFill>
                <a:latin typeface="Calibri"/>
              </a:defRPr>
            </a:pPr>
            <a:r>
              <a:t>The order says White. Unboxing video frame 00:07 shows Black.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04872"/>
            <a:ext cx="4498848" cy="1389888"/>
          </a:xfrm>
          <a:prstGeom prst="roundRect">
            <a:avLst/>
          </a:prstGeom>
          <a:solidFill>
            <a:srgbClr val="FDF3F1"/>
          </a:solidFill>
          <a:ln w="12700">
            <a:solidFill>
              <a:srgbClr val="F7C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nboxing_black_headphon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2514600"/>
            <a:ext cx="1417320" cy="1170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8" y="2478024"/>
            <a:ext cx="283464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C84B31"/>
                </a:solidFill>
                <a:latin typeface="Consolas"/>
              </a:defRPr>
            </a:pPr>
            <a:r>
              <a:t>MOCK EVIDENCE PACK · FRAME 00:07</a:t>
            </a:r>
          </a:p>
          <a:p>
            <a:pPr>
              <a:defRPr sz="950">
                <a:solidFill>
                  <a:srgbClr val="11201A"/>
                </a:solidFill>
                <a:latin typeface="Calibri"/>
              </a:defRPr>
            </a:pPr>
            <a:r>
              <a:t>Manifest: HEAD-WHT-02 White (₹1,499)</a:t>
            </a:r>
          </a:p>
          <a:p>
            <a:pPr>
              <a:defRPr sz="1000" b="1">
                <a:solidFill>
                  <a:srgbClr val="9E2A2B"/>
                </a:solidFill>
                <a:latin typeface="Calibri"/>
              </a:defRPr>
            </a:pPr>
            <a:r>
              <a:t>Observed: Black casing (color-consistent)</a:t>
            </a:r>
          </a:p>
          <a:p>
            <a:pPr>
              <a:defRPr sz="850">
                <a:solidFill>
                  <a:srgbClr val="566B60"/>
                </a:solidFill>
                <a:latin typeface="Consolas"/>
              </a:defRPr>
            </a:pPr>
            <a:r>
              <a:t>Barcode: Unverified · Exact SKU: Not verified</a:t>
            </a:r>
          </a:p>
          <a:p>
            <a:pPr>
              <a:defRPr sz="950" b="1">
                <a:solidFill>
                  <a:srgbClr val="9E2A2B"/>
                </a:solidFill>
                <a:latin typeface="Calibri"/>
              </a:defRPr>
            </a:pPr>
            <a:r>
              <a:t>P-03 FAIL → No label, no refund draft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67912"/>
            <a:ext cx="4498848" cy="384048"/>
          </a:xfrm>
          <a:prstGeom prst="roundRect">
            <a:avLst/>
          </a:prstGeom>
          <a:solidFill>
            <a:srgbClr val="1120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941064"/>
            <a:ext cx="4279392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950" b="1">
                <a:solidFill>
                  <a:srgbClr val="FFD485"/>
                </a:solidFill>
                <a:latin typeface="Consolas"/>
              </a:defRPr>
            </a:pPr>
            <a:r>
              <a:t>POLICY ACTION: ESCALATE TO SELLER GATE (FAIL-CLOSED)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25112"/>
            <a:ext cx="4498848" cy="1691640"/>
          </a:xfrm>
          <a:prstGeom prst="roundRect">
            <a:avLst/>
          </a:prstGeom>
          <a:solidFill>
            <a:srgbClr val="F3EFE9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416552"/>
            <a:ext cx="4279392" cy="1545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64032"/>
                </a:solidFill>
                <a:latin typeface="Consolas"/>
              </a:defRPr>
            </a:pPr>
            <a:r>
              <a:t>PRESERVED SELLER OPTIONS IN DECISION CONSOLE:</a:t>
            </a:r>
          </a:p>
          <a:p>
            <a:pPr>
              <a:defRPr sz="1100" b="1">
                <a:solidFill>
                  <a:srgbClr val="11201A"/>
                </a:solidFill>
                <a:latin typeface="Calibri"/>
              </a:defRPr>
            </a:pPr>
            <a:r>
              <a:t>① Accept warehouse mis-shipment</a:t>
            </a:r>
          </a:p>
          <a:p>
            <a:pPr>
              <a:defRPr sz="1100" b="1">
                <a:solidFill>
                  <a:srgbClr val="11201A"/>
                </a:solidFill>
                <a:latin typeface="Calibri"/>
              </a:defRPr>
            </a:pPr>
            <a:r>
              <a:t>② Request photo of outside-box shipping label</a:t>
            </a:r>
          </a:p>
          <a:p>
            <a:pPr>
              <a:defRPr sz="1100" b="1">
                <a:solidFill>
                  <a:srgbClr val="11201A"/>
                </a:solidFill>
                <a:latin typeface="Calibri"/>
              </a:defRPr>
            </a:pPr>
            <a:r>
              <a:t>③ Hold return for physical parcel inspection</a:t>
            </a:r>
          </a:p>
          <a:p>
            <a:pPr>
              <a:defRPr sz="900">
                <a:solidFill>
                  <a:srgbClr val="566B60"/>
                </a:solidFill>
                <a:latin typeface="Consolas"/>
              </a:defRPr>
            </a:pPr>
            <a:r>
              <a:t>Financial Guardrail: 0 &lt; amount ≤ min(₹4,999, rem, paid) · Binds evidence hash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59552" y="1508760"/>
            <a:ext cx="6208776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1618488"/>
            <a:ext cx="575157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4032"/>
                </a:solidFill>
                <a:latin typeface="Calibri"/>
              </a:defRPr>
            </a:pPr>
            <a:r>
              <a:t>Case A: Valid Return (ORD-1042)   [PREPARE SELLER REVIEW]</a:t>
            </a:r>
          </a:p>
          <a:p>
            <a:pPr>
              <a:defRPr sz="1200">
                <a:solidFill>
                  <a:srgbClr val="566B60"/>
                </a:solidFill>
                <a:latin typeface="Calibri"/>
              </a:defRPr>
            </a:pPr>
            <a:r>
              <a:t>Evidence: ORD-1042 · ₹1,499 · SKU matches catalog · Packaging tag present · Within 7-day return window.</a:t>
            </a:r>
          </a:p>
          <a:p>
            <a:pPr>
              <a:defRPr sz="1000" b="1">
                <a:solidFill>
                  <a:srgbClr val="064032"/>
                </a:solidFill>
                <a:latin typeface="Consolas"/>
              </a:defRPr>
            </a:pPr>
            <a:r>
              <a:t>Outcome: Mock shipping label created · Refund draft placed in pending_return_receipt (not executed).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59552" y="3118104"/>
            <a:ext cx="6208776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88152" y="3227832"/>
            <a:ext cx="575157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2400E"/>
                </a:solidFill>
                <a:latin typeface="Calibri"/>
              </a:defRPr>
            </a:pPr>
            <a:r>
              <a:t>Case C: Low-Light Video (Re-Film Loop)   [ASK &amp; RESUME]</a:t>
            </a:r>
          </a:p>
          <a:p>
            <a:pPr>
              <a:defRPr sz="1200">
                <a:solidFill>
                  <a:srgbClr val="566B60"/>
                </a:solidFill>
                <a:latin typeface="Calibri"/>
              </a:defRPr>
            </a:pPr>
            <a:r>
              <a:t>Evidence: 4-second dark unboxing video · Brightness score 28/255 · Only 2 usable keyframes extracted.</a:t>
            </a:r>
          </a:p>
          <a:p>
            <a:pPr>
              <a:defRPr sz="1000" b="1">
                <a:solidFill>
                  <a:srgbClr val="064032"/>
                </a:solidFill>
                <a:latin typeface="Consolas"/>
              </a:defRPr>
            </a:pPr>
            <a:r>
              <a:t>Outcome: Agent issues re-film checklist · State saved to WAITING_FOR_EVIDENCE · Resumes on upload (after 1 retry, escalates with both attempts logged; never auto-denies).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59552" y="4727448"/>
            <a:ext cx="6208776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88152" y="4837176"/>
            <a:ext cx="575157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201A"/>
                </a:solidFill>
                <a:latin typeface="Calibri"/>
              </a:defRPr>
            </a:pPr>
            <a:r>
              <a:t>Case D: Continuous Unboxing Sequence   [INSPECT SEQUENCE]</a:t>
            </a:r>
          </a:p>
          <a:p>
            <a:pPr>
              <a:defRPr sz="1200">
                <a:solidFill>
                  <a:srgbClr val="566B60"/>
                </a:solidFill>
                <a:latin typeface="Calibri"/>
              </a:defRPr>
            </a:pPr>
            <a:r>
              <a:t>Evidence: Single continuous take from opening sealed parcel to displaying label in one sequence.</a:t>
            </a:r>
          </a:p>
          <a:p>
            <a:pPr>
              <a:defRPr sz="1000" b="1">
                <a:solidFill>
                  <a:srgbClr val="064032"/>
                </a:solidFill>
                <a:latin typeface="Consolas"/>
              </a:defRPr>
            </a:pPr>
            <a:r>
              <a:t>Outcome: Inspects sequence continuity and flags abrupt transitions. Does not claim proof of identical item.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" y="6400800"/>
            <a:ext cx="11347704" cy="13716"/>
          </a:xfrm>
          <a:prstGeom prst="rect">
            <a:avLst/>
          </a:prstGeom>
          <a:solidFill>
            <a:srgbClr val="E2DCD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8A9C93"/>
                </a:solidFill>
                <a:latin typeface="Consolas"/>
              </a:defRPr>
            </a:pPr>
            <a:r>
              <a:t>RETURNLENS V7 · AGENTX HACKATHON 2026 PS-04 · TEAM ROOKIE (3 MEMBERS)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252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8A9C93"/>
                </a:solidFill>
                <a:latin typeface="Consolas"/>
              </a:defRPr>
            </a:pPr>
            <a: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329184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5C48"/>
                </a:solidFill>
                <a:latin typeface="Consolas"/>
              </a:defRPr>
            </a:pPr>
            <a:r>
              <a:t>24-HOUR PROTOTYPE PLAN · FEASIBILITY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59436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201A"/>
                </a:solidFill>
                <a:latin typeface="Calibri"/>
              </a:defRPr>
            </a:pPr>
            <a:r>
              <a:t>A credible prototype in 24 hours.</a:t>
            </a:r>
          </a:p>
          <a:p>
            <a:pPr>
              <a:defRPr sz="1550">
                <a:solidFill>
                  <a:srgbClr val="566B60"/>
                </a:solidFill>
                <a:latin typeface="Calibri"/>
              </a:defRPr>
            </a:pPr>
            <a:r>
              <a:t>Strict scope boundaries and single-threaded ownership make the prototype buildable in one 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1508760"/>
            <a:ext cx="11347704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C2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18488"/>
            <a:ext cx="1508760" cy="219456"/>
          </a:xfrm>
          <a:prstGeom prst="roundRect">
            <a:avLst/>
          </a:prstGeom>
          <a:solidFill>
            <a:srgbClr val="E8F5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4032"/>
                </a:solidFill>
                <a:latin typeface="Consolas"/>
              </a:defRPr>
            </a:pPr>
            <a:r>
              <a:t>00 – 06h · PHASE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56232"/>
            <a:ext cx="2651760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1201A"/>
                </a:solidFill>
                <a:latin typeface="Calibri"/>
              </a:defRPr>
            </a:pPr>
            <a:r>
              <a:t>Foundation</a:t>
            </a:r>
          </a:p>
          <a:p>
            <a:pPr>
              <a:defRPr sz="1050">
                <a:solidFill>
                  <a:srgbClr val="566B60"/>
                </a:solidFill>
                <a:latin typeface="Calibri"/>
              </a:defRPr>
            </a:pPr>
            <a:r>
              <a:t>Mock Store/Shippo APIs · LangGraph state schema · Policy P-01 to P-08</a:t>
            </a:r>
          </a:p>
        </p:txBody>
      </p:sp>
      <p:sp>
        <p:nvSpPr>
          <p:cNvPr id="8" name="Rectangle 7"/>
          <p:cNvSpPr/>
          <p:nvPr/>
        </p:nvSpPr>
        <p:spPr>
          <a:xfrm>
            <a:off x="3273552" y="1673352"/>
            <a:ext cx="13716" cy="786384"/>
          </a:xfrm>
          <a:prstGeom prst="rect">
            <a:avLst/>
          </a:prstGeom>
          <a:solidFill>
            <a:srgbClr val="E2DCD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10712" y="1618488"/>
            <a:ext cx="1508760" cy="219456"/>
          </a:xfrm>
          <a:prstGeom prst="roundRect">
            <a:avLst/>
          </a:prstGeom>
          <a:solidFill>
            <a:srgbClr val="E8F5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4032"/>
                </a:solidFill>
                <a:latin typeface="Consolas"/>
              </a:defRPr>
            </a:pPr>
            <a:r>
              <a:t>06 – 12h · PHASE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0712" y="1856232"/>
            <a:ext cx="2651760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1201A"/>
                </a:solidFill>
                <a:latin typeface="Calibri"/>
              </a:defRPr>
            </a:pPr>
            <a:r>
              <a:t>Evidence Pipeline</a:t>
            </a:r>
          </a:p>
          <a:p>
            <a:pPr>
              <a:defRPr sz="1050">
                <a:solidFill>
                  <a:srgbClr val="566B60"/>
                </a:solidFill>
                <a:latin typeface="Calibri"/>
              </a:defRPr>
            </a:pPr>
            <a:r>
              <a:t>FFmpeg ~1fps extractor · Vision prompt schemas · Seller Console UI mock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9904" y="1673352"/>
            <a:ext cx="13716" cy="786384"/>
          </a:xfrm>
          <a:prstGeom prst="rect">
            <a:avLst/>
          </a:prstGeom>
          <a:solidFill>
            <a:srgbClr val="E2DCD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27064" y="1618488"/>
            <a:ext cx="1508760" cy="219456"/>
          </a:xfrm>
          <a:prstGeom prst="roundRect">
            <a:avLst/>
          </a:prstGeom>
          <a:solidFill>
            <a:srgbClr val="E8F5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4032"/>
                </a:solidFill>
                <a:latin typeface="Consolas"/>
              </a:defRPr>
            </a:pPr>
            <a:r>
              <a:t>12 – 18h · PHASE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7064" y="1856232"/>
            <a:ext cx="2651760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1201A"/>
                </a:solidFill>
                <a:latin typeface="Calibri"/>
              </a:defRPr>
            </a:pPr>
            <a:r>
              <a:t>Integration</a:t>
            </a:r>
          </a:p>
          <a:p>
            <a:pPr>
              <a:defRPr sz="1050">
                <a:solidFill>
                  <a:srgbClr val="566B60"/>
                </a:solidFill>
                <a:latin typeface="Calibri"/>
              </a:defRPr>
            </a:pPr>
            <a:r>
              <a:t>Case C pause/resume loop · 3 core cases (A–C) + Case D sequence test · Critic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06256" y="1673352"/>
            <a:ext cx="13716" cy="786384"/>
          </a:xfrm>
          <a:prstGeom prst="rect">
            <a:avLst/>
          </a:prstGeom>
          <a:solidFill>
            <a:srgbClr val="E2DCD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43416" y="1618488"/>
            <a:ext cx="1508760" cy="219456"/>
          </a:xfrm>
          <a:prstGeom prst="roundRect">
            <a:avLst/>
          </a:prstGeom>
          <a:solidFill>
            <a:srgbClr val="E8F5F1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64032"/>
                </a:solidFill>
                <a:latin typeface="Consolas"/>
              </a:defRPr>
            </a:pPr>
            <a:r>
              <a:t>18 – 24h · PHASE 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6" y="1856232"/>
            <a:ext cx="2651760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1201A"/>
                </a:solidFill>
                <a:latin typeface="Calibri"/>
              </a:defRPr>
            </a:pPr>
            <a:r>
              <a:t>Validation &amp; Safety</a:t>
            </a:r>
          </a:p>
          <a:p>
            <a:pPr>
              <a:defRPr sz="1050">
                <a:solidFill>
                  <a:srgbClr val="566B60"/>
                </a:solidFill>
                <a:latin typeface="Calibri"/>
              </a:defRPr>
            </a:pPr>
            <a:r>
              <a:t>Fail-closed authorization tests · Boundary QA · Video demo recording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" y="2788920"/>
            <a:ext cx="3611880" cy="224028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2916936"/>
            <a:ext cx="3282696" cy="2020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A5C48"/>
                </a:solidFill>
                <a:latin typeface="Consolas"/>
              </a:defRPr>
            </a:pPr>
            <a:r>
              <a:t>PERSON A · BACKEND, POLICY &amp; AUDIT</a:t>
            </a:r>
          </a:p>
          <a:p>
            <a:pPr>
              <a:defRPr sz="1400" b="1">
                <a:solidFill>
                  <a:srgbClr val="11201A"/>
                </a:solidFill>
                <a:latin typeface="Calibri"/>
              </a:defRPr>
            </a:pPr>
            <a:r>
              <a:t>State Machine &amp; Policy Engine</a:t>
            </a:r>
          </a:p>
          <a:p>
            <a:pPr>
              <a:spcAft>
                <a:spcPts val="400"/>
              </a:spcAft>
              <a:defRPr sz="900">
                <a:solidFill>
                  <a:srgbClr val="566B60"/>
                </a:solidFill>
                <a:latin typeface="Consolas"/>
              </a:defRPr>
            </a:pPr>
            <a:r>
              <a:t>Stack: LangGraph · Pydantic · SQLite · SHA256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Policy P-01 to P-08: Deterministic code rules (window, SKU, tag, refund cap)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Critic Agent: Adversarial check against cited keyframe timestamps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Audit Ledger: Append-only JSON log &amp; cryptographic approval binding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Financial Cap: Server calculation min(₹4,999, remaining, paid)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2788920"/>
            <a:ext cx="3611880" cy="224028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2916936"/>
            <a:ext cx="3282696" cy="2020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A5C48"/>
                </a:solidFill>
                <a:latin typeface="Consolas"/>
              </a:defRPr>
            </a:pPr>
            <a:r>
              <a:t>PERSON B · VISION &amp; CONSOLE</a:t>
            </a:r>
          </a:p>
          <a:p>
            <a:pPr>
              <a:defRPr sz="1400" b="1">
                <a:solidFill>
                  <a:srgbClr val="11201A"/>
                </a:solidFill>
                <a:latin typeface="Calibri"/>
              </a:defRPr>
            </a:pPr>
            <a:r>
              <a:t>Video Pipeline &amp; Seller UI</a:t>
            </a:r>
          </a:p>
          <a:p>
            <a:pPr>
              <a:spcAft>
                <a:spcPts val="400"/>
              </a:spcAft>
              <a:defRPr sz="900">
                <a:solidFill>
                  <a:srgbClr val="566B60"/>
                </a:solidFill>
                <a:latin typeface="Consolas"/>
              </a:defRPr>
            </a:pPr>
            <a:r>
              <a:t>Stack: FFmpeg · Hosted vision model (unpinned) · HTML/CSS/SVG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Keyframe Pipeline: Uniform ~1fps sampling &amp; brightness scoring (Case C sample: 28/255)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Structured Vision: Observation schema with timestamp citation metadata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Seller Console: 1-click decision console with mock evidence pack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Grounding Guard: Enforces unverified barcode vs color distinction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6448" y="2788920"/>
            <a:ext cx="3611880" cy="2240280"/>
          </a:xfrm>
          <a:prstGeom prst="roundRect">
            <a:avLst/>
          </a:prstGeom>
          <a:solidFill>
            <a:srgbClr val="FAF8F5"/>
          </a:solidFill>
          <a:ln w="12700"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916936"/>
            <a:ext cx="3282696" cy="2020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A5C48"/>
                </a:solidFill>
                <a:latin typeface="Consolas"/>
              </a:defRPr>
            </a:pPr>
            <a:r>
              <a:t>PERSON C · INTEGRATION &amp; QA</a:t>
            </a:r>
          </a:p>
          <a:p>
            <a:pPr>
              <a:defRPr sz="1400" b="1">
                <a:solidFill>
                  <a:srgbClr val="11201A"/>
                </a:solidFill>
                <a:latin typeface="Calibri"/>
              </a:defRPr>
            </a:pPr>
            <a:r>
              <a:t>Scenarios, Lifecycle &amp; QA</a:t>
            </a:r>
          </a:p>
          <a:p>
            <a:pPr>
              <a:spcAft>
                <a:spcPts val="400"/>
              </a:spcAft>
              <a:defRPr sz="900">
                <a:solidFill>
                  <a:srgbClr val="566B60"/>
                </a:solidFill>
                <a:latin typeface="Consolas"/>
              </a:defRPr>
            </a:pPr>
            <a:r>
              <a:t>Stack: Pytest · Mock Fixtures · Automated Smoke QA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Benchmark Cases: Staged data for Cases A–C + Case D sequence test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Case C Lifecycle: Re-film loop in WAITING_FOR_EVIDENCE (1 retry)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Fail-Closed Testing: Verifies zero automated refunds &amp; approval gates</a:t>
            </a:r>
          </a:p>
          <a:p>
            <a:pPr>
              <a:spcAft>
                <a:spcPts val="200"/>
              </a:spcAft>
              <a:defRPr sz="1050">
                <a:solidFill>
                  <a:srgbClr val="283C33"/>
                </a:solidFill>
                <a:latin typeface="Calibri"/>
              </a:defRPr>
            </a:pPr>
            <a:r>
              <a:t>• Automated QA: Extended smoke runner (10+ tests), end-to-end event bus &amp; demo recording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" y="5074920"/>
            <a:ext cx="11347704" cy="1143000"/>
          </a:xfrm>
          <a:prstGeom prst="roundRect">
            <a:avLst/>
          </a:prstGeom>
          <a:solidFill>
            <a:srgbClr val="11201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184648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D485"/>
                </a:solidFill>
                <a:latin typeface="Consolas"/>
              </a:defRPr>
            </a:pPr>
            <a:r>
              <a:t>MUST DELIVER (CORE PROTOTYPE)</a:t>
            </a:r>
          </a:p>
          <a:p>
            <a:pPr>
              <a:defRPr sz="1200">
                <a:solidFill>
                  <a:srgbClr val="DFEAE5"/>
                </a:solidFill>
                <a:latin typeface="Calibri"/>
              </a:defRPr>
            </a:pPr>
            <a:r>
              <a:t>Mock APIs · Policy engine · Cases A–C + Case D sequence test · Approval binding · Seller gate · Tiny order 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184648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8C69"/>
                </a:solidFill>
                <a:latin typeface="Consolas"/>
              </a:defRPr>
            </a:pPr>
            <a:r>
              <a:t>CUT FIRST IF BEHIND</a:t>
            </a:r>
          </a:p>
          <a:p>
            <a:pPr>
              <a:defRPr sz="1150">
                <a:solidFill>
                  <a:srgbClr val="DFEAE5"/>
                </a:solidFill>
                <a:latin typeface="Calibri"/>
              </a:defRPr>
            </a:pPr>
            <a:r>
              <a:t>Advanced video forensics (Case D stretch) · WhatsApp bot · Exchanges · Multi-seller auth · Audio analysis · Public cloud 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5184648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DD4BF"/>
                </a:solidFill>
                <a:latin typeface="Consolas"/>
              </a:defRPr>
            </a:pPr>
            <a:r>
              <a:t>FINANCIAL CEILING FORMULA</a:t>
            </a:r>
          </a:p>
          <a:p>
            <a:pPr>
              <a:defRPr sz="1150">
                <a:solidFill>
                  <a:srgbClr val="FFFFFF"/>
                </a:solidFill>
                <a:latin typeface="Consolas"/>
              </a:defRPr>
            </a:pPr>
            <a:r>
              <a:t>0 &lt; amt &lt;= min(₹4,999, rem_ref, paid)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" y="6400800"/>
            <a:ext cx="11347704" cy="13716"/>
          </a:xfrm>
          <a:prstGeom prst="rect">
            <a:avLst/>
          </a:prstGeom>
          <a:solidFill>
            <a:srgbClr val="E2DCD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" y="644652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8A9C93"/>
                </a:solidFill>
                <a:latin typeface="Consolas"/>
              </a:defRPr>
            </a:pPr>
            <a:r>
              <a:t>RETURNLENS V7 · AGENTX HACKATHON 2026 PS-04 · TEAM ROOKIE (3 MEMBERS)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2527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8A9C93"/>
                </a:solidFill>
                <a:latin typeface="Consolas"/>
              </a:defRPr>
            </a:pPr>
            <a: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