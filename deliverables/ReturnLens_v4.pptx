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ReturnLens is an evidence-backed returns triage agent built for small D2C merchants.</a:t>
            </a:r>
          </a:p>
          <a:p>
            <a:r>
              <a:t>Solo merchants process 100% of returns manually, spending 15-20 minutes scrubbing videos and matching orders.</a:t>
            </a:r>
          </a:p>
          <a:p>
            <a:r>
              <a:t>ReturnLens connects unboxing video evidence to store records, applies deterministic policy checks, and prepares 1-click approvals.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core friction is not the policy rules themselves, but the lack of an evidence bridge connecting video, store orders, and shipping APIs.</a:t>
            </a:r>
          </a:p>
          <a:p>
            <a:r>
              <a:t>Solo merchants spend 15-20 minutes opening four different browser tabs per return.</a:t>
            </a:r>
          </a:p>
          <a:p>
            <a:r>
              <a:t>Without an objective evidence record, merchants either auto-approve (losing 9-15% in fraud/leakage) or reject confrontational claims (ruining customer trust).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no automatic denial is crucial:</a:t>
            </a:r>
          </a:p>
          <a:p>
            <a:r>
              <a:t>A color mismatch can indicate either buyer fraud OR a merchant mis-shipment (warehouse packing error).</a:t>
            </a:r>
          </a:p>
          <a:p>
            <a:r>
              <a:t>If the agent auto-denies, an innocent buyer gets alienated. If it auto-approves, the seller loses inventory.</a:t>
            </a:r>
          </a:p>
          <a:p>
            <a:r>
              <a:t>ReturnLens flags the exact timestamp (00:07) and offers 2 clear paths to resolve.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Technical Architecture Notes:</a:t>
            </a:r>
          </a:p>
          <a:p>
            <a:r>
              <a:t>- FFmpeg extracts keyframes at 1 fps; Gemini Flash inspects packaging, defect areas, and serial numbers.</a:t>
            </a:r>
          </a:p>
          <a:p>
            <a:r>
              <a:t>- LangGraph controls the state machine.</a:t>
            </a:r>
          </a:p>
          <a:p>
            <a:r>
              <a:t>- Policy rules P-01 to P-08 are deterministic Python functions (not model prompts).</a:t>
            </a:r>
          </a:p>
          <a:p>
            <a:r>
              <a:t>- Exactly 3 base calls: Planner, Vision, Critic. Cap formula: min(₹4,999, remaining refundable amount, order paid amount).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Staged Benchmark Cases:</a:t>
            </a:r>
          </a:p>
          <a:p>
            <a:r>
              <a:t>1. Case A (Ready): Damage visible, SKU matches -&gt; prepares approval.</a:t>
            </a:r>
          </a:p>
          <a:p>
            <a:r>
              <a:t>2. Case B (Mismatch): Color discrepancy detected -&gt; stops auto-approval, escalates.</a:t>
            </a:r>
          </a:p>
          <a:p>
            <a:r>
              <a:t>3. Case C (Unclear): Barcode out of focus -&gt; triggers targeted retry for clean barcode photo.</a:t>
            </a:r>
          </a:p>
          <a:p>
            <a:r>
              <a:t>4. Case D (Context): Crushed carton with courier tape intact -&gt; marks for carrier transit damage compensation.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Team Ownership &amp; Scope Boundaries:</a:t>
            </a:r>
          </a:p>
          <a:p>
            <a:r>
              <a:t>- Person A: LangGraph agent graph, deterministic policy logic P-01 to P-08, and JSON audit logging.</a:t>
            </a:r>
          </a:p>
          <a:p>
            <a:r>
              <a:t>- Person B: FFmpeg frame extraction, visual indexer, and Streamlit/web seller console.</a:t>
            </a:r>
          </a:p>
          <a:p>
            <a:r>
              <a:t>- Person C: Staged mock datasets (Cases A-D), boundary testing, fallback test cases, demo video, and documentation.</a:t>
            </a:r>
          </a:p>
          <a:p>
            <a:r>
              <a:t>- Strict financial cap formula: min(₹4,999, remaining refundable amount, order paid amount).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B55"/>
                </a:solidFill>
                <a:latin typeface="IBM Plex Mono"/>
              </a:defRPr>
            </a:pPr>
            <a:r>
              <a:t>AGENTX HACKATHON 2026 · TRACK PS-04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3931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72621"/>
                </a:solidFill>
                <a:latin typeface="Inter"/>
              </a:defRPr>
            </a:pPr>
            <a:r>
              <a:t>RETURNLENS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3840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6B55"/>
                </a:solidFill>
                <a:latin typeface="Inter"/>
              </a:defRPr>
            </a:pPr>
            <a:r>
              <a:t>“Review returns with cited video evidence.”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97480"/>
            <a:ext cx="3840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55605B"/>
                </a:solidFill>
                <a:latin typeface="Inter"/>
              </a:defRPr>
            </a:pPr>
            <a:r>
              <a:t>An evidence-backed return triage agent for small online sellers.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663440"/>
            <a:ext cx="3840480" cy="1188720"/>
          </a:xfrm>
          <a:prstGeom prst="rect">
            <a:avLst/>
          </a:prstGeom>
          <a:solidFill>
            <a:srgbClr val="EBE8E1"/>
          </a:solidFill>
          <a:ln w="31750">
            <a:solidFill>
              <a:srgbClr val="006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72621"/>
                </a:solidFill>
                <a:latin typeface="IBM Plex Mono"/>
              </a:defRPr>
            </a:pPr>
            <a:r>
              <a:t>Team Rookie · 3 Members · 24h Prototype</a:t>
            </a:r>
          </a:p>
          <a:p>
            <a:pPr>
              <a:defRPr sz="1000">
                <a:solidFill>
                  <a:srgbClr val="55605B"/>
                </a:solidFill>
                <a:latin typeface="IBM Plex Mono"/>
              </a:defRPr>
            </a:pPr>
            <a:r>
              <a:t>Grounded Video Evidence · Staged Shopify/Shippo APIs</a:t>
            </a:r>
          </a:p>
        </p:txBody>
      </p:sp>
      <p:sp>
        <p:nvSpPr>
          <p:cNvPr id="8" name="Rectangle 7"/>
          <p:cNvSpPr/>
          <p:nvPr/>
        </p:nvSpPr>
        <p:spPr>
          <a:xfrm>
            <a:off x="4846320" y="731520"/>
            <a:ext cx="6583680" cy="5120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2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846320" y="731520"/>
            <a:ext cx="6583680" cy="411480"/>
          </a:xfrm>
          <a:prstGeom prst="rect">
            <a:avLst/>
          </a:prstGeom>
          <a:solidFill>
            <a:srgbClr val="1726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5F3EF"/>
                </a:solidFill>
                <a:latin typeface="IBM Plex Mono"/>
              </a:defRPr>
            </a:pPr>
            <a:r>
              <a:t>RETURNLENS SELLER CONSOLE · CASE #RET-4082          ORDER #ORD-9021</a:t>
            </a:r>
          </a:p>
        </p:txBody>
      </p:sp>
      <p:pic>
        <p:nvPicPr>
          <p:cNvPr id="10" name="Picture 9" descr="hero_video_fra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143000"/>
            <a:ext cx="3931920" cy="470916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78240" y="1143000"/>
            <a:ext cx="2651760" cy="4709160"/>
          </a:xfrm>
          <a:prstGeom prst="rect">
            <a:avLst/>
          </a:prstGeom>
          <a:solidFill>
            <a:srgbClr val="FAF9F7"/>
          </a:solidFill>
          <a:ln w="12700">
            <a:solidFill>
              <a:srgbClr val="D2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15400" y="1234440"/>
            <a:ext cx="23774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8A9590"/>
                </a:solidFill>
                <a:latin typeface="IBM Plex Mono"/>
              </a:defRPr>
            </a:pPr>
            <a:r>
              <a:t>ORDER TRUTH</a:t>
            </a:r>
          </a:p>
          <a:p>
            <a:pPr>
              <a:defRPr sz="1200" b="1">
                <a:solidFill>
                  <a:srgbClr val="172621"/>
                </a:solidFill>
                <a:latin typeface="Inter"/>
              </a:defRPr>
            </a:pPr>
            <a:r>
              <a:t>HEAD-WHT-02 · White Headphones</a:t>
            </a:r>
            <a:br/>
            <a:r>
              <a:t>₹1,499 · Delivered Day 4 (In 7d window)</a:t>
            </a:r>
          </a:p>
          <a:p>
            <a:br/>
            <a:pPr>
              <a:defRPr sz="900" b="1">
                <a:solidFill>
                  <a:srgbClr val="8A9590"/>
                </a:solidFill>
                <a:latin typeface="IBM Plex Mono"/>
              </a:defRPr>
            </a:pPr>
            <a:r>
              <a:t>EVIDENCE CITATION</a:t>
            </a:r>
          </a:p>
          <a:p>
            <a:pPr>
              <a:defRPr sz="1200" b="1">
                <a:solidFill>
                  <a:srgbClr val="172621"/>
                </a:solidFill>
                <a:latin typeface="Inter"/>
              </a:defRPr>
            </a:pPr>
            <a:r>
              <a:t>Frame 00:14: Casing seam fracture</a:t>
            </a:r>
          </a:p>
          <a:p>
            <a:br/>
            <a:pPr>
              <a:defRPr sz="900" b="1">
                <a:solidFill>
                  <a:srgbClr val="8A9590"/>
                </a:solidFill>
                <a:latin typeface="IBM Plex Mono"/>
              </a:defRPr>
            </a:pPr>
            <a:r>
              <a:t>POLICY VERIFICATION</a:t>
            </a:r>
          </a:p>
          <a:p>
            <a:pPr>
              <a:defRPr sz="1200">
                <a:solidFill>
                  <a:srgbClr val="172621"/>
                </a:solidFill>
                <a:latin typeface="Inter"/>
              </a:defRPr>
            </a:pPr>
            <a:r>
              <a:t>P-01 Physical Defect: PASS</a:t>
            </a:r>
            <a:br/>
            <a:r>
              <a:t>P-04 Return Window: PASS (4 of 7d)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15400" y="4709159"/>
            <a:ext cx="2377440" cy="384048"/>
          </a:xfrm>
          <a:prstGeom prst="rect">
            <a:avLst/>
          </a:prstGeom>
          <a:solidFill>
            <a:srgbClr val="E1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6B55"/>
                </a:solidFill>
                <a:latin typeface="IBM Plex Mono"/>
              </a:defRPr>
            </a:pPr>
            <a:r>
              <a:t>READY FOR SELLER REVIEW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15400" y="5166360"/>
            <a:ext cx="2377440" cy="411480"/>
          </a:xfrm>
          <a:prstGeom prst="rect">
            <a:avLst/>
          </a:prstGeom>
          <a:solidFill>
            <a:srgbClr val="00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Inter"/>
              </a:defRPr>
            </a:pPr>
            <a:r>
              <a:t>Approve Return &amp; Draft Refund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5596128"/>
            <a:ext cx="2377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8A9590"/>
                </a:solidFill>
                <a:latin typeface="IBM Plex Mono"/>
              </a:defRPr>
            </a:pPr>
            <a:r>
              <a:t>Illustrative staged 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6263640"/>
            <a:ext cx="10728655" cy="13716"/>
          </a:xfrm>
          <a:prstGeom prst="rect">
            <a:avLst/>
          </a:prstGeom>
          <a:solidFill>
            <a:srgbClr val="D2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336792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A9590"/>
                </a:solidFill>
                <a:latin typeface="IBM Plex Mono"/>
              </a:defRPr>
            </a:pPr>
            <a:r>
              <a:t>ReturnLens · Idea Pitch Deck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6336792"/>
            <a:ext cx="23161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A9590"/>
                </a:solidFill>
                <a:latin typeface="IBM Plex Mono"/>
              </a:defRPr>
            </a:pPr>
            <a:r>
              <a:t>Slide 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B55"/>
                </a:solidFill>
                <a:latin typeface="IBM Plex Mono"/>
              </a:defRPr>
            </a:pPr>
            <a:r>
              <a:t>THE PROBLEM · SOLO SELLER BOTTLENECK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6012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172621"/>
                </a:solidFill>
                <a:latin typeface="Inter"/>
              </a:defRPr>
            </a:pPr>
            <a:r>
              <a:t>One return decision. Four disconnected sources.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>
                <a:solidFill>
                  <a:srgbClr val="55605B"/>
                </a:solidFill>
                <a:latin typeface="Inter"/>
              </a:defRPr>
            </a:pPr>
            <a:r>
              <a:t>Without a cited record connecting video, order truth and policy, the seller is guessing.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468880"/>
            <a:ext cx="31089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2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06B55"/>
                </a:solidFill>
                <a:latin typeface="IBM Plex Mono"/>
              </a:defRPr>
            </a:pPr>
            <a:r>
              <a:t>01 BUYER CHAT</a:t>
            </a:r>
          </a:p>
          <a:p>
            <a:pPr>
              <a:defRPr sz="1400" b="1">
                <a:solidFill>
                  <a:srgbClr val="172621"/>
                </a:solidFill>
                <a:latin typeface="Inter"/>
              </a:defRPr>
            </a:pPr>
            <a:r>
              <a:t>“Received damaged item”</a:t>
            </a:r>
          </a:p>
          <a:p>
            <a:pPr>
              <a:defRPr sz="1100">
                <a:solidFill>
                  <a:srgbClr val="55605B"/>
                </a:solidFill>
                <a:latin typeface="Inter"/>
              </a:defRPr>
            </a:pPr>
            <a:r>
              <a:t>Unverified claim in customer message inbox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297680"/>
            <a:ext cx="31089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2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06B55"/>
                </a:solidFill>
                <a:latin typeface="IBM Plex Mono"/>
              </a:defRPr>
            </a:pPr>
            <a:r>
              <a:t>03 DELIVERY STATUS</a:t>
            </a:r>
          </a:p>
          <a:p>
            <a:pPr>
              <a:defRPr sz="1400" b="1">
                <a:solidFill>
                  <a:srgbClr val="172621"/>
                </a:solidFill>
                <a:latin typeface="Inter"/>
              </a:defRPr>
            </a:pPr>
            <a:r>
              <a:t>Delivered 4 days ago</a:t>
            </a:r>
          </a:p>
          <a:p>
            <a:pPr>
              <a:defRPr sz="1100">
                <a:solidFill>
                  <a:srgbClr val="55605B"/>
                </a:solidFill>
                <a:latin typeface="Inter"/>
              </a:defRPr>
            </a:pPr>
            <a:r>
              <a:t>Courier shipping API tracking scan</a:t>
            </a:r>
          </a:p>
        </p:txBody>
      </p:sp>
      <p:sp>
        <p:nvSpPr>
          <p:cNvPr id="8" name="Rectangle 7"/>
          <p:cNvSpPr/>
          <p:nvPr/>
        </p:nvSpPr>
        <p:spPr>
          <a:xfrm>
            <a:off x="8321040" y="2468880"/>
            <a:ext cx="31089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2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06B55"/>
                </a:solidFill>
                <a:latin typeface="IBM Plex Mono"/>
              </a:defRPr>
            </a:pPr>
            <a:r>
              <a:t>02 ORDER RECORD</a:t>
            </a:r>
          </a:p>
          <a:p>
            <a:pPr>
              <a:defRPr sz="1400" b="1">
                <a:solidFill>
                  <a:srgbClr val="172621"/>
                </a:solidFill>
                <a:latin typeface="Inter"/>
              </a:defRPr>
            </a:pPr>
            <a:r>
              <a:t>White Headphones · ₹1,499</a:t>
            </a:r>
          </a:p>
          <a:p>
            <a:pPr>
              <a:defRPr sz="1100">
                <a:solidFill>
                  <a:srgbClr val="55605B"/>
                </a:solidFill>
                <a:latin typeface="Inter"/>
              </a:defRPr>
            </a:pPr>
            <a:r>
              <a:t>E-commerce store inventory database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4297680"/>
            <a:ext cx="310896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2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006B55"/>
                </a:solidFill>
                <a:latin typeface="IBM Plex Mono"/>
              </a:defRPr>
            </a:pPr>
            <a:r>
              <a:t>04 RETURN POLICY</a:t>
            </a:r>
          </a:p>
          <a:p>
            <a:pPr>
              <a:defRPr sz="1400" b="1">
                <a:solidFill>
                  <a:srgbClr val="172621"/>
                </a:solidFill>
                <a:latin typeface="Inter"/>
              </a:defRPr>
            </a:pPr>
            <a:r>
              <a:t>7-day return window</a:t>
            </a:r>
          </a:p>
          <a:p>
            <a:pPr>
              <a:defRPr sz="1100">
                <a:solidFill>
                  <a:srgbClr val="55605B"/>
                </a:solidFill>
                <a:latin typeface="Inter"/>
              </a:defRPr>
            </a:pPr>
            <a:r>
              <a:t>Store terms &amp; conditions PDF document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2834640"/>
            <a:ext cx="3749039" cy="2194560"/>
          </a:xfrm>
          <a:prstGeom prst="rect">
            <a:avLst/>
          </a:prstGeom>
          <a:solidFill>
            <a:srgbClr val="FFFDF7"/>
          </a:solidFill>
          <a:ln w="25400">
            <a:solidFill>
              <a:srgbClr val="D88C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88C31"/>
                </a:solidFill>
                <a:latin typeface="IBM Plex Mono"/>
              </a:defRPr>
            </a:pPr>
            <a:r>
              <a:t>CRITICAL INFORMATION GAP</a:t>
            </a:r>
          </a:p>
          <a:p>
            <a:pPr algn="ctr">
              <a:defRPr sz="1800" b="1">
                <a:solidFill>
                  <a:srgbClr val="172621"/>
                </a:solidFill>
                <a:latin typeface="Inter"/>
              </a:defRPr>
            </a:pPr>
            <a:r>
              <a:t>NO SHARED EVIDENCE RECORD</a:t>
            </a:r>
          </a:p>
          <a:p>
            <a:pPr algn="ctr">
              <a:defRPr sz="1400" i="1">
                <a:solidFill>
                  <a:srgbClr val="55605B"/>
                </a:solidFill>
                <a:latin typeface="Inter"/>
              </a:defRPr>
            </a:pPr>
            <a:r>
              <a:t>“Approve, deny, or ask for more evidence?”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6263640"/>
            <a:ext cx="10728655" cy="13716"/>
          </a:xfrm>
          <a:prstGeom prst="rect">
            <a:avLst/>
          </a:prstGeom>
          <a:solidFill>
            <a:srgbClr val="D2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336792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A9590"/>
                </a:solidFill>
                <a:latin typeface="IBM Plex Mono"/>
              </a:defRPr>
            </a:pPr>
            <a:r>
              <a:t>*U.S. retail fraud estimates: 9% (NRF) to 15.14% (Appriss/Deloitte); triage takes 15–20 min per return for solo sellers.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6336792"/>
            <a:ext cx="23161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A9590"/>
                </a:solidFill>
                <a:latin typeface="IBM Plex Mono"/>
              </a:defRPr>
            </a:pPr>
            <a:r>
              <a:t>Slide 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B55"/>
                </a:solidFill>
                <a:latin typeface="IBM Plex Mono"/>
              </a:defRPr>
            </a:pPr>
            <a:r>
              <a:t>VISUAL EVIDENCE BENCHMARK · CORE 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172621"/>
                </a:solidFill>
                <a:latin typeface="Inter"/>
              </a:defRPr>
            </a:pPr>
            <a:r>
              <a:t>The order says white. The video shows black.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006B55"/>
                </a:solidFill>
                <a:latin typeface="Inter"/>
              </a:defRPr>
            </a:pPr>
            <a:r>
              <a:t>ReturnLens surfaces the contradiction instead of auto-denying.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48840"/>
            <a:ext cx="347472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2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emo_white_or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48840"/>
            <a:ext cx="3474720" cy="2926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12064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72621"/>
                </a:solidFill>
                <a:latin typeface="IBM Plex Mono"/>
              </a:defRPr>
            </a:pPr>
            <a:r>
              <a:t>ORDER RECORD · SKU: HEAD-WHT-02</a:t>
            </a:r>
          </a:p>
          <a:p>
            <a:pPr>
              <a:defRPr sz="1100">
                <a:solidFill>
                  <a:srgbClr val="55605B"/>
                </a:solidFill>
                <a:latin typeface="Inter"/>
              </a:defRPr>
            </a:pPr>
            <a:r>
              <a:t>Matte White · ₹1,499 · Delivered 4 days ago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2148840"/>
            <a:ext cx="347472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2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emo_black_fra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2148840"/>
            <a:ext cx="3474720" cy="2926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80560" y="512064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72621"/>
                </a:solidFill>
                <a:latin typeface="IBM Plex Mono"/>
              </a:defRPr>
            </a:pPr>
            <a:r>
              <a:t>VIDEO FRAME · TIME 00:07 / 00:32</a:t>
            </a:r>
          </a:p>
          <a:p>
            <a:pPr>
              <a:defRPr sz="1100">
                <a:solidFill>
                  <a:srgbClr val="55605B"/>
                </a:solidFill>
                <a:latin typeface="Inter"/>
              </a:defRPr>
            </a:pPr>
            <a:r>
              <a:t>Observed: Midnight Black · SKU: Unverified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3474720"/>
            <a:ext cx="2011680" cy="502920"/>
          </a:xfrm>
          <a:prstGeom prst="rect">
            <a:avLst/>
          </a:prstGeom>
          <a:solidFill>
            <a:srgbClr val="D88C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IBM Plex Mono"/>
              </a:defRPr>
            </a:pPr>
            <a:r>
              <a:t>COLOR MISMATCH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2148840"/>
            <a:ext cx="329184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2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28600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88C31"/>
                </a:solidFill>
                <a:latin typeface="IBM Plex Mono"/>
              </a:defRPr>
            </a:pPr>
            <a:r>
              <a:t>DETERMINISTIC POLICY GATE</a:t>
            </a:r>
          </a:p>
          <a:p>
            <a:pPr>
              <a:defRPr sz="1700" b="1">
                <a:solidFill>
                  <a:srgbClr val="172621"/>
                </a:solidFill>
                <a:latin typeface="Inter"/>
              </a:defRPr>
            </a:pPr>
            <a:r>
              <a:t>Policy P-03 Check</a:t>
            </a:r>
          </a:p>
          <a:p>
            <a:pPr>
              <a:defRPr sz="1200">
                <a:solidFill>
                  <a:srgbClr val="55605B"/>
                </a:solidFill>
                <a:latin typeface="Inter"/>
              </a:defRPr>
            </a:pPr>
            <a:r>
              <a:t>Specification contradiction detected.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21040" y="3246120"/>
            <a:ext cx="2926080" cy="438912"/>
          </a:xfrm>
          <a:prstGeom prst="rect">
            <a:avLst/>
          </a:prstGeom>
          <a:solidFill>
            <a:srgbClr val="FEF3C7"/>
          </a:solidFill>
          <a:ln w="12700">
            <a:solidFill>
              <a:srgbClr val="D88C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92400E"/>
                </a:solidFill>
                <a:latin typeface="IBM Plex Mono"/>
              </a:defRPr>
            </a:pPr>
            <a:r>
              <a:t>STATUS: NEEDS SELLER 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794760"/>
            <a:ext cx="2926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8A9590"/>
                </a:solidFill>
                <a:latin typeface="IBM Plex Mono"/>
              </a:defRPr>
            </a:pPr>
            <a:r>
              <a:t>SELLER ACTION OPTIONS</a:t>
            </a:r>
          </a:p>
          <a:p>
            <a:pPr>
              <a:defRPr sz="1200">
                <a:solidFill>
                  <a:srgbClr val="172621"/>
                </a:solidFill>
                <a:latin typeface="Inter"/>
              </a:defRPr>
            </a:pPr>
            <a:r>
              <a:t>1. Request shipping-label photo</a:t>
            </a:r>
            <a:br/>
            <a:r>
              <a:t>2. Send to manual physical inspection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21040" y="4892040"/>
            <a:ext cx="2926080" cy="1051560"/>
          </a:xfrm>
          <a:prstGeom prst="rect">
            <a:avLst/>
          </a:prstGeom>
          <a:solidFill>
            <a:srgbClr val="F7F7F5"/>
          </a:solidFill>
          <a:ln w="25400">
            <a:solidFill>
              <a:srgbClr val="006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72621"/>
                </a:solidFill>
                <a:latin typeface="Inter"/>
              </a:defRPr>
            </a:pPr>
            <a:r>
              <a:t>Safety Guarantees:</a:t>
            </a:r>
          </a:p>
          <a:p>
            <a:pPr>
              <a:defRPr sz="1000">
                <a:solidFill>
                  <a:srgbClr val="55605B"/>
                </a:solidFill>
                <a:latin typeface="Inter"/>
              </a:defRPr>
            </a:pPr>
            <a:r>
              <a:t>• No automatic customer denial</a:t>
            </a:r>
            <a:br/>
            <a:r>
              <a:t>• No refund or label released without seller click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6263640"/>
            <a:ext cx="10728655" cy="13716"/>
          </a:xfrm>
          <a:prstGeom prst="rect">
            <a:avLst/>
          </a:prstGeom>
          <a:solidFill>
            <a:srgbClr val="D2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6336792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A9590"/>
                </a:solidFill>
                <a:latin typeface="IBM Plex Mono"/>
              </a:defRPr>
            </a:pPr>
            <a:r>
              <a:t>Illustrative staged evidence · No real customer PII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6336792"/>
            <a:ext cx="23161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A9590"/>
                </a:solidFill>
                <a:latin typeface="IBM Plex Mono"/>
              </a:defRPr>
            </a:pPr>
            <a:r>
              <a:t>Slide 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8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A382"/>
                </a:solidFill>
                <a:latin typeface="IBM Plex Mono"/>
              </a:defRPr>
            </a:pPr>
            <a:r>
              <a:t>SYSTEM ARCHITECTURE · DETERMINISTIC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5F3EF"/>
                </a:solidFill>
                <a:latin typeface="Inter"/>
              </a:defRPr>
            </a:pPr>
            <a:r>
              <a:t>Models observe. Code verifies. Seller authorizes.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>
                <a:solidFill>
                  <a:srgbClr val="A3B8B0"/>
                </a:solidFill>
                <a:latin typeface="Inter"/>
              </a:defRPr>
            </a:pPr>
            <a:r>
              <a:t>Deterministic policy gates and human authorization control every action.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1691640" cy="1371600"/>
          </a:xfrm>
          <a:prstGeom prst="rect">
            <a:avLst/>
          </a:prstGeom>
          <a:solidFill>
            <a:srgbClr val="172621"/>
          </a:solidFill>
          <a:ln w="12700">
            <a:solidFill>
              <a:srgbClr val="233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6C8279"/>
                </a:solidFill>
                <a:latin typeface="IBM Plex Mono"/>
              </a:defRPr>
            </a:pPr>
            <a:r>
              <a:t>01</a:t>
            </a:r>
          </a:p>
          <a:p>
            <a:pPr>
              <a:defRPr sz="1300" b="1">
                <a:solidFill>
                  <a:srgbClr val="F5F3EF"/>
                </a:solidFill>
                <a:latin typeface="Inter"/>
              </a:defRPr>
            </a:pPr>
            <a:r>
              <a:t>Buyer Request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1691640" cy="36576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1248" y="3154680"/>
            <a:ext cx="1472184" cy="292608"/>
          </a:xfrm>
          <a:prstGeom prst="rect">
            <a:avLst/>
          </a:prstGeom>
          <a:solidFill>
            <a:srgbClr val="263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5F3EF"/>
                </a:solidFill>
                <a:latin typeface="IBM Plex Mono"/>
              </a:defRPr>
            </a:pPr>
            <a:r>
              <a:t>INTAKE</a:t>
            </a:r>
          </a:p>
        </p:txBody>
      </p:sp>
      <p:sp>
        <p:nvSpPr>
          <p:cNvPr id="9" name="Rectangle 8"/>
          <p:cNvSpPr/>
          <p:nvPr/>
        </p:nvSpPr>
        <p:spPr>
          <a:xfrm>
            <a:off x="2532888" y="2194560"/>
            <a:ext cx="1691640" cy="1371600"/>
          </a:xfrm>
          <a:prstGeom prst="rect">
            <a:avLst/>
          </a:prstGeom>
          <a:solidFill>
            <a:srgbClr val="172621"/>
          </a:solidFill>
          <a:ln w="12700">
            <a:solidFill>
              <a:srgbClr val="233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6C8279"/>
                </a:solidFill>
                <a:latin typeface="IBM Plex Mono"/>
              </a:defRPr>
            </a:pPr>
            <a:r>
              <a:t>02</a:t>
            </a:r>
          </a:p>
          <a:p>
            <a:pPr>
              <a:defRPr sz="1300" b="1">
                <a:solidFill>
                  <a:srgbClr val="F5F3EF"/>
                </a:solidFill>
                <a:latin typeface="Inter"/>
              </a:defRPr>
            </a:pPr>
            <a:r>
              <a:t>Frame Extraction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32888" y="2194560"/>
            <a:ext cx="1691640" cy="36576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642616" y="3154680"/>
            <a:ext cx="1472184" cy="292608"/>
          </a:xfrm>
          <a:prstGeom prst="rect">
            <a:avLst/>
          </a:prstGeom>
          <a:solidFill>
            <a:srgbClr val="263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5F3EF"/>
                </a:solidFill>
                <a:latin typeface="IBM Plex Mono"/>
              </a:defRPr>
            </a:pPr>
            <a:r>
              <a:t>FFMPEG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34256" y="2194560"/>
            <a:ext cx="1691640" cy="1371600"/>
          </a:xfrm>
          <a:prstGeom prst="rect">
            <a:avLst/>
          </a:prstGeom>
          <a:solidFill>
            <a:srgbClr val="172621"/>
          </a:solidFill>
          <a:ln w="12700">
            <a:solidFill>
              <a:srgbClr val="233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6C8279"/>
                </a:solidFill>
                <a:latin typeface="IBM Plex Mono"/>
              </a:defRPr>
            </a:pPr>
            <a:r>
              <a:t>03</a:t>
            </a:r>
          </a:p>
          <a:p>
            <a:pPr>
              <a:defRPr sz="1300" b="1">
                <a:solidFill>
                  <a:srgbClr val="F5F3EF"/>
                </a:solidFill>
                <a:latin typeface="Inter"/>
              </a:defRPr>
            </a:pPr>
            <a:r>
              <a:t>Model Observation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4256" y="2194560"/>
            <a:ext cx="1691640" cy="36576"/>
          </a:xfrm>
          <a:prstGeom prst="rect">
            <a:avLst/>
          </a:prstGeom>
          <a:solidFill>
            <a:srgbClr val="00D1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43984" y="3154680"/>
            <a:ext cx="1472184" cy="292608"/>
          </a:xfrm>
          <a:prstGeom prst="rect">
            <a:avLst/>
          </a:prstGeom>
          <a:solidFill>
            <a:srgbClr val="0038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0D1A7"/>
                </a:solidFill>
                <a:latin typeface="IBM Plex Mono"/>
              </a:defRPr>
            </a:pPr>
            <a:r>
              <a:t>GEMINI FLASH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35624" y="2194560"/>
            <a:ext cx="1691640" cy="1371600"/>
          </a:xfrm>
          <a:prstGeom prst="rect">
            <a:avLst/>
          </a:prstGeom>
          <a:solidFill>
            <a:srgbClr val="172621"/>
          </a:solidFill>
          <a:ln w="12700">
            <a:solidFill>
              <a:srgbClr val="233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6C8279"/>
                </a:solidFill>
                <a:latin typeface="IBM Plex Mono"/>
              </a:defRPr>
            </a:pPr>
            <a:r>
              <a:t>04</a:t>
            </a:r>
          </a:p>
          <a:p>
            <a:pPr>
              <a:defRPr sz="1300" b="1">
                <a:solidFill>
                  <a:srgbClr val="F5F3EF"/>
                </a:solidFill>
                <a:latin typeface="Inter"/>
              </a:defRPr>
            </a:pPr>
            <a:r>
              <a:t>Policy Engine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35624" y="2194560"/>
            <a:ext cx="1691640" cy="36576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45352" y="3154680"/>
            <a:ext cx="1472184" cy="292608"/>
          </a:xfrm>
          <a:prstGeom prst="rect">
            <a:avLst/>
          </a:prstGeom>
          <a:solidFill>
            <a:srgbClr val="263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5F3EF"/>
                </a:solidFill>
                <a:latin typeface="IBM Plex Mono"/>
              </a:defRPr>
            </a:pPr>
            <a:r>
              <a:t>PYTHON RULES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36992" y="2194560"/>
            <a:ext cx="1691640" cy="1371600"/>
          </a:xfrm>
          <a:prstGeom prst="rect">
            <a:avLst/>
          </a:prstGeom>
          <a:solidFill>
            <a:srgbClr val="172621"/>
          </a:solidFill>
          <a:ln w="12700">
            <a:solidFill>
              <a:srgbClr val="233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6C8279"/>
                </a:solidFill>
                <a:latin typeface="IBM Plex Mono"/>
              </a:defRPr>
            </a:pPr>
            <a:r>
              <a:t>05</a:t>
            </a:r>
          </a:p>
          <a:p>
            <a:pPr>
              <a:defRPr sz="1300" b="1">
                <a:solidFill>
                  <a:srgbClr val="F5F3EF"/>
                </a:solidFill>
                <a:latin typeface="Inter"/>
              </a:defRPr>
            </a:pPr>
            <a:r>
              <a:t>Evidence Critic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36992" y="2194560"/>
            <a:ext cx="1691640" cy="36576"/>
          </a:xfrm>
          <a:prstGeom prst="rect">
            <a:avLst/>
          </a:prstGeom>
          <a:solidFill>
            <a:srgbClr val="00D1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20" y="3154680"/>
            <a:ext cx="1472184" cy="292608"/>
          </a:xfrm>
          <a:prstGeom prst="rect">
            <a:avLst/>
          </a:prstGeom>
          <a:solidFill>
            <a:srgbClr val="0038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0D1A7"/>
                </a:solidFill>
                <a:latin typeface="IBM Plex Mono"/>
              </a:defRPr>
            </a:pPr>
            <a:r>
              <a:t>VERIFICATION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738360" y="2194560"/>
            <a:ext cx="1691640" cy="1371600"/>
          </a:xfrm>
          <a:prstGeom prst="rect">
            <a:avLst/>
          </a:prstGeom>
          <a:solidFill>
            <a:srgbClr val="172621"/>
          </a:solidFill>
          <a:ln w="12700">
            <a:solidFill>
              <a:srgbClr val="233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6C8279"/>
                </a:solidFill>
                <a:latin typeface="IBM Plex Mono"/>
              </a:defRPr>
            </a:pPr>
            <a:r>
              <a:t>06</a:t>
            </a:r>
          </a:p>
          <a:p>
            <a:pPr>
              <a:defRPr sz="1300" b="1">
                <a:solidFill>
                  <a:srgbClr val="F5F3EF"/>
                </a:solidFill>
                <a:latin typeface="Inter"/>
              </a:defRPr>
            </a:pPr>
            <a:r>
              <a:t>Seller Gate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38360" y="2194560"/>
            <a:ext cx="1691640" cy="3657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848088" y="3154680"/>
            <a:ext cx="1472184" cy="292608"/>
          </a:xfrm>
          <a:prstGeom prst="rect">
            <a:avLst/>
          </a:prstGeom>
          <a:solidFill>
            <a:srgbClr val="4526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BBF24"/>
                </a:solidFill>
                <a:latin typeface="IBM Plex Mono"/>
              </a:defRPr>
            </a:pPr>
            <a:r>
              <a:t>AUTHORIZATION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3840480"/>
            <a:ext cx="3429000" cy="1463040"/>
          </a:xfrm>
          <a:prstGeom prst="rect">
            <a:avLst/>
          </a:prstGeom>
          <a:solidFill>
            <a:srgbClr val="121F1B"/>
          </a:solidFill>
          <a:ln w="12700">
            <a:solidFill>
              <a:srgbClr val="233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0A5FA"/>
                </a:solidFill>
                <a:latin typeface="IBM Plex Mono"/>
              </a:defRPr>
            </a:pPr>
            <a:r>
              <a:t>UNCLEAR EVIDENCE</a:t>
            </a:r>
          </a:p>
          <a:p>
            <a:pPr>
              <a:defRPr sz="1200">
                <a:solidFill>
                  <a:srgbClr val="A3B8B0"/>
                </a:solidFill>
                <a:latin typeface="Inter"/>
              </a:defRPr>
            </a:pPr>
            <a:r>
              <a:t>Ask for specific photo → Resume same case (1 retry limit). Prevents premature customer rejection.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79976" y="3840480"/>
            <a:ext cx="3429000" cy="1463040"/>
          </a:xfrm>
          <a:prstGeom prst="rect">
            <a:avLst/>
          </a:prstGeom>
          <a:solidFill>
            <a:srgbClr val="121F1B"/>
          </a:solidFill>
          <a:ln w="12700">
            <a:solidFill>
              <a:srgbClr val="233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87171"/>
                </a:solidFill>
                <a:latin typeface="IBM Plex Mono"/>
              </a:defRPr>
            </a:pPr>
            <a:r>
              <a:t>CONTRADICTION DETECTED</a:t>
            </a:r>
          </a:p>
          <a:p>
            <a:pPr>
              <a:defRPr sz="1200">
                <a:solidFill>
                  <a:srgbClr val="A3B8B0"/>
                </a:solidFill>
                <a:latin typeface="Inter"/>
              </a:defRPr>
            </a:pPr>
            <a:r>
              <a:t>Seller review required. System inhibits automated label generation and flags exact discrepancy.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28432" y="3840480"/>
            <a:ext cx="3429000" cy="1463040"/>
          </a:xfrm>
          <a:prstGeom prst="rect">
            <a:avLst/>
          </a:prstGeom>
          <a:solidFill>
            <a:srgbClr val="121F1B"/>
          </a:solidFill>
          <a:ln w="12700">
            <a:solidFill>
              <a:srgbClr val="2338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34D399"/>
                </a:solidFill>
                <a:latin typeface="IBM Plex Mono"/>
              </a:defRPr>
            </a:pPr>
            <a:r>
              <a:t>ALL CHECKS PASS</a:t>
            </a:r>
          </a:p>
          <a:p>
            <a:pPr>
              <a:defRPr sz="1200">
                <a:solidFill>
                  <a:srgbClr val="A3B8B0"/>
                </a:solidFill>
                <a:latin typeface="Inter"/>
              </a:defRPr>
            </a:pPr>
            <a:r>
              <a:t>Seller 1-click approval → Releases mock return label and drafts refund amount.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53212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C8279"/>
                </a:solidFill>
                <a:latin typeface="IBM Plex Mono"/>
              </a:defRPr>
            </a:pPr>
            <a:r>
              <a:t>■ Model: Proposes observations &amp; timestamps   |   ■ Code: Enforces rules P-01 to P-08 &amp; caps   |   ■ Human: Sole authority to release financial actions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6263640"/>
            <a:ext cx="10728655" cy="13716"/>
          </a:xfrm>
          <a:prstGeom prst="rect">
            <a:avLst/>
          </a:prstGeom>
          <a:solidFill>
            <a:srgbClr val="233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6336792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C8279"/>
                </a:solidFill>
                <a:latin typeface="IBM Plex Mono"/>
              </a:defRPr>
            </a:pPr>
            <a:r>
              <a:t>Structured audit log recorded at every state transition · Exactly 3 base LLM calls per case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6336792"/>
            <a:ext cx="23161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C8279"/>
                </a:solidFill>
                <a:latin typeface="IBM Plex Mono"/>
              </a:defRPr>
            </a:pPr>
            <a:r>
              <a:t>Slide 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B55"/>
                </a:solidFill>
                <a:latin typeface="IBM Plex Mono"/>
              </a:defRPr>
            </a:pPr>
            <a:r>
              <a:t>DEMO SCENARIOS · BENCHMARK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172621"/>
                </a:solidFill>
                <a:latin typeface="Inter"/>
              </a:defRPr>
            </a:pPr>
            <a:r>
              <a:t>Four scenarios. Four predictable behaviors.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>
                <a:solidFill>
                  <a:srgbClr val="55605B"/>
                </a:solidFill>
                <a:latin typeface="Inter"/>
              </a:defRPr>
            </a:pPr>
            <a:r>
              <a:t>Deliberate, bounded actions across common edge cases.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10728655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414016"/>
            <a:ext cx="1188720" cy="420624"/>
          </a:xfrm>
          <a:prstGeom prst="rect">
            <a:avLst/>
          </a:prstGeom>
          <a:solidFill>
            <a:srgbClr val="E1F2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6B55"/>
                </a:solidFill>
                <a:latin typeface="IBM Plex Mono"/>
              </a:defRPr>
            </a:pPr>
            <a:r>
              <a:t>READY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2331720"/>
            <a:ext cx="4572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72621"/>
                </a:solidFill>
                <a:latin typeface="Inter"/>
              </a:defRPr>
            </a:pPr>
            <a:r>
              <a:t>Visible casing damage at 00:14 · Serial tag matches order record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2359152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9590"/>
                </a:solidFill>
                <a:latin typeface="IBM Plex Mono"/>
              </a:defRPr>
            </a:pPr>
            <a: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2331720"/>
            <a:ext cx="3840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72621"/>
                </a:solidFill>
                <a:latin typeface="Inter"/>
              </a:defRPr>
            </a:pPr>
            <a:r>
              <a:t>Prepare seller approval (Mock label &amp; refund drafted)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227832"/>
            <a:ext cx="10728655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3447288"/>
            <a:ext cx="1188720" cy="420624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92400E"/>
                </a:solidFill>
                <a:latin typeface="IBM Plex Mono"/>
              </a:defRPr>
            </a:pPr>
            <a:r>
              <a:t>MISMATCH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3364992"/>
            <a:ext cx="4572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72621"/>
                </a:solidFill>
                <a:latin typeface="Inter"/>
              </a:defRPr>
            </a:pPr>
            <a:r>
              <a:t>Black headphones received vs White ordered at 00:07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3392424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9590"/>
                </a:solidFill>
                <a:latin typeface="IBM Plex Mono"/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0" y="3364992"/>
            <a:ext cx="3840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72621"/>
                </a:solidFill>
                <a:latin typeface="Inter"/>
              </a:defRPr>
            </a:pPr>
            <a:r>
              <a:t>Seller review (Warehouse error check vs physical inspection)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261104"/>
            <a:ext cx="10728655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4480560"/>
            <a:ext cx="1188720" cy="420624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40AF"/>
                </a:solidFill>
                <a:latin typeface="IBM Plex Mono"/>
              </a:defRPr>
            </a:pPr>
            <a:r>
              <a:t>UNCLEAR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4398264"/>
            <a:ext cx="4572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72621"/>
                </a:solidFill>
                <a:latin typeface="Inter"/>
              </a:defRPr>
            </a:pPr>
            <a:r>
              <a:t>Blurry shipping barcode at 00:02 · Serial tag unreadable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4425696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9590"/>
                </a:solidFill>
                <a:latin typeface="IBM Plex Mono"/>
              </a:defRPr>
            </a:pPr>
            <a: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4398264"/>
            <a:ext cx="3840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72621"/>
                </a:solidFill>
                <a:latin typeface="Inter"/>
              </a:defRPr>
            </a:pPr>
            <a:r>
              <a:t>Ask for specific photo (Auto-prompts buyer for focused still)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5294376"/>
            <a:ext cx="10728655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" y="5513832"/>
            <a:ext cx="1188720" cy="420624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374151"/>
                </a:solidFill>
                <a:latin typeface="IBM Plex Mono"/>
              </a:defRPr>
            </a:pPr>
            <a:r>
              <a:t>CONTEXT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5431536"/>
            <a:ext cx="4572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72621"/>
                </a:solidFill>
                <a:latin typeface="Inter"/>
              </a:defRPr>
            </a:pPr>
            <a:r>
              <a:t>Crushed carton with courier tape intact at 00:11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5458968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9590"/>
                </a:solidFill>
                <a:latin typeface="IBM Plex Mono"/>
              </a:defRPr>
            </a:pPr>
            <a: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5431536"/>
            <a:ext cx="3840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72621"/>
                </a:solidFill>
                <a:latin typeface="Inter"/>
              </a:defRPr>
            </a:pPr>
            <a:r>
              <a:t>Check continuity (Approve with transit damage claim note)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6263640"/>
            <a:ext cx="10728655" cy="13716"/>
          </a:xfrm>
          <a:prstGeom prst="rect">
            <a:avLst/>
          </a:prstGeom>
          <a:solidFill>
            <a:srgbClr val="D2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6336792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A9590"/>
                </a:solidFill>
                <a:latin typeface="IBM Plex Mono"/>
              </a:defRPr>
            </a:pPr>
            <a:r>
              <a:t>Expected behavior on staged prototype scenarios — not production metrics.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6336792"/>
            <a:ext cx="23161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A9590"/>
                </a:solidFill>
                <a:latin typeface="IBM Plex Mono"/>
              </a:defRPr>
            </a:pPr>
            <a:r>
              <a:t>Slide 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6B55"/>
                </a:solidFill>
                <a:latin typeface="IBM Plex Mono"/>
              </a:defRPr>
            </a:pPr>
            <a:r>
              <a:t>EXECUTION PLAN · TEAM ROOKIE (3 MEMBERS)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172621"/>
                </a:solidFill>
                <a:latin typeface="Inter"/>
              </a:defRPr>
            </a:pPr>
            <a:r>
              <a:t>Built for a 24-hour sprint.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>
                <a:solidFill>
                  <a:srgbClr val="55605B"/>
                </a:solidFill>
                <a:latin typeface="Inter"/>
              </a:defRPr>
            </a:pPr>
            <a:r>
              <a:t>Strict scope discipline and single-threaded execution across 3 owners.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834640"/>
            <a:ext cx="10728655" cy="36576"/>
          </a:xfrm>
          <a:prstGeom prst="rect">
            <a:avLst/>
          </a:prstGeom>
          <a:solidFill>
            <a:srgbClr val="00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4884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6B55"/>
                </a:solidFill>
                <a:latin typeface="IBM Plex Mono"/>
              </a:defRPr>
            </a:pPr>
            <a:r>
              <a:t>0h – 6h</a:t>
            </a:r>
          </a:p>
          <a:p>
            <a:pPr>
              <a:defRPr sz="1200" b="1">
                <a:solidFill>
                  <a:srgbClr val="172621"/>
                </a:solidFill>
                <a:latin typeface="Inter"/>
              </a:defRPr>
            </a:pPr>
            <a:r>
              <a:t>Mock APIs &amp; Agent Skeleton</a:t>
            </a:r>
          </a:p>
          <a:p>
            <a:pPr>
              <a:defRPr sz="1000">
                <a:solidFill>
                  <a:srgbClr val="55605B"/>
                </a:solidFill>
                <a:latin typeface="IBM Plex Mono"/>
              </a:defRPr>
            </a:pPr>
            <a:r>
              <a:t>Owner A (Backend)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214884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6B55"/>
                </a:solidFill>
                <a:latin typeface="IBM Plex Mono"/>
              </a:defRPr>
            </a:pPr>
            <a:r>
              <a:t>6h – 12h</a:t>
            </a:r>
          </a:p>
          <a:p>
            <a:pPr>
              <a:defRPr sz="1200" b="1">
                <a:solidFill>
                  <a:srgbClr val="172621"/>
                </a:solidFill>
                <a:latin typeface="Inter"/>
              </a:defRPr>
            </a:pPr>
            <a:r>
              <a:t>Evidence Pipeline &amp; Policy</a:t>
            </a:r>
          </a:p>
          <a:p>
            <a:pPr>
              <a:defRPr sz="1000">
                <a:solidFill>
                  <a:srgbClr val="55605B"/>
                </a:solidFill>
                <a:latin typeface="IBM Plex Mono"/>
              </a:defRPr>
            </a:pPr>
            <a:r>
              <a:t>Owner B (Multimodal &amp; UI)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14884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6B55"/>
                </a:solidFill>
                <a:latin typeface="IBM Plex Mono"/>
              </a:defRPr>
            </a:pPr>
            <a:r>
              <a:t>12h – 18h</a:t>
            </a:r>
          </a:p>
          <a:p>
            <a:pPr>
              <a:defRPr sz="1200" b="1">
                <a:solidFill>
                  <a:srgbClr val="172621"/>
                </a:solidFill>
                <a:latin typeface="Inter"/>
              </a:defRPr>
            </a:pPr>
            <a:r>
              <a:t>Integration &amp; 4 Scenarios</a:t>
            </a:r>
          </a:p>
          <a:p>
            <a:pPr>
              <a:defRPr sz="1000">
                <a:solidFill>
                  <a:srgbClr val="55605B"/>
                </a:solidFill>
                <a:latin typeface="IBM Plex Mono"/>
              </a:defRPr>
            </a:pPr>
            <a:r>
              <a:t>Owner C (QA &amp; Data)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214884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6B55"/>
                </a:solidFill>
                <a:latin typeface="IBM Plex Mono"/>
              </a:defRPr>
            </a:pPr>
            <a:r>
              <a:t>18h – 24h</a:t>
            </a:r>
          </a:p>
          <a:p>
            <a:pPr>
              <a:defRPr sz="1200" b="1">
                <a:solidFill>
                  <a:srgbClr val="172621"/>
                </a:solidFill>
                <a:latin typeface="Inter"/>
              </a:defRPr>
            </a:pPr>
            <a:r>
              <a:t>End-to-End Polish &amp; Video</a:t>
            </a:r>
          </a:p>
          <a:p>
            <a:pPr>
              <a:defRPr sz="1000">
                <a:solidFill>
                  <a:srgbClr val="55605B"/>
                </a:solidFill>
                <a:latin typeface="IBM Plex Mono"/>
              </a:defRPr>
            </a:pPr>
            <a:r>
              <a:t>All 3 Members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291840"/>
            <a:ext cx="52120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2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291840"/>
            <a:ext cx="73152" cy="2377440"/>
          </a:xfrm>
          <a:prstGeom prst="rect">
            <a:avLst/>
          </a:prstGeom>
          <a:solidFill>
            <a:srgbClr val="00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29000"/>
            <a:ext cx="48920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6B55"/>
                </a:solidFill>
                <a:latin typeface="IBM Plex Mono"/>
              </a:defRPr>
            </a:pPr>
            <a:r>
              <a:t>IN SCOPE · 24-HOUR PROTOTYPE</a:t>
            </a:r>
          </a:p>
          <a:p>
            <a:pPr>
              <a:defRPr sz="1300">
                <a:solidFill>
                  <a:srgbClr val="172621"/>
                </a:solidFill>
                <a:latin typeface="Inter"/>
              </a:defRPr>
            </a:pPr>
            <a:r>
              <a:t>• Mock store &amp; shipping APIs</a:t>
            </a:r>
            <a:br/>
            <a:r>
              <a:t>• Staged video evidence keyframe pipeline</a:t>
            </a:r>
            <a:br/>
            <a:r>
              <a:t>• One seller review console with 1-click approval</a:t>
            </a:r>
            <a:br/>
            <a:r>
              <a:t>• Deterministic policy rules P-01 to P-08</a:t>
            </a:r>
            <a:br/>
            <a:r>
              <a:t>• Structured JSON audit log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8095" y="3291840"/>
            <a:ext cx="52120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2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8095" y="3291840"/>
            <a:ext cx="73152" cy="2377440"/>
          </a:xfrm>
          <a:prstGeom prst="rect">
            <a:avLst/>
          </a:prstGeom>
          <a:solidFill>
            <a:srgbClr val="8A95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6695" y="3429000"/>
            <a:ext cx="48920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A9590"/>
                </a:solidFill>
                <a:latin typeface="IBM Plex Mono"/>
              </a:defRPr>
            </a:pPr>
            <a:r>
              <a:t>OUT OF SCOPE · DEFERRED CAPABILITIES</a:t>
            </a:r>
          </a:p>
          <a:p>
            <a:pPr>
              <a:defRPr sz="1300">
                <a:solidFill>
                  <a:srgbClr val="172621"/>
                </a:solidFill>
                <a:latin typeface="Inter"/>
              </a:defRPr>
            </a:pPr>
            <a:r>
              <a:t>• Real payment gateways / live banking APIs</a:t>
            </a:r>
            <a:br/>
            <a:r>
              <a:t>• Multi-seller platform / multi-tenancy</a:t>
            </a:r>
            <a:br/>
            <a:r>
              <a:t>• WhatsApp production webhooks</a:t>
            </a:r>
            <a:br/>
            <a:r>
              <a:t>• Voice / audio reasoning</a:t>
            </a:r>
            <a:br/>
            <a:r>
              <a:t>• Public cloud deployment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6263640"/>
            <a:ext cx="10728655" cy="13716"/>
          </a:xfrm>
          <a:prstGeom prst="rect">
            <a:avLst/>
          </a:prstGeom>
          <a:solidFill>
            <a:srgbClr val="D2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6336792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8A9590"/>
                </a:solidFill>
                <a:latin typeface="IBM Plex Mono"/>
              </a:defRPr>
            </a:pPr>
            <a:r>
              <a:t>Team Rookie (3 members) · Prototype scope strictly bounded to single-seller staged workflow.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6336792"/>
            <a:ext cx="231617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A9590"/>
                </a:solidFill>
                <a:latin typeface="IBM Plex Mono"/>
              </a:defRPr>
            </a:pPr>
            <a:r>
              <a:t>Slide 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