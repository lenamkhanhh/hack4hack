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Track &amp; Fit: AgentX Hackathon 2026, Problem Statement PS-04 (Autonomous Support Agent for Online Sellers).</a:t>
            </a:r>
          </a:p>
          <a:p>
            <a:r>
              <a:t>- Team: Team Rookie (3 members).</a:t>
            </a:r>
          </a:p>
          <a:p>
            <a:r>
              <a:t>- Target User: Solo direct-to-consumer (D2C) online merchant managing customer support, shipping, and returns alone.</a:t>
            </a:r>
          </a:p>
          <a:p>
            <a:r>
              <a:t>- Core Insight: Solo sellers lose 15–20 minutes per return navigating fragmented tabs (chat, Shopify, Shippo, return policy), making memory-based decisions without traceable proof.</a:t>
            </a:r>
          </a:p>
          <a:p>
            <a:r>
              <a:t>- Core Thesis: 'Models observe. Code verifies. Seller authorizes.'</a:t>
            </a:r>
          </a:p>
          <a:p>
            <a:r>
              <a:t>- The Console Mockup showcases our core benchmark (Case B): Buyer ordered White Headphones (HEAD-WHT-02, ₹1,499), but unboxing frame 00:07 reveals a Black item. The agent flags the contradiction and presents actionable choices to the seller.</a:t>
            </a:r>
          </a:p>
          <a:p>
            <a:r>
              <a:t>- Safety Boundary: The system never autonomously issues a refund or denies a customer. Financial release strictly requires 1-click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The returns bottleneck for solo sellers is not an absent returns portal; it is fragmented, unverified context.</a:t>
            </a:r>
          </a:p>
          <a:p>
            <a:r>
              <a:t>- The four disconnected sources:</a:t>
            </a:r>
          </a:p>
          <a:p>
            <a:r>
              <a:t>  1. Buyer claim in chat (unverified claims, emotional text).</a:t>
            </a:r>
          </a:p>
          <a:p>
            <a:r>
              <a:t>  2. Store truth in Shopify (SKU HEAD-WHT-02, ₹1,499).</a:t>
            </a:r>
          </a:p>
          <a:p>
            <a:r>
              <a:t>  3. Courier tracking in Shippo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Central Gap: Four systems, but no traceable decision. The merchant makes memory-based decisions across multiple tabs.</a:t>
            </a:r>
          </a:p>
          <a:p>
            <a:r>
              <a:t>- Fraud Context (Sourced definitions): NRF 2025 reports 9% for strictly criminal return fraud, whereas Appriss/Deloitte 2024 reports 15.14% when combining fraud and policy abuse (wardrobing, unboxing swaps). These measure distinct scopes and must never be merged.</a:t>
            </a:r>
          </a:p>
          <a:p>
            <a:r>
              <a:t>- Asymmetric Merchant Risk: Wrong refund loses inventory and gross margin; unfair denial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headphones.</a:t>
            </a:r>
          </a:p>
          <a:p>
            <a:r>
              <a:t>- Visual Grounding Honesty: The agent does NOT claim to read an unreadable SKU barcode from frame 00:07. It factually observes: 'Observed Color: Midnight Black · Exact SKU: Not verified · Tag: Not visible in cited frame'.</a:t>
            </a:r>
          </a:p>
          <a:p>
            <a:r>
              <a:t>- Decision Logic: Seeing a black item when white was ordered is an undeniable visual contradiction against the manifest. Instead of auto-denying the customer (which might alienate an honest buyer if the warehouse mis-shipped), the policy engine triggers ESCALATE.</a:t>
            </a:r>
          </a:p>
          <a:p>
            <a:r>
              <a:t>- Three Clear Merchant Options:</a:t>
            </a:r>
          </a:p>
          <a:p>
            <a:r>
              <a:t>  1. Request unboxing video with packaging label / serial number visible.</a:t>
            </a:r>
          </a:p>
          <a:p>
            <a:r>
              <a:t>  2. Reject return under policy (item does not match order record).</a:t>
            </a:r>
          </a:p>
          <a:p>
            <a:r>
              <a:t>  3. Override &amp; approve if seller acknowledges known warehouse fulfillment error.</a:t>
            </a:r>
          </a:p>
          <a:p>
            <a:r>
              <a:t>- Financial Guardrail: min(₹4,999, remaining refundable amount, order paid amount). No money moves without seller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Architecture, Agentic Governance &amp; Technical Q&amp;A Defense:</a:t>
            </a:r>
          </a:p>
          <a:p>
            <a:r>
              <a:t>- Philosophy: 'Models observe. Code verifies. Seller authorizes.'</a:t>
            </a:r>
          </a:p>
          <a:p>
            <a:r>
              <a:t>- DEFENSE QUESTION 1: Why is this an agent rather than a hardcoded workflow?</a:t>
            </a:r>
          </a:p>
          <a:p>
            <a:r>
              <a:t>  ReturnLens is an autonomous state machine with dynamic action selection, multi-modal observation, and stateful lifecycle management. In Case C, when a customer submits a dark/blurry video (average brightness 28), the agent does NOT simply fail or run a static linear chain. It inspects the frames, determines evidence is insufficient under Policy P-05, dynamically decides to invoke ask_for_evidence() with specific re-filming guidance, transitions the ticket to WAITING_FOR_EVIDENCE, pauses execution while retaining state and order context, and resumes the exact triage session when new media arrives. Conversely, for routine order status requests, the agent selects the zero-vision fast path directly querying mock APIs.</a:t>
            </a:r>
          </a:p>
          <a:p>
            <a:r>
              <a:t>- DEFENSE QUESTION 2: What happens if vision or critic models hallucinate?</a:t>
            </a:r>
          </a:p>
          <a:p>
            <a:r>
              <a:t>  Vision models produce non-binding observation metadata, never authoritative decisions. Hard business rules (return windows from carrier delivery timestamps, SKU comparisons) are executed in deterministic Python code (P-01 to P-08). The critic provides an adversarial sanity check against cited timestamps. If both vision and critic experience correlated hallucinations, the fail-closed human seller gate guarantees that no refund or return label can ever be issued without seller review.</a:t>
            </a:r>
          </a:p>
          <a:p>
            <a:r>
              <a:t>- DEFENSE QUESTION 3: How do you prevent duplicate or incorrect refunds?</a:t>
            </a:r>
          </a:p>
          <a:p>
            <a:r>
              <a:t>  1. Idempotency keys (hash(order_id, return_id, transaction_type)) prevent double-execution.</a:t>
            </a:r>
          </a:p>
          <a:p>
            <a:r>
              <a:t>  2. Ledgers track cumulative refunded amounts against total order value: 0 &lt; amount &lt;= min(₹4,999, remaining_refundable_amount, order_paid_amount).</a:t>
            </a:r>
          </a:p>
          <a:p>
            <a:r>
              <a:t>  3. LLMs possess zero capability to call payment gateways directly; all actions produce draft state objects awaiting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Grounding Note: These four scenarios represent staged prototype test suites and deterministic expected behaviors, NOT ungrounded production field metrics.</a:t>
            </a:r>
          </a:p>
          <a:p>
            <a:r>
              <a:t>- Case 01 (Consistent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02 (Contradiction): Color mismatch detected (ordered white, unboxed black). System prevents auto-rejection and routes to seller review with 3 concrete resolution options.</a:t>
            </a:r>
          </a:p>
          <a:p>
            <a:r>
              <a:t>- Case 03 (Unclear / Agentic Loop): Dark video (28/255 avg brightness). Instead of auto-denying, the agent provides a clear checklist, transitions to WAITING_FOR_EVIDENCE, and resumes on upload (1 retry limit protects customers from infinite loops).</a:t>
            </a:r>
          </a:p>
          <a:p>
            <a:r>
              <a:t>- Case 04 (Continuity): Expected prototype behavior: inspect parcel-to-product sequence to flag suspicious cut-aways or missing transitions.</a:t>
            </a:r>
          </a:p>
          <a:p>
            <a:r>
              <a:t>- Financial Cap Formula: min(₹4,999, remaining refundable amount, order paid amount) strictly prevents over-refunding.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dependencies: deterministic mock APIs for Shopify &amp; Shippo eliminate external latency and flakiness.</a:t>
            </a:r>
          </a:p>
          <a:p>
            <a:r>
              <a:t>  2. Clear division of labor with single-threaded ownership across 3 teammates:</a:t>
            </a:r>
          </a:p>
          <a:p>
            <a:r>
              <a:t>     - Person A (Backend &amp; State Machine): LangGraph orchestrator, mock store/courier APIs, order status fast path, state serialization.</a:t>
            </a:r>
          </a:p>
          <a:p>
            <a:r>
              <a:t>     - Person B (Video Pipeline &amp; UI): FFmpeg keyframe extraction, deterministic rules P-01 to P-08, critic prompt, seller console.</a:t>
            </a:r>
          </a:p>
          <a:p>
            <a:r>
              <a:t>     - Person C (Integration &amp; Validation): Clarification/resume loop, 4 staged demo cases (A-D), authorization boundary tests, demo video recording, README.</a:t>
            </a:r>
          </a:p>
          <a:p>
            <a:r>
              <a:t>  3. Strict Scope Discipline:</a:t>
            </a:r>
          </a:p>
          <a:p>
            <a:r>
              <a:t>     - NEVER CUT: Core policy engine, frame citations, seller authorization gate, structured audit log, clarification/resume loop, 4 demo cases.</a:t>
            </a:r>
          </a:p>
          <a:p>
            <a:r>
              <a:t>     - CUT FIRST IF BEHIND: Real carrier webhooks, multi-product order parsing, video OCR barcode scanning, production payment gateways, seller analytics dashboards.</a:t>
            </a:r>
          </a:p>
          <a:p>
            <a:r>
              <a:t>- Winning Philosophy: 'The winning hackathon agent is not the one with the most tool definitions. It is the one where every action is held to evidence, and the seller stays in control.'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AGENTX HACKATHON 2026 · TRACK PS-04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72621"/>
                </a:solidFill>
                <a:latin typeface="Inter"/>
              </a:defRPr>
            </a:pPr>
            <a:r>
              <a:t>ReturnLens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4114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72621"/>
                </a:solidFill>
                <a:latin typeface="Inter"/>
              </a:defRPr>
            </a:pPr>
            <a:r>
              <a:t>Every return decision, backed by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4114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6E64"/>
                </a:solidFill>
                <a:latin typeface="Inter"/>
              </a:defRPr>
            </a:pPr>
            <a:r>
              <a:t>Evidence-backed returns triage for independent online sellers.</a:t>
            </a:r>
            <a:br/>
            <a:br/>
            <a:r>
              <a:t>When a buyer submits an unboxing video, ReturnLens links video keyframes to store truth and courier scans, evaluates deterministic policy rules, and presents a 1-click decision console to the solo merchant.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5D39"/>
                </a:solidFill>
                <a:latin typeface="Inter"/>
              </a:defRPr>
            </a:pPr>
            <a:r>
              <a:t>15–20m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Manual triage eliminated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4663440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6B55"/>
                </a:solidFill>
                <a:latin typeface="Inter"/>
              </a:defRPr>
            </a:pPr>
            <a:r>
              <a:t>1-Click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Merchant verification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4663440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72621"/>
                </a:solidFill>
                <a:latin typeface="Inter"/>
              </a:defRPr>
            </a:pPr>
            <a:r>
              <a:t>24h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Prototype feasibility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685800"/>
            <a:ext cx="6339535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685800"/>
            <a:ext cx="6339535" cy="502920"/>
          </a:xfrm>
          <a:prstGeom prst="rect">
            <a:avLst/>
          </a:prstGeom>
          <a:solidFill>
            <a:srgbClr val="1F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RETURNLENS SELLER CONSOLE  ·  CASE #RT-8821</a:t>
            </a:r>
          </a:p>
        </p:txBody>
      </p:sp>
      <p:pic>
        <p:nvPicPr>
          <p:cNvPr id="12" name="Picture 11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2468880" cy="2103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371600"/>
            <a:ext cx="313913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A8E85"/>
                </a:solidFill>
                <a:latin typeface="IBM Plex Mono"/>
              </a:defRPr>
            </a:pPr>
            <a:r>
              <a:t>ORDER INFORMATION</a:t>
            </a:r>
          </a:p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Order #ORD-7729  ·  HEAD-WHT-02</a:t>
            </a:r>
            <a:br/>
            <a:r>
              <a:t>Matte White  ·  Price: ₹1,499</a:t>
            </a:r>
            <a:br/>
            <a:r>
              <a:t>Delivered 4 days ago</a:t>
            </a:r>
          </a:p>
          <a:p>
            <a:br/>
            <a:pPr>
              <a:defRPr sz="950" b="1">
                <a:solidFill>
                  <a:srgbClr val="7A8E85"/>
                </a:solidFill>
                <a:latin typeface="IBM Plex Mono"/>
              </a:defRPr>
            </a:pPr>
            <a:r>
              <a:t>EVIDENCE CITATION (STAGED)</a:t>
            </a:r>
          </a:p>
          <a:p>
            <a:pPr>
              <a:defRPr sz="1050">
                <a:solidFill>
                  <a:srgbClr val="596E64"/>
                </a:solidFill>
                <a:latin typeface="Inter"/>
              </a:defRPr>
            </a:pPr>
            <a:r>
              <a:t>Frame 00:07 (Staged)</a:t>
            </a:r>
            <a:br/>
            <a:r>
              <a:t>Observed item casing is Midnight Black. Exact barcode unverified.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703320"/>
            <a:ext cx="5790895" cy="777240"/>
          </a:xfrm>
          <a:prstGeom prst="rect">
            <a:avLst/>
          </a:prstGeom>
          <a:solidFill>
            <a:srgbClr val="FCECE8"/>
          </a:solidFill>
          <a:ln w="127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91B1B"/>
                </a:solidFill>
                <a:latin typeface="IBM Plex Mono"/>
              </a:defRPr>
            </a:pPr>
            <a:r>
              <a:t>POLICY GATE: COLOR CONTRADICTION DETECTED</a:t>
            </a:r>
          </a:p>
          <a:p>
            <a:pPr>
              <a:defRPr sz="1050">
                <a:solidFill>
                  <a:srgbClr val="991B1B"/>
                </a:solidFill>
                <a:latin typeface="Inter"/>
              </a:defRPr>
            </a:pPr>
            <a:r>
              <a:t>P-04 Return Window: PASS (Day 4 of 7)  |  P-03 Manifest Match: CONTRADICTION FLAGGED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4663439"/>
            <a:ext cx="5790895" cy="4114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2400E"/>
                </a:solidFill>
                <a:latin typeface="IBM Plex Mono"/>
              </a:defRPr>
            </a:pPr>
            <a:r>
              <a:t>STATUS: ESCALATED FOR SELLER DECISION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5212080"/>
            <a:ext cx="5790895" cy="59436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Review Evidence &amp; Authorize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ReturnLens · Pitch Deck · PS-04 Track · Team Rookie (3 Members)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THE PROBLEM · SOLO SELLER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One return. Four disconnected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Four systems. No traceable decision.  ·  Without a shared record, the seller connects order facts, video, and policy manually from memory.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40280"/>
            <a:ext cx="3200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01 BUYER VIDEO &amp; CLAIM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Buyer Video &amp; Claim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Customer submits short unboxing clip and subjective text via chat.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06240"/>
            <a:ext cx="3200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03 COURIER TRACKING SCAN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Courier Tracking Scan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Shippo courier API records delivery scan 4 days ago.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2240280"/>
            <a:ext cx="3962095" cy="3749039"/>
          </a:xfrm>
          <a:prstGeom prst="rect">
            <a:avLst/>
          </a:prstGeom>
          <a:solidFill>
            <a:srgbClr val="172621"/>
          </a:solidFill>
          <a:ln w="254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5D39"/>
                </a:solidFill>
                <a:latin typeface="IBM Plex Mono"/>
              </a:defRPr>
            </a:pPr>
            <a:r>
              <a:t>CRITICAL INFORMATION GAP</a:t>
            </a:r>
          </a:p>
          <a:p>
            <a:pPr algn="ctr">
              <a:defRPr sz="1800" b="1">
                <a:solidFill>
                  <a:srgbClr val="F5F3EF"/>
                </a:solidFill>
                <a:latin typeface="Inter"/>
              </a:defRPr>
            </a:pPr>
            <a:r>
              <a:t>NO SHARED EVIDENCE RECORD</a:t>
            </a:r>
          </a:p>
          <a:p>
            <a:br/>
            <a:pPr algn="ctr">
              <a:defRPr sz="1150">
                <a:solidFill>
                  <a:srgbClr val="D1D5DB"/>
                </a:solidFill>
                <a:latin typeface="Inter"/>
              </a:defRPr>
            </a:pPr>
            <a:r>
              <a:t>Today the seller opens 4 browser tabs and guesses. An erroneous refund burns inventory margin; an unfair denial destroys repeat customer trust. The gap is the absence of an auditable artifact tying order truth, video keyframes, and policy clauses together before money moves.</a:t>
            </a:r>
          </a:p>
          <a:p>
            <a:br/>
            <a:pPr algn="ctr">
              <a:defRPr sz="1600" b="1">
                <a:solidFill>
                  <a:srgbClr val="D95D39"/>
                </a:solidFill>
                <a:latin typeface="Inter"/>
              </a:defRPr>
            </a:pPr>
            <a:r>
              <a:t>9.0% vs 15.14%</a:t>
            </a:r>
          </a:p>
          <a:p>
            <a:pPr algn="ctr">
              <a:defRPr sz="900">
                <a:solidFill>
                  <a:srgbClr val="9CA3AF"/>
                </a:solidFill>
                <a:latin typeface="Inter"/>
              </a:defRPr>
            </a:pPr>
            <a:r>
              <a:t>9.0% Return Fraud (NRF 2025, fraud only)  |  15.14% Fraud + Policy Abuse (Appriss/Deloitte 2024)</a:t>
            </a:r>
            <a:br/>
            <a:r>
              <a:t>Definitions differ: strict criminal fraud vs fraud combined with policy abuse.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9775" y="2240280"/>
            <a:ext cx="3200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02 STORE ORDER TRUTH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Store Order Truth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Shopify store catalog specifies SKU HEAD-WHT-02 (White, ₹1,499).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59775" y="4206240"/>
            <a:ext cx="3200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04 STORE RETURN POLICY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Store Return Policy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7-day defect window and tag condition in store terms.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Fraud statistics note: 9.0% (NRF 2025, fraud only) vs 15.14% (Appriss/Deloitte 2024, fraud + abuse)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VISUAL EVIDENCE BENCHMARK · STAR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The order says white. The video shows black.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ReturnLens flags the contradiction — the seller decides.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704088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3246120" cy="2560320"/>
          </a:xfrm>
          <a:prstGeom prst="rect">
            <a:avLst/>
          </a:prstGeom>
        </p:spPr>
      </p:pic>
      <p:pic>
        <p:nvPicPr>
          <p:cNvPr id="8" name="Picture 7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40280"/>
            <a:ext cx="3246120" cy="2560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4892040"/>
            <a:ext cx="3246120" cy="320040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6B55"/>
                </a:solidFill>
                <a:latin typeface="IBM Plex Mono"/>
              </a:defRPr>
            </a:pPr>
            <a:r>
              <a:t>STORE CATALOG TRUTH: HEAD-WHT-02 (WHITE)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4892040"/>
            <a:ext cx="3246120" cy="32004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91B1B"/>
                </a:solidFill>
                <a:latin typeface="IBM Plex Mono"/>
              </a:defRPr>
            </a:pPr>
            <a:r>
              <a:t>UNBOXING KEYFRAME (STAGED): MIDNIGHT 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Visual Grounding Honesty: Keyframe resolution reveals black casing. Exact SKU barcode is unreadable in this frame; ReturnLens factually records 'Observed Color: Midnight Black · Exact SKU: Not verified' and cites frame 00:07.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057400"/>
            <a:ext cx="3459175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194560"/>
            <a:ext cx="3093415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5D39"/>
                </a:solidFill>
                <a:latin typeface="IBM Plex Mono"/>
              </a:defRPr>
            </a:pPr>
            <a:r>
              <a:t>DETERMINISTIC POLICY GATE</a:t>
            </a:r>
          </a:p>
          <a:p>
            <a:pPr>
              <a:defRPr sz="1600" b="1">
                <a:solidFill>
                  <a:srgbClr val="991B1B"/>
                </a:solidFill>
                <a:latin typeface="Inter"/>
              </a:defRPr>
            </a:pPr>
            <a:r>
              <a:t>P-03: COLOR CONTRADICTION</a:t>
            </a:r>
          </a:p>
          <a:p>
            <a:pPr>
              <a:defRPr sz="900" b="1">
                <a:solidFill>
                  <a:srgbClr val="991B1B"/>
                </a:solidFill>
                <a:latin typeface="IBM Plex Mono"/>
              </a:defRPr>
            </a:pPr>
            <a:r>
              <a:t>SELLER REVIEW REQUIRED</a:t>
            </a:r>
            <a:br/>
            <a:r>
              <a:t>Observed: Midnight Black · Exact SKU: Not verified in frame</a:t>
            </a:r>
          </a:p>
          <a:p>
            <a:br/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Seller Resolution Options: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1. Request unboxing video with packaging label / serial visible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2. Reject return under policy (item does not match order record)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3. Override &amp; approve if seller acknowledges known warehouse mis-shipment</a:t>
            </a:r>
          </a:p>
          <a:p>
            <a:br/>
            <a:pPr>
              <a:defRPr sz="850">
                <a:solidFill>
                  <a:srgbClr val="596E64"/>
                </a:solidFill>
                <a:latin typeface="IBM Plex Mono"/>
              </a:defRPr>
            </a:pPr>
            <a:r>
              <a:t>Financial Safety Ceiling:</a:t>
            </a:r>
            <a:br/>
            <a:r>
              <a:t>0 &lt; amount &lt;= min(₹4,999, remaining_refundable, order_paid)</a:t>
            </a:r>
            <a:br/>
            <a:r>
              <a:t>No auto-denial · No refund released without seller click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Illustrative staged evidence · Mock Shopify &amp; Shippo APIs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SYSTEM ARCHITECTURE · DYNAMIC AGENTIC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3EF"/>
                </a:solidFill>
                <a:latin typeface="Inter"/>
              </a:defRPr>
            </a:pPr>
            <a:r>
              <a:t>Models observe. Code verifies. Seller authorizes.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A3B8B0"/>
                </a:solidFill>
                <a:latin typeface="Inter"/>
              </a:defRPr>
            </a:pPr>
            <a:r>
              <a:t>Dynamic action selection and stateful resumption under deterministic human authorization.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60020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6C8279"/>
                </a:solidFill>
                <a:latin typeface="IBM Plex Mono"/>
              </a:defRPr>
            </a:pPr>
            <a:r>
              <a:t>01 PLAN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Plan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Typed plan 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57400"/>
            <a:ext cx="160020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1417320" cy="237744"/>
          </a:xfrm>
          <a:prstGeom prst="rect">
            <a:avLst/>
          </a:prstGeom>
          <a:solidFill>
            <a:srgbClr val="003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D1A7"/>
                </a:solidFill>
                <a:latin typeface="IBM Plex Mono"/>
              </a:defRPr>
            </a:pPr>
            <a: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42316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1176" y="2057400"/>
            <a:ext cx="160020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6C8279"/>
                </a:solidFill>
                <a:latin typeface="IBM Plex Mono"/>
              </a:defRPr>
            </a:pPr>
            <a:r>
              <a:t>02 RETRIEVE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Retrieve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FFmpeg &amp; mock APIs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51176" y="2057400"/>
            <a:ext cx="160020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42616" y="2926080"/>
            <a:ext cx="1417320" cy="237744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51376" y="242316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2057400"/>
            <a:ext cx="160020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6C8279"/>
                </a:solidFill>
                <a:latin typeface="IBM Plex Mono"/>
              </a:defRPr>
            </a:pPr>
            <a:r>
              <a:t>03 EVALUATE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Evaluate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Rules P-01 to P-08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057400"/>
            <a:ext cx="160020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62272" y="2926080"/>
            <a:ext cx="1417320" cy="237744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2" y="242316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057400"/>
            <a:ext cx="160020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6C8279"/>
                </a:solidFill>
                <a:latin typeface="IBM Plex Mono"/>
              </a:defRPr>
            </a:pPr>
            <a:r>
              <a:t>04 AUDIT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Audit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Adversarial critic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057400"/>
            <a:ext cx="160020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2926080"/>
            <a:ext cx="1417320" cy="237744"/>
          </a:xfrm>
          <a:prstGeom prst="rect">
            <a:avLst/>
          </a:prstGeom>
          <a:solidFill>
            <a:srgbClr val="003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D1A7"/>
                </a:solidFill>
                <a:latin typeface="IBM Plex Mono"/>
              </a:defRPr>
            </a:pPr>
            <a: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242316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0144" y="2057400"/>
            <a:ext cx="160020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6C8279"/>
                </a:solidFill>
                <a:latin typeface="IBM Plex Mono"/>
              </a:defRPr>
            </a:pPr>
            <a:r>
              <a:t>05 AUTHORIZE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Authorize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Fail-closed 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2057400"/>
            <a:ext cx="1600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01584" y="2926080"/>
            <a:ext cx="1417320" cy="237744"/>
          </a:xfrm>
          <a:prstGeom prst="rect">
            <a:avLst/>
          </a:prstGeom>
          <a:solidFill>
            <a:srgbClr val="452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BBF24"/>
                </a:solidFill>
                <a:latin typeface="IBM Plex Mono"/>
              </a:defRPr>
            </a:pPr>
            <a:r>
              <a:t>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0344" y="242316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29800" y="2057400"/>
            <a:ext cx="160020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6C8279"/>
                </a:solidFill>
                <a:latin typeface="IBM Plex Mono"/>
              </a:defRPr>
            </a:pPr>
            <a:r>
              <a:t>06 RECORD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Record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Audit trace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2057400"/>
            <a:ext cx="160020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21240" y="2926080"/>
            <a:ext cx="1417320" cy="237744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474720"/>
            <a:ext cx="6492240" cy="1554480"/>
          </a:xfrm>
          <a:prstGeom prst="rect">
            <a:avLst/>
          </a:prstGeom>
          <a:solidFill>
            <a:srgbClr val="14221D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3C5FD"/>
                </a:solidFill>
                <a:latin typeface="IBM Plex Mono"/>
              </a:defRPr>
            </a:pPr>
            <a:r>
              <a:t>CASE C · DYNAMIC STATEFUL CLARIFICATION LOOP</a:t>
            </a:r>
          </a:p>
          <a:p>
            <a:pPr>
              <a:defRPr sz="1100" b="1">
                <a:solidFill>
                  <a:srgbClr val="F5F3EF"/>
                </a:solidFill>
                <a:latin typeface="Inter"/>
              </a:defRPr>
            </a:pPr>
            <a:r>
              <a:t>Dark Frames → ask_for_evidence() → WAITING_FOR_EVIDENCE → Customer Uploads → Resume Case</a:t>
            </a:r>
          </a:p>
          <a:p>
            <a:pPr>
              <a:defRPr sz="950">
                <a:solidFill>
                  <a:srgbClr val="A3B8B0"/>
                </a:solidFill>
                <a:latin typeface="Inter"/>
              </a:defRPr>
            </a:pPr>
            <a:r>
              <a:t>Agentic State Machine: When lighting is insufficient, the agent halts standard execution, prompts a targeted checklist, pauses state in WAITING_FOR_EVIDENCE, and seamlessly resumes context upon media receipt (1 retry limit protects customer experience).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36815" y="3474720"/>
            <a:ext cx="4023360" cy="1554480"/>
          </a:xfrm>
          <a:prstGeom prst="rect">
            <a:avLst/>
          </a:prstGeom>
          <a:solidFill>
            <a:srgbClr val="14221D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SECONDARY PS-04 ROUTE · ORDER STATUS FAST PATH</a:t>
            </a:r>
          </a:p>
          <a:p>
            <a:pPr>
              <a:defRPr sz="1100" b="1">
                <a:solidFill>
                  <a:srgbClr val="F5F3EF"/>
                </a:solidFill>
                <a:latin typeface="Inter"/>
              </a:defRPr>
            </a:pPr>
            <a:r>
              <a:t>“Where is my order?” → Direct Mock Store &amp; Courier Scan</a:t>
            </a:r>
          </a:p>
          <a:p>
            <a:pPr>
              <a:defRPr sz="950">
                <a:solidFill>
                  <a:srgbClr val="A3B8B0"/>
                </a:solidFill>
                <a:latin typeface="Inter"/>
              </a:defRPr>
            </a:pPr>
            <a:r>
              <a:t>Instant delivery timestamp &amp; scan (Zero-vision overhead)</a:t>
            </a:r>
            <a:br/>
            <a:r>
              <a:t>Routine order queries take a direct tool route without calling heavy multimodal models. Escalates to human seller only if courier scan shows abnormal transit delay.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12080"/>
            <a:ext cx="10728655" cy="960120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A3B8B0"/>
                </a:solidFill>
                <a:latin typeface="IBM Plex Mono"/>
              </a:defRPr>
            </a:pPr>
            <a:r>
              <a:t>■ Model Calls: 3 base LLM calls per triage case (Planner, Vision, Critic) plus retries.   |   ■ Deterministic Policy: Rules P-01 to P-08 executed in pure Python code, never prompts.</a:t>
            </a:r>
          </a:p>
          <a:p>
            <a:pPr>
              <a:defRPr sz="900">
                <a:solidFill>
                  <a:srgbClr val="A3B8B0"/>
                </a:solidFill>
                <a:latin typeface="IBM Plex Mono"/>
              </a:defRPr>
            </a:pPr>
            <a:r>
              <a:t>■ Critic Duty: Independent prompt audits cited frames; notes correlated vision limits.   |   ■ Safety Ceiling: Backend checks block payment tools; 1-click human authorization strictly enforced.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223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C786E"/>
                </a:solidFill>
                <a:latin typeface="IBM Plex Mono"/>
              </a:defRPr>
            </a:pPr>
            <a:r>
              <a:t>Structured audit log recorded at every state transition · Decision priority: Contradiction &gt; Hard fail &gt; Unclear only &gt; All 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C786E"/>
                </a:solidFill>
                <a:latin typeface="IBM Plex Mono"/>
              </a:defRPr>
            </a:pPr>
            <a:r>
              <a:t>Slide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DEMO SCENARIOS · CONTROLLED PROTOTYPE BEHAVIORS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Four evidence conditions. Four controlled actions.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Expected prototype behaviors across staged benchmark cases. Not measured production metrics.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72865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58568"/>
            <a:ext cx="2011680" cy="502920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CASE 01 · CONSISTENT</a:t>
            </a:r>
          </a:p>
          <a:p>
            <a:pPr algn="ctr">
              <a:defRPr sz="900">
                <a:solidFill>
                  <a:srgbClr val="006B55"/>
                </a:solidFill>
                <a:latin typeface="Inter"/>
              </a:defRPr>
            </a:pPr>
            <a:r>
              <a:t>Clear Defect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1671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Staged casing crack verified in unboxing frame 00:04 · Manifest &amp; return window match.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276856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167128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6B55"/>
                </a:solidFill>
                <a:latin typeface="IBM Plex Mono"/>
              </a:defRPr>
            </a:pPr>
            <a:r>
              <a:t>PREPARE SELLER REVIEW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Agent prepares mock shipping label &amp; drafts refund in pending_return_receipt. Money releases only upon warehouse receipt.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99816"/>
            <a:ext cx="1072865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00984"/>
            <a:ext cx="2011680" cy="50292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91B1B"/>
                </a:solidFill>
                <a:latin typeface="IBM Plex Mono"/>
              </a:defRPr>
            </a:pPr>
            <a:r>
              <a:t>CASE 02 · CONTRADICTION</a:t>
            </a:r>
          </a:p>
          <a:p>
            <a:pPr algn="ctr">
              <a:defRPr sz="900">
                <a:solidFill>
                  <a:srgbClr val="991B1B"/>
                </a:solidFill>
                <a:latin typeface="Inter"/>
              </a:defRPr>
            </a:pPr>
            <a:r>
              <a:t>Color Mismatch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209544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White ordered (HEAD-WHT-02) vs Black unboxed in Frame 00:07 · Exact SKU unverified.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319272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209544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91B1B"/>
                </a:solidFill>
                <a:latin typeface="IBM Plex Mono"/>
              </a:defRPr>
            </a:pPr>
            <a:r>
              <a:t>ESCALATE TO SELLER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Policy P-03 blocks automation. Inhibits label and refund. Seller selects 1 of 3 concrete resolution options.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42232"/>
            <a:ext cx="1072865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343400"/>
            <a:ext cx="201168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40AF"/>
                </a:solidFill>
                <a:latin typeface="IBM Plex Mono"/>
              </a:defRPr>
            </a:pPr>
            <a:r>
              <a:t>CASE 03 · UNCLEAR</a:t>
            </a:r>
          </a:p>
          <a:p>
            <a:pPr algn="ctr">
              <a:defRPr sz="900">
                <a:solidFill>
                  <a:srgbClr val="1E40AF"/>
                </a:solidFill>
                <a:latin typeface="Inter"/>
              </a:defRPr>
            </a:pPr>
            <a:r>
              <a:t>Low Lighting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251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4-second dark video, brightness 28/255, barcode obscured · Insufficient visual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361688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25196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40AF"/>
                </a:solidFill>
                <a:latin typeface="IBM Plex Mono"/>
              </a:defRPr>
            </a:pPr>
            <a:r>
              <a:t>ASK AND RESUME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Agent calls ask_for_evidence(); transitions ticket to WAITING_FOR_EVIDENCE; resumes context on upload (1 retry limit).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84648"/>
            <a:ext cx="1072865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385816"/>
            <a:ext cx="2011680" cy="502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5F46"/>
                </a:solidFill>
                <a:latin typeface="IBM Plex Mono"/>
              </a:defRPr>
            </a:pPr>
            <a:r>
              <a:t>CASE 04 · SEQUENCE</a:t>
            </a:r>
          </a:p>
          <a:p>
            <a:pPr algn="ctr">
              <a:defRPr sz="900">
                <a:solidFill>
                  <a:srgbClr val="065F46"/>
                </a:solidFill>
                <a:latin typeface="Inter"/>
              </a:defRPr>
            </a:pPr>
            <a:r>
              <a:t>Continuity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5294376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Staged continuous take from sealed parcel opening to product reveal · Sequence inspected.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404104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5294376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5F46"/>
                </a:solidFill>
                <a:latin typeface="IBM Plex Mono"/>
              </a:defRPr>
            </a:pPr>
            <a:r>
              <a:t>INSPECT CONTINUITY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Expected prototype behavior: inspect sequence continuity and flag missing transitions for seller review.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Staged prototype scenarios · Expected agent behaviors, not measured production metrics · Cap: min(₹4,999, remaining, paid)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24-HOUR PROTOTYPE PLAN · FEASIBILITY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A credible prototype in 24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Strict scope boundaries and single-threaded ownership make the prototype fully buildable in one 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00h – 06h · FOUNDATION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Mock APIs &amp; Agent State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Person A (Backend)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LangGraph state machine, mock Shopify/Shippo fixtures, order status route, state serialization.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5740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47288" y="205740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06h – 12h · EVIDENCE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Evidence Pipeline &amp; Policy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Person B (Vision &amp; UI)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FFmpeg keyframe extraction, vision schema, deterministic rules P-01 to P-08, critic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7288" y="205740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05740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12h – 18h · INTEGRATION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State Flow &amp; Scenarios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Person C (Integration) with A/B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Clarification/resume loop, seller console UI, wiring 4 staged demo cases (A–D).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205740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78824" y="205740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18h – 24h · VALIDATION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Testing &amp; Submission</a:t>
            </a:r>
          </a:p>
          <a:p>
            <a:pPr>
              <a:defRPr sz="1000" b="1">
                <a:solidFill>
                  <a:srgbClr val="006B55"/>
                </a:solidFill>
                <a:latin typeface="Inter"/>
              </a:defRPr>
            </a:pPr>
            <a:r>
              <a:t>All 3 Members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Authorization boundary tests, edge cases, fallback validation, demo recording, README.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78824" y="205740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86200"/>
            <a:ext cx="5257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886200"/>
            <a:ext cx="73152" cy="224028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23360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MUST DELIVER (CORE PROTOTYPE)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Deterministic policy engine (P-01 to P-08)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Evidence-pack keyframe citations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Fail-closed seller authorization gate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Structured JSON audit trail log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Stateful clarification/resume loop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4 reproducible demo scenarios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2375" y="3886200"/>
            <a:ext cx="5257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2375" y="3886200"/>
            <a:ext cx="73152" cy="2240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0975" y="4023360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5D39"/>
                </a:solidFill>
                <a:latin typeface="IBM Plex Mono"/>
              </a:defRPr>
            </a:pPr>
            <a:r>
              <a:t>CUT FIRST IF BEHIND (DEFERRED EXPANSION)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Live carrier webhooks (keep mock courier)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Multi-item return parsing (keep 1 item/return)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Video OCR barcode scanner (keep visual color)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Live payment gateways (keep draft refunds)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Merchant analytics dashboard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Team Rookie (3 Members) · PS-04 Autonomous Support Agent · 24-Hour Prototype Feasibility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