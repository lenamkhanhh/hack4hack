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Product Hero &amp; Executive Summary:</a:t>
            </a:r>
          </a:p>
          <a:p>
            <a:r>
              <a:t>- Problem Statement fit: PS-04 (Autonomous Support Agent for Online Sellers).</a:t>
            </a:r>
          </a:p>
          <a:p>
            <a:r>
              <a:t>- Target user: Solo direct-to-consumer (D2C) e-commerce merchants managing orders, shipping, and returns without dedicated support staff.</a:t>
            </a:r>
          </a:p>
          <a:p>
            <a:r>
              <a:t>- Core insight: Solo merchants waste 15–20 minutes per return opening fragmented tabs (buyer chat, Shopify, Shippo tracking, return policy). Return decisions are made from memory without unified evidence.</a:t>
            </a:r>
          </a:p>
          <a:p>
            <a:r>
              <a:t>- Differentiator: ReturnLens is not another open-ended conversational bot; it is a fail-closed, evidence-indexed triage agent.</a:t>
            </a:r>
          </a:p>
          <a:p>
            <a:r>
              <a:t>- Visual anchor: The Seller Review Console mockup shows staged inspection frame 00:14. Notice the honest observation: rather than claiming an incontrovertible defect, the agent flags potential damage for seller confirmation.</a:t>
            </a:r>
          </a:p>
          <a:p>
            <a:r>
              <a:t>- 24-hour scope: Return triage core + 1 zero-vision order-status route (reusing Shopify/Shippo mock APIs).</a:t>
            </a:r>
          </a:p>
          <a:p>
            <a:r>
              <a:t>- Guardrail: Financial release strictly requires 1-click human seller authorization. No autonomous refunds.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Problem Space &amp; The Four Disconnected Sources:</a:t>
            </a:r>
          </a:p>
          <a:p>
            <a:r>
              <a:t>- Problem: The returns bottleneck is not lack of return policies; it is fragmented, unverified context.</a:t>
            </a:r>
          </a:p>
          <a:p>
            <a:r>
              <a:t>- Sources:</a:t>
            </a:r>
          </a:p>
          <a:p>
            <a:r>
              <a:t>  1. Buyer claim in chat (unverified claims, emotional text).</a:t>
            </a:r>
          </a:p>
          <a:p>
            <a:r>
              <a:t>  2. Order truth in Shopify store (SKU HEAD-WHT-02, price ₹1,499).</a:t>
            </a:r>
          </a:p>
          <a:p>
            <a:r>
              <a:t>  3. Tracking scan in Shippo courier API (delivered 4 days ago).</a:t>
            </a:r>
          </a:p>
          <a:p>
            <a:r>
              <a:t>  4. Store return policy document (7-day defect window, security tag).</a:t>
            </a:r>
          </a:p>
          <a:p>
            <a:r>
              <a:t>- The central gap: No shared evidence record connecting video, store orders, and shipping timestamps into a single auditable artifact.</a:t>
            </a:r>
          </a:p>
          <a:p>
            <a:r>
              <a:t>- Fraud statistics note: Estimates differ fundamentally by methodology. NRF 2025 reports 9% for strictly criminal return fraud, whereas Appriss/Deloitte 2024 reports 15.14% when including policy abuse (wardrobing, unboxing swaps). Never conflate these two metrics.</a:t>
            </a:r>
          </a:p>
          <a:p>
            <a:r>
              <a:t>- Cost to seller: Triage takes 15–20 minutes per ticket. Erroneous approval bleeds gross margins; unfair rejection destroys customer lifetime value (LTV).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The Star Demo &amp; Technical Honesty in Vision Citation:</a:t>
            </a:r>
          </a:p>
          <a:p>
            <a:r>
              <a:t>- Core benchmark scenario (Case B): Buyer ordered white headphones (HEAD-WHT-02, ₹1,499), but unboxing frame 00:07 shows black headphones.</a:t>
            </a:r>
          </a:p>
          <a:p>
            <a:r>
              <a:t>- Grounding &amp; Honesty: Notice that the agent does NOT claim to read an unreadable SKU barcode from 00:07. It states factually: "Observed Color: Midnight Black · Exact SKU: Not verified".</a:t>
            </a:r>
          </a:p>
          <a:p>
            <a:r>
              <a:t>- Decision logic: Seeing a black item when white was ordered is an undeniable visual contradiction against the manifest. Instead of auto-denying the customer (which might alienate an honest buyer if the warehouse mis-shipped), the policy engine triggers ESCALATE.</a:t>
            </a:r>
          </a:p>
          <a:p>
            <a:r>
              <a:t>- Three clear merchant options are presented:</a:t>
            </a:r>
          </a:p>
          <a:p>
            <a:r>
              <a:t>  1. Accept mis-shipment (warehouse mistake).</a:t>
            </a:r>
          </a:p>
          <a:p>
            <a:r>
              <a:t>  2. Request outside-box label photo (buyer opened wrong family parcel).</a:t>
            </a:r>
          </a:p>
          <a:p>
            <a:r>
              <a:t>  3. Route to warehouse inspection (possible fraud).</a:t>
            </a:r>
          </a:p>
          <a:p>
            <a:r>
              <a:t>- Schema: typed JSON, requires_seller_approval: true.</a:t>
            </a:r>
          </a:p>
          <a:p>
            <a:r>
              <a:t>- Financial cap: 0 &lt; amount &lt;= min(₹4,999, remaining refundable amount, order paid amount).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System Architecture &amp; Deterministic Governance:</a:t>
            </a:r>
          </a:p>
          <a:p>
            <a:r>
              <a:t>- Philosophy: "Models observe. Code verifies. Seller authorizes."</a:t>
            </a:r>
          </a:p>
          <a:p>
            <a:r>
              <a:t>- Pipeline (6 steps):</a:t>
            </a:r>
          </a:p>
          <a:p>
            <a:r>
              <a:t>  1. Planner [MODEL]: Validates incoming JSON payload against strict schema.</a:t>
            </a:r>
          </a:p>
          <a:p>
            <a:r>
              <a:t>  2. Tools &amp; Video [CODE]: Extracts keyframes with FFmpeg; calls mock Shopify/Shippo endpoints.</a:t>
            </a:r>
          </a:p>
          <a:p>
            <a:r>
              <a:t>  3. Policy Engine [CODE]: Evaluates deterministic Python rules P-01 through P-08 (window, SKU match, tags).</a:t>
            </a:r>
          </a:p>
          <a:p>
            <a:r>
              <a:t>  4. Evidence Critic [MODEL]: Secondary auditor verifying cited timestamps against extracted observations to catch hallucinated damage.</a:t>
            </a:r>
          </a:p>
          <a:p>
            <a:r>
              <a:t>  5. Seller Gate [HUMAN]: Merchant console where human authorizes mock label or draft refund.</a:t>
            </a:r>
          </a:p>
          <a:p>
            <a:r>
              <a:t>  6. Audit Log [CODE]: Immutable append-only structured JSON log for every state transition.</a:t>
            </a:r>
          </a:p>
          <a:p>
            <a:r>
              <a:t>- Broad PS-04 alignment: A fast zero-vision route handles routine "Where is my order?" inquiries by querying the courier tracking tool directly, answering customer queries in sub-second time.</a:t>
            </a:r>
          </a:p>
          <a:p>
            <a:r>
              <a:t>- Strict priority order for decision function:</a:t>
            </a:r>
          </a:p>
          <a:p>
            <a:r>
              <a:t>  Contradiction &gt; Hard fail &gt; Unclear only &gt; All pass.</a:t>
            </a:r>
          </a:p>
          <a:p>
            <a:r>
              <a:t>- Bounded calls: Exactly 3 base LLM calls per triage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Four Reproducible Benchmark Scenarios:</a:t>
            </a:r>
          </a:p>
          <a:p>
            <a:r>
              <a:t>- Note on Grounding: These four scenarios represent staged prototype test suites and deterministic expected behaviors, NOT ungrounded production field metrics.</a:t>
            </a:r>
          </a:p>
          <a:p>
            <a:r>
              <a:t>- Case A (Clean Claim): All rules pass (within 7d, SKU matches manifest, tag visible, physical crack observed). System drafts return shipping label and refund draft in 'pending_return_receipt' state. No refund money is transferred until physical warehouse receipt.</a:t>
            </a:r>
          </a:p>
          <a:p>
            <a:r>
              <a:t>- Case B (Contradiction): Color mismatch detected (ordered white, unboxed black). System prevents auto-rejection and routes to seller review with 3 concrete resolution options.</a:t>
            </a:r>
          </a:p>
          <a:p>
            <a:r>
              <a:t>- Case C (Unclear / Low Light): Dark video (28/255 avg brightness). Instead of auto-denying, the agent provides a clear checklist and allows 1 retry to protect legitimate customers.</a:t>
            </a:r>
          </a:p>
          <a:p>
            <a:r>
              <a:t>- Case D (Continuity): Expected prototype behavior: inspect parcel-to-product sequence to flag suspicious cut-aways or missing transitions.</a:t>
            </a:r>
          </a:p>
          <a:p>
            <a:r>
              <a:t>- Financial cap formula: min(₹4,999, remaining refundable amount, order paid amount) prevents catastrophic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24-Hour Sprint Feasibility, Ownership &amp; Strict Scope Guardrails:</a:t>
            </a:r>
          </a:p>
          <a:p>
            <a:r>
              <a:t>- Feasibility argument: Why is ReturnLens realistically buildable in 24 hours by 3 engineers?</a:t>
            </a:r>
          </a:p>
          <a:p>
            <a:r>
              <a:t>  1. No live external production dependencies (we use deterministic mock APIs for Shopify &amp; Shippo).</a:t>
            </a:r>
          </a:p>
          <a:p>
            <a:r>
              <a:t>  2. Clear division of labor with single-threaded ownership across 3 teammates:</a:t>
            </a:r>
          </a:p>
          <a:p>
            <a:r>
              <a:t>     - Person A (Backend): LangGraph state graph, policy logic P-01 to P-08, JSON audit logger, order-status route.</a:t>
            </a:r>
          </a:p>
          <a:p>
            <a:r>
              <a:t>     - Person B (Video/UI): FFmpeg keyframe extraction script, Streamlit seller review console, frame citation display.</a:t>
            </a:r>
          </a:p>
          <a:p>
            <a:r>
              <a:t>     - Person C (Integration/QA): 4 staged test datasets (Cases A-D), boundary testing, fallback test cases, demo recording, and submission docs.</a:t>
            </a:r>
          </a:p>
          <a:p>
            <a:r>
              <a:t>  3. Scope discipline:</a:t>
            </a:r>
          </a:p>
          <a:p>
            <a:r>
              <a:t>     - NEVER CUT: Core policy engine, frame citations, seller authorization gate, structured audit log.</a:t>
            </a:r>
          </a:p>
          <a:p>
            <a:r>
              <a:t>     - CUT FIRST: Video OCR barcode scanning, automated customer email replying, seller analytics dashboards, production payment gateways.</a:t>
            </a:r>
          </a:p>
          <a:p>
            <a:r>
              <a:t>- Winning philosophy: "The winning hackathon agent is not the one with the most tool definitions. It is the one where every action is held to evidence, and the seller stays in control."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AGENTX HACKATHON 2026 · TRACK PS-04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4114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172621"/>
                </a:solidFill>
                <a:latin typeface="Inter"/>
              </a:defRPr>
            </a:pPr>
            <a:r>
              <a:t>RETURNLENS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114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B55"/>
                </a:solidFill>
                <a:latin typeface="Inter"/>
              </a:defRPr>
            </a:pPr>
            <a:r>
              <a:t>“Review returns with cited video evidence.”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4114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96E64"/>
                </a:solidFill>
                <a:latin typeface="Inter"/>
              </a:defRPr>
            </a:pPr>
            <a:r>
              <a:t>An evidence-backed return triage agent for small direct-to-consumer sellers.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931920"/>
            <a:ext cx="41148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72621"/>
                </a:solidFill>
                <a:latin typeface="IBM Plex Mono"/>
              </a:defRPr>
            </a:pPr>
            <a:r>
              <a:t>Team Rookie · 3 members · PS-04 Track</a:t>
            </a:r>
          </a:p>
          <a:p>
            <a:pPr>
              <a:defRPr sz="1050">
                <a:solidFill>
                  <a:srgbClr val="596E64"/>
                </a:solidFill>
                <a:latin typeface="Inter"/>
              </a:defRPr>
            </a:pPr>
            <a:r>
              <a:t>Target User: Solo D2C merchant managing orders and returns alone.</a:t>
            </a:r>
          </a:p>
          <a:p>
            <a:pPr>
              <a:defRPr sz="1050">
                <a:solidFill>
                  <a:srgbClr val="596E64"/>
                </a:solidFill>
                <a:latin typeface="Inter"/>
              </a:defRPr>
            </a:pPr>
            <a:r>
              <a:t>Scope in 24h: Return triage core + 1 zero-vision order status route.</a:t>
            </a:r>
          </a:p>
          <a:p>
            <a:pPr>
              <a:defRPr sz="1050" b="1">
                <a:solidFill>
                  <a:srgbClr val="172621"/>
                </a:solidFill>
                <a:latin typeface="Inter"/>
              </a:defRPr>
            </a:pPr>
            <a:r>
              <a:t>Guardrails: Fail-closed architecture · No autonomous refunds.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931920"/>
            <a:ext cx="73152" cy="2011680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1005840"/>
            <a:ext cx="6339535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1005840"/>
            <a:ext cx="6339535" cy="411480"/>
          </a:xfrm>
          <a:prstGeom prst="rect">
            <a:avLst/>
          </a:prstGeom>
          <a:solidFill>
            <a:srgbClr val="172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5F3EF"/>
                </a:solidFill>
                <a:latin typeface="IBM Plex Mono"/>
              </a:defRPr>
            </a:pPr>
            <a:r>
              <a:t>RETURNLENS SELLER CONSOLE · CASE #RET-4082          ORDER #ORD-9021</a:t>
            </a:r>
          </a:p>
        </p:txBody>
      </p:sp>
      <p:pic>
        <p:nvPicPr>
          <p:cNvPr id="11" name="Picture 10" descr="hero_video_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17320"/>
            <a:ext cx="3474720" cy="45262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595360" y="1417320"/>
            <a:ext cx="2864815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508760"/>
            <a:ext cx="249905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7A8E85"/>
                </a:solidFill>
                <a:latin typeface="IBM Plex Mono"/>
              </a:defRPr>
            </a:pPr>
            <a:r>
              <a:t>ORDER TRUTH</a:t>
            </a:r>
          </a:p>
          <a:p>
            <a:pPr>
              <a:defRPr sz="1150" b="1">
                <a:solidFill>
                  <a:srgbClr val="172621"/>
                </a:solidFill>
                <a:latin typeface="Inter"/>
              </a:defRPr>
            </a:pPr>
            <a:r>
              <a:t>HEAD-WHT-02 · White Headphones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₹1,499 · Delivered Day 4 (Within 7d window)</a:t>
            </a:r>
          </a:p>
          <a:p>
            <a:br/>
            <a:pPr>
              <a:defRPr sz="950" b="1">
                <a:solidFill>
                  <a:srgbClr val="7A8E85"/>
                </a:solidFill>
                <a:latin typeface="IBM Plex Mono"/>
              </a:defRPr>
            </a:pPr>
            <a:r>
              <a:t>VISUAL OBSERVATION</a:t>
            </a:r>
          </a:p>
          <a:p>
            <a:pPr>
              <a:defRPr sz="1150" b="1">
                <a:solidFill>
                  <a:srgbClr val="172621"/>
                </a:solidFill>
                <a:latin typeface="Inter"/>
              </a:defRPr>
            </a:pPr>
            <a:r>
              <a:t>Inspection Frame 00:14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Potential casing damage flagged · Needs manual confirmation</a:t>
            </a:r>
          </a:p>
          <a:p>
            <a:br/>
            <a:pPr>
              <a:defRPr sz="950" b="1">
                <a:solidFill>
                  <a:srgbClr val="7A8E85"/>
                </a:solidFill>
                <a:latin typeface="IBM Plex Mono"/>
              </a:defRPr>
            </a:pPr>
            <a:r>
              <a:t>POLICY VERIFICATION</a:t>
            </a:r>
          </a:p>
          <a:p>
            <a:pPr>
              <a:defRPr sz="1050" b="1">
                <a:solidFill>
                  <a:srgbClr val="92400E"/>
                </a:solidFill>
                <a:latin typeface="Inter"/>
              </a:defRPr>
            </a:pPr>
            <a:r>
              <a:t>P-01 Defect Check: FLAGGED FOR REVIEW</a:t>
            </a:r>
            <a:br/>
            <a:r>
              <a:t>P-04 Return Window: PASS (Day 4 of 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0" y="4663440"/>
            <a:ext cx="2499055" cy="36576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92400E"/>
                </a:solidFill>
                <a:latin typeface="IBM Plex Mono"/>
              </a:defRPr>
            </a:pPr>
            <a:r>
              <a:t>READY FOR SELLER REVIEW (FLAGGED)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0" y="5120640"/>
            <a:ext cx="2499055" cy="411480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Review Evidence &amp; Authorize Draft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33679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A8E85"/>
                </a:solidFill>
                <a:latin typeface="IBM Plex Mono"/>
              </a:defRPr>
            </a:pPr>
            <a:r>
              <a:t>ReturnLens · Idea Pitch Deck · PS-04 · Team Rookie (3 members)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633679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A8E85"/>
                </a:solidFill>
                <a:latin typeface="IBM Plex Mono"/>
              </a:defRPr>
            </a:pPr>
            <a:r>
              <a:t>Slide 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THE PROBLEM · SOLO SELLER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One return decision. Four disconnected sources.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596E64"/>
                </a:solidFill>
                <a:latin typeface="Inter"/>
              </a:defRPr>
            </a:pPr>
            <a:r>
              <a:t>The return decision is made from memory, before the evidence is checked.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3291840" cy="1737360"/>
          </a:xfrm>
          <a:prstGeom prst="rect">
            <a:avLst/>
          </a:prstGeom>
          <a:solidFill>
            <a:srgbClr val="FFFFFF"/>
          </a:solidFill>
          <a:ln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01 BUYER CHAT</a:t>
            </a:r>
          </a:p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“Received damaged item”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Buyer upload: 30–60s unboxing video + reason in support message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297680"/>
            <a:ext cx="3291840" cy="1737360"/>
          </a:xfrm>
          <a:prstGeom prst="rect">
            <a:avLst/>
          </a:prstGeom>
          <a:solidFill>
            <a:srgbClr val="FFFFFF"/>
          </a:solidFill>
          <a:ln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03 COURIER TRACKING</a:t>
            </a:r>
          </a:p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Delivered 4 days ago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Shippo mock tracking API scan timestamp verification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377440"/>
            <a:ext cx="3566160" cy="3657600"/>
          </a:xfrm>
          <a:prstGeom prst="rect">
            <a:avLst/>
          </a:prstGeom>
          <a:solidFill>
            <a:srgbClr val="172621"/>
          </a:solidFill>
          <a:ln w="25400">
            <a:solidFill>
              <a:srgbClr val="D95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95D39"/>
                </a:solidFill>
                <a:latin typeface="IBM Plex Mono"/>
              </a:defRPr>
            </a:pPr>
            <a:r>
              <a:t>CRITICAL INFORMATION GAP</a:t>
            </a:r>
          </a:p>
          <a:p>
            <a:pPr algn="ctr">
              <a:defRPr sz="1500" b="1">
                <a:solidFill>
                  <a:srgbClr val="F5F3EF"/>
                </a:solidFill>
                <a:latin typeface="Inter"/>
              </a:defRPr>
            </a:pPr>
            <a:r>
              <a:t>NO SHARED EVIDENCE RECORD</a:t>
            </a:r>
          </a:p>
          <a:p>
            <a:br/>
            <a:pPr algn="ctr">
              <a:defRPr sz="1050">
                <a:solidFill>
                  <a:srgbClr val="D1D5DB"/>
                </a:solidFill>
                <a:latin typeface="Inter"/>
              </a:defRPr>
            </a:pPr>
            <a:r>
              <a:t>Today the seller opens 4 tabs, then decides alone. A wrong refund loses inventory; an unfair denial loses a customer.</a:t>
            </a:r>
            <a:br/>
            <a:br/>
            <a:r>
              <a:t>The gap is that no single record ties order truth, video frames, policy clauses, and decisions together.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377440"/>
            <a:ext cx="3291840" cy="1737360"/>
          </a:xfrm>
          <a:prstGeom prst="rect">
            <a:avLst/>
          </a:prstGeom>
          <a:solidFill>
            <a:srgbClr val="FFFFFF"/>
          </a:solidFill>
          <a:ln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02 ORDER RECORD</a:t>
            </a:r>
          </a:p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White Headphones · ₹1,499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Shopify mock store API product inventory catalog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4297680"/>
            <a:ext cx="3291840" cy="1737360"/>
          </a:xfrm>
          <a:prstGeom prst="rect">
            <a:avLst/>
          </a:prstGeom>
          <a:solidFill>
            <a:srgbClr val="FFFFFF"/>
          </a:solidFill>
          <a:ln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04 RETURN POLICY</a:t>
            </a:r>
          </a:p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7-Day Window · Sealed Tag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Deterministic code rules P-01 to P-08, never prompts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3679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A8E85"/>
                </a:solidFill>
                <a:latin typeface="IBM Plex Mono"/>
              </a:defRPr>
            </a:pPr>
            <a:r>
              <a:t>Fraud estimates differ by definition: 9% (NRF 2025, fraud only) vs 15.14% (Appriss/Deloitte 2024, fraud + abuse).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633679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A8E85"/>
                </a:solidFill>
                <a:latin typeface="IBM Plex Mono"/>
              </a:defRPr>
            </a:pPr>
            <a:r>
              <a:t>Slide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VISUAL EVIDENCE BENCHMARK · CORE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The order says white. The video shows black.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596E64"/>
                </a:solidFill>
                <a:latin typeface="Inter"/>
              </a:defRPr>
            </a:pPr>
            <a:r>
              <a:t>ReturnLens surfaces the contradiction instead of auto-denying.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338328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mo_white_or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8840"/>
            <a:ext cx="338328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12064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72621"/>
                </a:solidFill>
                <a:latin typeface="IBM Plex Mono"/>
              </a:defRPr>
            </a:pPr>
            <a:r>
              <a:t>ORDER RECORD · STORE GROUND TRUTH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HEAD-WHT-02 · Matte White · ₹1,499</a:t>
            </a:r>
            <a:br/>
            <a:r>
              <a:t>Delivered 4 days ago · Original tag present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2148840"/>
            <a:ext cx="338328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emo_black_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148840"/>
            <a:ext cx="3383280" cy="2926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89120" y="512064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72621"/>
                </a:solidFill>
                <a:latin typeface="IBM Plex Mono"/>
              </a:defRPr>
            </a:pPr>
            <a:r>
              <a:t>VIDEO FRAME · INTAKE TIMESTAMP 00:07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Observed Color: Midnight Black</a:t>
            </a:r>
            <a:br/>
            <a:r>
              <a:t>Exact SKU: Not verified · Tag: Not visible in cited frame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3474720"/>
            <a:ext cx="1645920" cy="45720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IBM Plex Mono"/>
              </a:defRPr>
            </a:pPr>
            <a:r>
              <a:t>COLOR MISMATCH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2148840"/>
            <a:ext cx="3596335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63840" y="2148840"/>
            <a:ext cx="73152" cy="402336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240280"/>
            <a:ext cx="32004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5D39"/>
                </a:solidFill>
                <a:latin typeface="IBM Plex Mono"/>
              </a:defRPr>
            </a:pPr>
            <a:r>
              <a:t>DETERMINISTIC POLICY GATE</a:t>
            </a:r>
          </a:p>
          <a:p>
            <a:pPr>
              <a:defRPr sz="1500" b="1">
                <a:solidFill>
                  <a:srgbClr val="172621"/>
                </a:solidFill>
                <a:latin typeface="Inter"/>
              </a:defRPr>
            </a:pPr>
            <a:r>
              <a:t>P-03 Check: COLOR MISMATCH</a:t>
            </a:r>
          </a:p>
          <a:p>
            <a:pPr>
              <a:defRPr sz="1000">
                <a:solidFill>
                  <a:srgbClr val="596E64"/>
                </a:solidFill>
                <a:latin typeface="Inter"/>
              </a:defRPr>
            </a:pPr>
            <a:r>
              <a:t>Specification contradiction flagged against Shopify order manifest.</a:t>
            </a:r>
          </a:p>
          <a:p>
            <a:br/>
            <a:pPr>
              <a:defRPr sz="900" b="1">
                <a:solidFill>
                  <a:srgbClr val="006B55"/>
                </a:solidFill>
                <a:latin typeface="IBM Plex Mono"/>
              </a:defRPr>
            </a:pPr>
            <a:r>
              <a:t>typed JSON, requires_seller_approval: true</a:t>
            </a:r>
          </a:p>
          <a:p>
            <a:br/>
            <a:pPr>
              <a:defRPr sz="950" b="1">
                <a:solidFill>
                  <a:srgbClr val="991B1B"/>
                </a:solidFill>
                <a:latin typeface="IBM Plex Mono"/>
              </a:defRPr>
            </a:pPr>
            <a:r>
              <a:t>STATUS: ESCALATE (SELLER REVIEW REQUIRED)</a:t>
            </a:r>
          </a:p>
          <a:p>
            <a:pPr>
              <a:defRPr sz="950">
                <a:solidFill>
                  <a:srgbClr val="991B1B"/>
                </a:solidFill>
                <a:latin typeface="Inter"/>
              </a:defRPr>
            </a:pPr>
            <a:r>
              <a:t>Color mismatch observed · Exact SKU unconfirmed · No auto-denial.</a:t>
            </a:r>
          </a:p>
          <a:p>
            <a:br/>
            <a:pPr>
              <a:defRPr sz="900">
                <a:solidFill>
                  <a:srgbClr val="172621"/>
                </a:solidFill>
                <a:latin typeface="Inter"/>
              </a:defRPr>
            </a:pPr>
            <a:r>
              <a:t>Seller Action Options:</a:t>
            </a:r>
            <a:br/>
            <a:r>
              <a:t>1. Accept as merchant mis-shipment (seller mistake)</a:t>
            </a:r>
            <a:br/>
            <a:r>
              <a:t>2. Ask customer for outside-box shipping label (buyer mistake)</a:t>
            </a:r>
            <a:br/>
            <a:r>
              <a:t>3. Hold return for physical inspection at warehouse (potential swap)</a:t>
            </a:r>
          </a:p>
          <a:p>
            <a:br/>
            <a:pPr>
              <a:defRPr sz="850">
                <a:solidFill>
                  <a:srgbClr val="596E64"/>
                </a:solidFill>
                <a:latin typeface="Inter"/>
              </a:defRPr>
            </a:pPr>
            <a:r>
              <a:t>Cap: 0 &lt; amount &lt;= min(₹4,999, remaining refundable amount, order paid amount)</a:t>
            </a:r>
            <a:br/>
            <a:r>
              <a:t>No auto-denial · No refund released without seller click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33679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A8E85"/>
                </a:solidFill>
                <a:latin typeface="IBM Plex Mono"/>
              </a:defRPr>
            </a:pPr>
            <a:r>
              <a:t>Illustrative staged evidence · Mock Shopify &amp; Shippo APIs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633679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A8E85"/>
                </a:solidFill>
                <a:latin typeface="IBM Plex Mono"/>
              </a:defRPr>
            </a:pPr>
            <a:r>
              <a:t>Slide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D1A7"/>
                </a:solidFill>
                <a:latin typeface="IBM Plex Mono"/>
              </a:defRPr>
            </a:pPr>
            <a:r>
              <a:t>SYSTEM ARCHITECTURE · DETERMINISTIC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5F3EF"/>
                </a:solidFill>
                <a:latin typeface="Inter"/>
              </a:defRPr>
            </a:pPr>
            <a:r>
              <a:t>Models observe. Code verifies. Seller authorizes.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A3B8B0"/>
                </a:solidFill>
                <a:latin typeface="Inter"/>
              </a:defRPr>
            </a:pPr>
            <a:r>
              <a:t>Policy checks and seller approval control actions.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600200" cy="118872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>
                <a:solidFill>
                  <a:srgbClr val="6C8279"/>
                </a:solidFill>
                <a:latin typeface="IBM Plex Mono"/>
              </a:defRPr>
            </a:pPr>
            <a:r>
              <a:t>01 PLAN</a:t>
            </a:r>
          </a:p>
          <a:p>
            <a:pPr>
              <a:defRPr sz="1150" b="1">
                <a:solidFill>
                  <a:srgbClr val="F5F3EF"/>
                </a:solidFill>
                <a:latin typeface="Inter"/>
              </a:defRPr>
            </a:pPr>
            <a:r>
              <a:t>Planner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48840"/>
            <a:ext cx="1600200" cy="36576"/>
          </a:xfrm>
          <a:prstGeom prst="rect">
            <a:avLst/>
          </a:prstGeom>
          <a:solidFill>
            <a:srgbClr val="00D1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953512"/>
            <a:ext cx="1417320" cy="256032"/>
          </a:xfrm>
          <a:prstGeom prst="rect">
            <a:avLst/>
          </a:prstGeom>
          <a:solidFill>
            <a:srgbClr val="003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D1A7"/>
                </a:solidFill>
                <a:latin typeface="IBM Plex Mono"/>
              </a:defRPr>
            </a:pPr>
            <a: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2514600"/>
            <a:ext cx="2194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1A7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1176" y="2148840"/>
            <a:ext cx="1600200" cy="118872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>
                <a:solidFill>
                  <a:srgbClr val="6C8279"/>
                </a:solidFill>
                <a:latin typeface="IBM Plex Mono"/>
              </a:defRPr>
            </a:pPr>
            <a:r>
              <a:t>02 RETRIEVE</a:t>
            </a:r>
          </a:p>
          <a:p>
            <a:pPr>
              <a:defRPr sz="1150" b="1">
                <a:solidFill>
                  <a:srgbClr val="F5F3EF"/>
                </a:solidFill>
                <a:latin typeface="Inter"/>
              </a:defRPr>
            </a:pPr>
            <a:r>
              <a:t>Tools &amp; Video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51176" y="2148840"/>
            <a:ext cx="1600200" cy="36576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42616" y="2953512"/>
            <a:ext cx="1417320" cy="256032"/>
          </a:xfrm>
          <a:prstGeom prst="rect">
            <a:avLst/>
          </a:prstGeom>
          <a:solidFill>
            <a:srgbClr val="263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5F3EF"/>
                </a:solidFill>
                <a:latin typeface="IBM Plex Mono"/>
              </a:defRPr>
            </a:pPr>
            <a:r>
              <a:t>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51376" y="2514600"/>
            <a:ext cx="2194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1A7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0832" y="2148840"/>
            <a:ext cx="1600200" cy="118872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>
                <a:solidFill>
                  <a:srgbClr val="6C8279"/>
                </a:solidFill>
                <a:latin typeface="IBM Plex Mono"/>
              </a:defRPr>
            </a:pPr>
            <a:r>
              <a:t>03 EVALUATE</a:t>
            </a:r>
          </a:p>
          <a:p>
            <a:pPr>
              <a:defRPr sz="1150" b="1">
                <a:solidFill>
                  <a:srgbClr val="F5F3EF"/>
                </a:solidFill>
                <a:latin typeface="Inter"/>
              </a:defRPr>
            </a:pPr>
            <a:r>
              <a:t>Policy Engine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2148840"/>
            <a:ext cx="1600200" cy="36576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62272" y="2953512"/>
            <a:ext cx="1417320" cy="256032"/>
          </a:xfrm>
          <a:prstGeom prst="rect">
            <a:avLst/>
          </a:prstGeom>
          <a:solidFill>
            <a:srgbClr val="263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5F3EF"/>
                </a:solidFill>
                <a:latin typeface="IBM Plex Mono"/>
              </a:defRPr>
            </a:pPr>
            <a: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71032" y="2514600"/>
            <a:ext cx="2194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1A7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148840"/>
            <a:ext cx="1600200" cy="118872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>
                <a:solidFill>
                  <a:srgbClr val="6C8279"/>
                </a:solidFill>
                <a:latin typeface="IBM Plex Mono"/>
              </a:defRPr>
            </a:pPr>
            <a:r>
              <a:t>04 AUDIT</a:t>
            </a:r>
          </a:p>
          <a:p>
            <a:pPr>
              <a:defRPr sz="1150" b="1">
                <a:solidFill>
                  <a:srgbClr val="F5F3EF"/>
                </a:solidFill>
                <a:latin typeface="Inter"/>
              </a:defRPr>
            </a:pPr>
            <a:r>
              <a:t>Critic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2148840"/>
            <a:ext cx="1600200" cy="36576"/>
          </a:xfrm>
          <a:prstGeom prst="rect">
            <a:avLst/>
          </a:prstGeom>
          <a:solidFill>
            <a:srgbClr val="00D1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1928" y="2953512"/>
            <a:ext cx="1417320" cy="256032"/>
          </a:xfrm>
          <a:prstGeom prst="rect">
            <a:avLst/>
          </a:prstGeom>
          <a:solidFill>
            <a:srgbClr val="003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D1A7"/>
                </a:solidFill>
                <a:latin typeface="IBM Plex Mono"/>
              </a:defRPr>
            </a:pPr>
            <a:r>
              <a:t>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0688" y="2514600"/>
            <a:ext cx="2194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1A7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10144" y="2148840"/>
            <a:ext cx="1600200" cy="118872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>
                <a:solidFill>
                  <a:srgbClr val="6C8279"/>
                </a:solidFill>
                <a:latin typeface="IBM Plex Mono"/>
              </a:defRPr>
            </a:pPr>
            <a:r>
              <a:t>05 AUTHORIZE</a:t>
            </a:r>
          </a:p>
          <a:p>
            <a:pPr>
              <a:defRPr sz="1150" b="1">
                <a:solidFill>
                  <a:srgbClr val="F5F3EF"/>
                </a:solidFill>
                <a:latin typeface="Inter"/>
              </a:defRPr>
            </a:pPr>
            <a:r>
              <a:t>Seller Gate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10144" y="2148840"/>
            <a:ext cx="1600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01584" y="2953512"/>
            <a:ext cx="1417320" cy="256032"/>
          </a:xfrm>
          <a:prstGeom prst="rect">
            <a:avLst/>
          </a:prstGeom>
          <a:solidFill>
            <a:srgbClr val="452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BBF24"/>
                </a:solidFill>
                <a:latin typeface="IBM Plex Mono"/>
              </a:defRPr>
            </a:pPr>
            <a:r>
              <a:t>HUMAN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0344" y="2514600"/>
            <a:ext cx="2194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1A7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29800" y="2148840"/>
            <a:ext cx="1600200" cy="118872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>
                <a:solidFill>
                  <a:srgbClr val="6C8279"/>
                </a:solidFill>
                <a:latin typeface="IBM Plex Mono"/>
              </a:defRPr>
            </a:pPr>
            <a:r>
              <a:t>06 RECORD</a:t>
            </a:r>
          </a:p>
          <a:p>
            <a:pPr>
              <a:defRPr sz="1150" b="1">
                <a:solidFill>
                  <a:srgbClr val="F5F3EF"/>
                </a:solidFill>
                <a:latin typeface="Inter"/>
              </a:defRPr>
            </a:pPr>
            <a:r>
              <a:t>Audit Log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2148840"/>
            <a:ext cx="1600200" cy="36576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21240" y="2953512"/>
            <a:ext cx="1417320" cy="256032"/>
          </a:xfrm>
          <a:prstGeom prst="rect">
            <a:avLst/>
          </a:prstGeom>
          <a:solidFill>
            <a:srgbClr val="263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5F3EF"/>
                </a:solidFill>
                <a:latin typeface="IBM Plex Mono"/>
              </a:defRPr>
            </a:pPr>
            <a:r>
              <a:t>CODE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474720"/>
            <a:ext cx="10728655" cy="365760"/>
          </a:xfrm>
          <a:prstGeom prst="rect">
            <a:avLst/>
          </a:prstGeom>
          <a:solidFill>
            <a:srgbClr val="14221D"/>
          </a:solidFill>
          <a:ln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A3B8B0"/>
                </a:solidFill>
                <a:latin typeface="IBM Plex Mono"/>
              </a:defRPr>
            </a:pPr>
            <a:r>
              <a:t>SECONDARY PS-04 ROUTE:  Customer: “Where is my order?” → Mock Store API → Courier Scan → Instant Delivery Timestamp (Zero-Vision Fast Path)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977639"/>
            <a:ext cx="2560320" cy="1051560"/>
          </a:xfrm>
          <a:prstGeom prst="rect">
            <a:avLst/>
          </a:prstGeom>
          <a:solidFill>
            <a:srgbClr val="121F1B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7171"/>
                </a:solidFill>
                <a:latin typeface="IBM Plex Mono"/>
              </a:defRPr>
            </a:pPr>
            <a:r>
              <a:t>1. CONTRADICTION → ESCALATE</a:t>
            </a:r>
          </a:p>
          <a:p>
            <a:pPr>
              <a:defRPr sz="900">
                <a:solidFill>
                  <a:srgbClr val="A3B8B0"/>
                </a:solidFill>
                <a:latin typeface="Inter"/>
              </a:defRPr>
            </a:pPr>
            <a:r>
              <a:t>Discrepancy flagged (e.g. Case B). Inhibits automated label/refund. Seller reviews 3 options.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47288" y="3977639"/>
            <a:ext cx="2560320" cy="1051560"/>
          </a:xfrm>
          <a:prstGeom prst="rect">
            <a:avLst/>
          </a:prstGeom>
          <a:solidFill>
            <a:srgbClr val="121F1B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BBF24"/>
                </a:solidFill>
                <a:latin typeface="IBM Plex Mono"/>
              </a:defRPr>
            </a:pPr>
            <a:r>
              <a:t>2. HARD FAIL → ESCALATE</a:t>
            </a:r>
          </a:p>
          <a:p>
            <a:pPr>
              <a:defRPr sz="900">
                <a:solidFill>
                  <a:srgbClr val="A3B8B0"/>
                </a:solidFill>
                <a:latin typeface="Inter"/>
              </a:defRPr>
            </a:pPr>
            <a:r>
              <a:t>Mandatory rule violation (e.g. expired return window). Seller makes final decision; never auto-deny.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63056" y="3977639"/>
            <a:ext cx="2560320" cy="1051560"/>
          </a:xfrm>
          <a:prstGeom prst="rect">
            <a:avLst/>
          </a:prstGeom>
          <a:solidFill>
            <a:srgbClr val="121F1B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0A5FA"/>
                </a:solidFill>
                <a:latin typeface="IBM Plex Mono"/>
              </a:defRPr>
            </a:pPr>
            <a:r>
              <a:t>3. UNCLEAR ONLY → ASK MORE</a:t>
            </a:r>
          </a:p>
          <a:p>
            <a:pPr>
              <a:defRPr sz="900">
                <a:solidFill>
                  <a:srgbClr val="A3B8B0"/>
                </a:solidFill>
                <a:latin typeface="Inter"/>
              </a:defRPr>
            </a:pPr>
            <a:r>
              <a:t>Low brightness or blurry barcode (e.g. Case C). Prompts exact re-film checklist (1 retry limit).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78824" y="3977639"/>
            <a:ext cx="2560320" cy="1051560"/>
          </a:xfrm>
          <a:prstGeom prst="rect">
            <a:avLst/>
          </a:prstGeom>
          <a:solidFill>
            <a:srgbClr val="121F1B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34D399"/>
                </a:solidFill>
                <a:latin typeface="IBM Plex Mono"/>
              </a:defRPr>
            </a:pPr>
            <a:r>
              <a:t>4. ALL PASS → APPROVE REVIEW</a:t>
            </a:r>
          </a:p>
          <a:p>
            <a:pPr>
              <a:defRPr sz="900">
                <a:solidFill>
                  <a:srgbClr val="A3B8B0"/>
                </a:solidFill>
                <a:latin typeface="Inter"/>
              </a:defRPr>
            </a:pPr>
            <a:r>
              <a:t>All clauses pass (e.g. Case A). Prepares mock label and drafts refund in pending_return_receipt.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5166360"/>
            <a:ext cx="10728655" cy="868680"/>
          </a:xfrm>
          <a:prstGeom prst="rect">
            <a:avLst/>
          </a:prstGeom>
          <a:solidFill>
            <a:srgbClr val="121F1B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A3B8B0"/>
                </a:solidFill>
                <a:latin typeface="IBM Plex Mono"/>
              </a:defRPr>
            </a:pPr>
            <a:r>
              <a:t>■ Model Calls: Exactly 3 base calls per case (planner, vision, critic) plus retries  |  ■ Policy Clauses: Deterministic Python code rules P-01 to P-08, never prompts</a:t>
            </a:r>
          </a:p>
          <a:p>
            <a:pPr>
              <a:defRPr sz="900">
                <a:solidFill>
                  <a:srgbClr val="A3B8B0"/>
                </a:solidFill>
                <a:latin typeface="IBM Plex Mono"/>
              </a:defRPr>
            </a:pPr>
            <a:r>
              <a:t>■ Critic Duty: The critic reviews cited frames and flags unsupported observations  |  ■ Safety: Prompt injection cannot alter policy code or bypass human gate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223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33679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786E"/>
                </a:solidFill>
                <a:latin typeface="IBM Plex Mono"/>
              </a:defRPr>
            </a:pPr>
            <a:r>
              <a:t>Structured audit log recorded at every state transition · Decision priority: Contradiction &gt; Hard fail &gt; Unclear only &gt; All pass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633679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C786E"/>
                </a:solidFill>
                <a:latin typeface="IBM Plex Mono"/>
              </a:defRPr>
            </a:pPr>
            <a:r>
              <a:t>Slide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DEMO SCENARIOS · GROUNDED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Four scenarios. Four predictable behaviors.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596E64"/>
                </a:solidFill>
                <a:latin typeface="Inter"/>
              </a:defRPr>
            </a:pPr>
            <a:r>
              <a:t>Every decision can be clicked back to a frame, a clause, and a log entry.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368296"/>
            <a:ext cx="1554480" cy="420624"/>
          </a:xfrm>
          <a:prstGeom prst="rect">
            <a:avLst/>
          </a:prstGeom>
          <a:solidFill>
            <a:srgbClr val="E1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CASE A · READY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2258568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72621"/>
                </a:solidFill>
                <a:latin typeface="Inter"/>
              </a:defRPr>
            </a:pPr>
            <a:r>
              <a:t>ORD-1042 (₹1,499) · SKU matches manifest, tag visible, defect confirmed within 7-day window.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295144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6B55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258568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96E64"/>
                </a:solidFill>
                <a:latin typeface="Inter"/>
              </a:defRPr>
            </a:pPr>
            <a:r>
              <a:t>Seller approval releases mock return label and refund draft in pending_return_receipt, not executed refund.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45536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64992"/>
            <a:ext cx="1554480" cy="420624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91B1B"/>
                </a:solidFill>
                <a:latin typeface="IBM Plex Mono"/>
              </a:defRPr>
            </a:pPr>
            <a:r>
              <a:t>CASE B · MISMATCH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255264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72621"/>
                </a:solidFill>
                <a:latin typeface="Inter"/>
              </a:defRPr>
            </a:pPr>
            <a:r>
              <a:t>HEAD-WHT-02 (White) ordered vs Frame 00:07 showing Black item · SKU unverified.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29184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6B55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255264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96E64"/>
                </a:solidFill>
                <a:latin typeface="Inter"/>
              </a:defRPr>
            </a:pPr>
            <a:r>
              <a:t>ESCALATE (no label, no refund, no denial). Seller options: mis-shipment / box label / physical inspection.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142232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4361688"/>
            <a:ext cx="1554480" cy="420624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40AF"/>
                </a:solidFill>
                <a:latin typeface="IBM Plex Mono"/>
              </a:defRPr>
            </a:pPr>
            <a:r>
              <a:t>CASE C · UNCLEAR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25196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72621"/>
                </a:solidFill>
                <a:latin typeface="Inter"/>
              </a:defRPr>
            </a:pPr>
            <a:r>
              <a:t>4-second dark video, brightness 28, only 2 usable frames · Unclear evidence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288536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6B55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25196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96E64"/>
                </a:solidFill>
                <a:latin typeface="Inter"/>
              </a:defRPr>
            </a:pPr>
            <a:r>
              <a:t>Case stays open with exact re-film checklist. One retry limit prevents customer lock-out.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138928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5358384"/>
            <a:ext cx="1554480" cy="420624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5F46"/>
                </a:solidFill>
                <a:latin typeface="IBM Plex Mono"/>
              </a:defRPr>
            </a:pPr>
            <a:r>
              <a:t>CASE D ·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248656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72621"/>
                </a:solidFill>
                <a:latin typeface="Inter"/>
              </a:defRPr>
            </a:pPr>
            <a:r>
              <a:t>Parcel-to-product take: opening sealed parcel to product reveal in one continuous take.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285232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6B55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248656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96E64"/>
                </a:solidFill>
                <a:latin typeface="Inter"/>
              </a:defRPr>
            </a:pPr>
            <a:r>
              <a:t>Expected behavior: inspect sequence continuity and flag missing transitions for seller review.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33679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A8E85"/>
                </a:solidFill>
                <a:latin typeface="IBM Plex Mono"/>
              </a:defRPr>
            </a:pPr>
            <a:r>
              <a:t>Staged benchmark scenarios · Expected prototype behaviors, not measured production metrics · Cap: min(₹4,999, remaining refundable amount, order paid amount)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633679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A8E85"/>
                </a:solidFill>
                <a:latin typeface="IBM Plex Mono"/>
              </a:defRPr>
            </a:pPr>
            <a:r>
              <a:t>Slide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EXECUTION PLAN · TEAM ROOKIE (3 MEMBERS)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Built for a 24-hour sprint.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596E64"/>
                </a:solidFill>
                <a:latin typeface="Inter"/>
              </a:defRPr>
            </a:pPr>
            <a:r>
              <a:t>Buildable in 24 hours by 3 people, if the scope stays narrow.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25603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00h – 06h</a:t>
            </a:r>
          </a:p>
          <a:p>
            <a:pPr>
              <a:defRPr sz="1200" b="1">
                <a:solidFill>
                  <a:srgbClr val="172621"/>
                </a:solidFill>
                <a:latin typeface="Inter"/>
              </a:defRPr>
            </a:pPr>
            <a:r>
              <a:t>Mock APIs &amp; Agent Core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Person A (Backend)</a:t>
            </a:r>
            <a:br/>
            <a:r>
              <a:t>LangGraph skeleton, mock store/courier fixtures, order status route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48840"/>
            <a:ext cx="2560320" cy="36576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47288" y="2148840"/>
            <a:ext cx="25603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06h – 12h</a:t>
            </a:r>
          </a:p>
          <a:p>
            <a:pPr>
              <a:defRPr sz="1200" b="1">
                <a:solidFill>
                  <a:srgbClr val="172621"/>
                </a:solidFill>
                <a:latin typeface="Inter"/>
              </a:defRPr>
            </a:pPr>
            <a:r>
              <a:t>Evidence Pipeline &amp; Policy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Person B (Video &amp; UI)</a:t>
            </a:r>
            <a:br/>
            <a:r>
              <a:t>FFmpeg keyframe indexer, Python rules P-01 to P-08, critic prompt</a:t>
            </a:r>
          </a:p>
        </p:txBody>
      </p:sp>
      <p:sp>
        <p:nvSpPr>
          <p:cNvPr id="9" name="Rectangle 8"/>
          <p:cNvSpPr/>
          <p:nvPr/>
        </p:nvSpPr>
        <p:spPr>
          <a:xfrm>
            <a:off x="3447288" y="2148840"/>
            <a:ext cx="2560320" cy="36576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63056" y="2148840"/>
            <a:ext cx="25603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12h – 18h</a:t>
            </a:r>
          </a:p>
          <a:p>
            <a:pPr>
              <a:defRPr sz="1200" b="1">
                <a:solidFill>
                  <a:srgbClr val="172621"/>
                </a:solidFill>
                <a:latin typeface="Inter"/>
              </a:defRPr>
            </a:pPr>
            <a:r>
              <a:t>Integration &amp; 4 Scenarios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Person C (Integration)</a:t>
            </a:r>
            <a:br/>
            <a:r>
              <a:t>End-to-end wiring, 4 staged demo cases (A–D), seller console UI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3056" y="2148840"/>
            <a:ext cx="2560320" cy="36576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78824" y="2148840"/>
            <a:ext cx="25603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18h – 24h</a:t>
            </a:r>
          </a:p>
          <a:p>
            <a:pPr>
              <a:defRPr sz="1200" b="1">
                <a:solidFill>
                  <a:srgbClr val="172621"/>
                </a:solidFill>
                <a:latin typeface="Inter"/>
              </a:defRPr>
            </a:pPr>
            <a:r>
              <a:t>Testing, Polish &amp; Submission</a:t>
            </a:r>
          </a:p>
          <a:p>
            <a:pPr>
              <a:defRPr sz="950">
                <a:solidFill>
                  <a:srgbClr val="596E64"/>
                </a:solidFill>
                <a:latin typeface="Inter"/>
              </a:defRPr>
            </a:pPr>
            <a:r>
              <a:t>All 3 Members</a:t>
            </a:r>
            <a:br/>
            <a:r>
              <a:t>Fallback testing, edge cases, video walkthrough recording, README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78824" y="2148840"/>
            <a:ext cx="2560320" cy="36576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520440"/>
            <a:ext cx="5212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520440"/>
            <a:ext cx="73152" cy="1828800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6118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NEVER CUT (CORE ENGINE)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Deterministic policy engine (P-01 to P-08)</a:t>
            </a:r>
            <a:br/>
            <a:r>
              <a:t>• Evidence-pack frame citation</a:t>
            </a:r>
            <a:br/>
            <a:r>
              <a:t>• Fail-closed seller approval gate</a:t>
            </a:r>
            <a:br/>
            <a:r>
              <a:t>• Structured JSON audit log</a:t>
            </a:r>
            <a:br/>
            <a:r>
              <a:t>• 4 reproducible demo cases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8095" y="3520440"/>
            <a:ext cx="5212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8095" y="3520440"/>
            <a:ext cx="73152" cy="182880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6695" y="36118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5D39"/>
                </a:solidFill>
                <a:latin typeface="IBM Plex Mono"/>
              </a:defRPr>
            </a:pPr>
            <a:r>
              <a:t>CUT FIRST (DEFERRED EXPANSION)</a:t>
            </a:r>
          </a:p>
          <a:p>
            <a:pPr>
              <a:defRPr sz="1050">
                <a:solidFill>
                  <a:srgbClr val="172621"/>
                </a:solidFill>
                <a:latin typeface="Inter"/>
              </a:defRPr>
            </a:pPr>
            <a:r>
              <a:t>• Video OCR barcode scanner</a:t>
            </a:r>
            <a:br/>
            <a:r>
              <a:t>• Auto-drafted customer email reply</a:t>
            </a:r>
            <a:br/>
            <a:r>
              <a:t>• Seller analytics dashboard</a:t>
            </a:r>
            <a:br/>
            <a:r>
              <a:t>• Production payment gateways / live WhatsApp webhooks</a:t>
            </a:r>
            <a:br/>
            <a:r>
              <a:t>• Public cloud deployment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486400"/>
            <a:ext cx="10728655" cy="594360"/>
          </a:xfrm>
          <a:prstGeom prst="rect">
            <a:avLst/>
          </a:prstGeom>
          <a:solidFill>
            <a:srgbClr val="FAF8F5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i="1">
                <a:solidFill>
                  <a:srgbClr val="172621"/>
                </a:solidFill>
                <a:latin typeface="Inter"/>
              </a:defRPr>
            </a:pPr>
            <a:r>
              <a:t>“The winning hackathon agent is not the one with the most tool definitions. It is the one where every action is held to evidence, and the seller stays in control.”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33679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A8E85"/>
                </a:solidFill>
                <a:latin typeface="IBM Plex Mono"/>
              </a:defRPr>
            </a:pPr>
            <a:r>
              <a:t>Team Rookie (3 members) · PS-04 Autonomous Support Agent · 24-Hour Prototype Feasibility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633679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A8E85"/>
                </a:solidFill>
                <a:latin typeface="IBM Plex Mono"/>
              </a:defRPr>
            </a:pPr>
            <a:r>
              <a:t>Slide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