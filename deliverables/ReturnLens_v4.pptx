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Product Hero &amp; Executive Summary:</a:t>
            </a:r>
          </a:p>
          <a:p>
            <a:r>
              <a:t>- Track &amp; Fit: AgentX Hackathon 2026, Track PS-04 (Autonomous Support Agent for Online Sellers), Team Rookie (3 members).</a:t>
            </a:r>
          </a:p>
          <a:p>
            <a:r>
              <a:t>- Target Merchant: Solo direct-to-consumer (D2C) e-commerce sellers managing orders, shipping, and returns without dedicated support staff.</a:t>
            </a:r>
          </a:p>
          <a:p>
            <a:r>
              <a:t>- Core Friction: Solo sellers spend 15–20 minutes per return opening fragmented tabs (buyer chat, Shopify, Shippo tracking, store return policy). Return decisions are currently made from memory without unified evidence.</a:t>
            </a:r>
          </a:p>
          <a:p>
            <a:r>
              <a:t>- Our Thesis: "Models observe. Code verifies. Seller authorizes."</a:t>
            </a:r>
          </a:p>
          <a:p>
            <a:r>
              <a:t>- Technical Honesty: In the console mockup, observe the conservative metadata: "Potential casing damage flagged · Requires manual confirmation" rather than an ungrounded claim of incontrovertible defect.</a:t>
            </a:r>
          </a:p>
          <a:p>
            <a:r>
              <a:t>- Fail-Closed Safety: The system never autonomously transfers money. Return labels and refund drafts remain strictly in pending status until the human merchant reviews evidence and clicks authorization.</a:t>
            </a:r>
          </a:p>
          <a:p>
            <a:r>
              <a:t>- 24-Hour Hackathon Scope: Focused exclusively on return triage plus one zero-vision order status fast path (reusing store and courier APIs).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Problem Space &amp; The Four Disconnected Sources:</a:t>
            </a:r>
          </a:p>
          <a:p>
            <a:r>
              <a:t>- Problem: The return decision bottleneck is not an absent return policy; it is fragmented, unverified context.</a:t>
            </a:r>
          </a:p>
          <a:p>
            <a:r>
              <a:t>- Sources:</a:t>
            </a:r>
          </a:p>
          <a:p>
            <a:r>
              <a:t>  1. Customer Claim in chat (unverified claims, emotional text).</a:t>
            </a:r>
          </a:p>
          <a:p>
            <a:r>
              <a:t>  2. Order Truth in Shopify store (SKU HEAD-WHT-02, price ₹4,999).</a:t>
            </a:r>
          </a:p>
          <a:p>
            <a:r>
              <a:t>  3. Tracking Scan in Shippo courier API (delivered 4 days ago).</a:t>
            </a:r>
          </a:p>
          <a:p>
            <a:r>
              <a:t>  4. Store Return Policy document (7-day defect window, security tag required).</a:t>
            </a:r>
          </a:p>
          <a:p>
            <a:r>
              <a:t>- Central Gap: "Four systems. No traceable decision." Sellers decide returns from memory today. No single record ties video frames, store orders, and shipping status into an immutable decision trace.</a:t>
            </a:r>
          </a:p>
          <a:p>
            <a:r>
              <a:t>- Fraud Metrics Defense: Strict fraud is 9% (NRF 2025, fraud only), while fraud + abuse is 15.14% (Appriss/Deloitte 2024). They represent fundamentally different measurement scopes and must never be merged.</a:t>
            </a:r>
          </a:p>
          <a:p>
            <a:r>
              <a:t>- Asymmetric Merchant Risk: Wrong refund loses inventory and gross margin; unfair denial destroys customer lifetime value (LTV).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The Star Demo &amp; Technical Honesty in Vision Citation:</a:t>
            </a:r>
          </a:p>
          <a:p>
            <a:r>
              <a:t>- Core Benchmark Scenario (Case B): Buyer ordered white headphones (HEAD-WHT-02, ₹4,999), but unboxing frame 00:07 shows black headphones.</a:t>
            </a:r>
          </a:p>
          <a:p>
            <a:r>
              <a:t>- Grounding &amp; Honesty: The agent does NOT claim to read an unreadable SKU barcode from frame 00:07. It states factually: "Observed Color: Midnight Black · Exact SKU: Not verified · Tag: Not visible in cited frame".</a:t>
            </a:r>
          </a:p>
          <a:p>
            <a:r>
              <a:t>- Decision Logic: Seeing a black item when white was ordered is an undeniable visual contradiction against the manifest. Instead of auto-denying the customer (which might alienate an honest buyer if the warehouse mis-shipped), the policy engine triggers ESCALATE.</a:t>
            </a:r>
          </a:p>
          <a:p>
            <a:r>
              <a:t>- Three Merchant Decision Options:</a:t>
            </a:r>
          </a:p>
          <a:p>
            <a:r>
              <a:t>  1. Request unboxing video with packaging label / serial number visible.</a:t>
            </a:r>
          </a:p>
          <a:p>
            <a:r>
              <a:t>  2. Reject return under Clause 4.2 (Item does not match order record).</a:t>
            </a:r>
          </a:p>
          <a:p>
            <a:r>
              <a:t>  3. Override &amp; approve if seller acknowledges known warehouse fulfillment error.</a:t>
            </a:r>
          </a:p>
          <a:p>
            <a:r>
              <a:t>- Fail-Closed Financial Gate:</a:t>
            </a:r>
          </a:p>
          <a:p>
            <a:r>
              <a:t>  max_refund = min(₹4,999, remaining refundable amount, order paid amount).</a:t>
            </a:r>
          </a:p>
          <a:p>
            <a:r>
              <a:t>  No refund money is released without explicit seller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System Architecture, Agentic Governance &amp; Technical Q&amp;A Defense:</a:t>
            </a:r>
          </a:p>
          <a:p>
            <a:r>
              <a:t>- Philosophy: "Models observe. Code verifies. Seller authorizes."</a:t>
            </a:r>
          </a:p>
          <a:p/>
          <a:p>
            <a:r>
              <a:t>- DEFENSE QUESTION 1: Why is this an agent rather than a hardcoded workflow?</a:t>
            </a:r>
          </a:p>
          <a:p>
            <a:r>
              <a:t>  ReturnLens is an autonomous state machine with dynamic action selection, multi-modal observation, and stateful lifecycle management.</a:t>
            </a:r>
          </a:p>
          <a:p>
            <a:r>
              <a:t>  In Case C, when a customer submits a dark/blurry video (average brightness 28), the agent does NOT simply fail or run a static linear chain. It inspects the frames, determines evidence is insufficient under Policy P-05, dynamically decides to invoke ask_for_evidence() with specific re-filming guidance, transitions the ticket to WAITING_FOR_EVIDENCE, pauses execution while retaining state and order context, and resumes the exact triage session when new media arrives.</a:t>
            </a:r>
          </a:p>
          <a:p>
            <a:r>
              <a:t>  Conversely, for routine "Where is my order?" requests, the agent selects the zero-vision fast path, querying mock Shopify and Shippo APIs directly without invoking heavy vision models.</a:t>
            </a:r>
          </a:p>
          <a:p/>
          <a:p>
            <a:r>
              <a:t>- DEFENSE QUESTION 2: What happens if vision or critic models hallucinate?</a:t>
            </a:r>
          </a:p>
          <a:p>
            <a:r>
              <a:t>  Vision models produce non-binding observation metadata, never authoritative decisions. Hard business rules (return windows from carrier delivery timestamps, SKU comparisons) are executed in deterministic Python code (P-01 to P-08), which cannot be jailbroken by customer prompts.</a:t>
            </a:r>
          </a:p>
          <a:p>
            <a:r>
              <a:t>  The critic provides an adversarial sanity check against cited timestamps. If both vision and critic experience correlated hallucinations, the fail-closed human seller gate guarantees that no refund or return label can ever be issued without seller review.</a:t>
            </a:r>
          </a:p>
          <a:p/>
          <a:p>
            <a:r>
              <a:t>- DEFENSE QUESTION 3: How do you prevent duplicate or incorrect refunds?</a:t>
            </a:r>
          </a:p>
          <a:p>
            <a:r>
              <a:t>  Refund transactions are enforced at the backend policy layer:</a:t>
            </a:r>
          </a:p>
          <a:p>
            <a:r>
              <a:t>  1. Idempotency keys (hash(order_id, return_id, transaction_type)) prevent double-execution.</a:t>
            </a:r>
          </a:p>
          <a:p>
            <a:r>
              <a:t>  2. Ledgers track cumulative refunded amounts against total order value: 0 &lt; amount &lt;= min(₹4,999, remaining_refundable_amount, order_paid_amount).</a:t>
            </a:r>
          </a:p>
          <a:p>
            <a:r>
              <a:t>  3. LLMs possess zero capability to call payment gateways directly; all actions produce draft state objects awaiting merchant authorization.</a:t>
            </a:r>
          </a:p>
          <a:p/>
          <a:p>
            <a:r>
              <a:t>- Bounded Execution: Exactly 3 base model calls per triage case (Planner, Vision, Critic) plus retries.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Four Reproducible Benchmark Scenarios:</a:t>
            </a:r>
          </a:p>
          <a:p>
            <a:r>
              <a:t>- Note on Grounding: These four scenarios represent staged prototype test suites and deterministic expected behaviors, NOT ungrounded production field metrics.</a:t>
            </a:r>
          </a:p>
          <a:p>
            <a:r>
              <a:t>- Case A (Clean Claim): All rules pass (within 7d, SKU matches manifest, tag visible, physical crack observed). System drafts return shipping label and refund draft in 'pending_return_receipt' state. No refund money is transferred until physical warehouse receipt.</a:t>
            </a:r>
          </a:p>
          <a:p>
            <a:r>
              <a:t>- Case B (Contradiction): Color mismatch detected (ordered white, unboxed black). System prevents auto-rejection and routes to seller review with 3 concrete resolution options.</a:t>
            </a:r>
          </a:p>
          <a:p>
            <a:r>
              <a:t>- Case C (Unclear / Agentic Loop): Dark video (28/255 avg brightness). Instead of auto-denying, the agent provides a clear checklist, transitions to WAITING_FOR_EVIDENCE, and resumes on upload (1 retry limit protects customers from infinite loops).</a:t>
            </a:r>
          </a:p>
          <a:p>
            <a:r>
              <a:t>- Case D (Continuity): Expected prototype behavior: inspect parcel-to-product sequence to flag suspicious cut-aways or missing transitions.</a:t>
            </a:r>
          </a:p>
          <a:p>
            <a:r>
              <a:t>- Financial Cap Formula: min(₹4,999, remaining refundable amount, order paid amount) strictly prevents over-refunding.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24-Hour Sprint Feasibility, Ownership &amp; Strict Scope Guardrails:</a:t>
            </a:r>
          </a:p>
          <a:p>
            <a:r>
              <a:t>- Feasibility Argument: Why is ReturnLens realistically buildable in 24 hours by 3 engineers?</a:t>
            </a:r>
          </a:p>
          <a:p>
            <a:r>
              <a:t>  1. No live external production dependencies: deterministic mock APIs for Shopify &amp; Shippo eliminate external latency and flakiness.</a:t>
            </a:r>
          </a:p>
          <a:p>
            <a:r>
              <a:t>  2. Clear division of labor with single-threaded ownership across 3 teammates:</a:t>
            </a:r>
          </a:p>
          <a:p>
            <a:r>
              <a:t>     - Person A (Backend): LangGraph state graph, mock store/courier fixtures, order-status route, state serialization.</a:t>
            </a:r>
          </a:p>
          <a:p>
            <a:r>
              <a:t>     - Person B (Video &amp; UI): FFmpeg keyframe extraction, deterministic rules P-01 to P-08, critic prompt, seller console.</a:t>
            </a:r>
          </a:p>
          <a:p>
            <a:r>
              <a:t>     - Person C (Integration &amp; Validation): Clarification/resume loop, 4 staged demo cases (A-D), authorization boundary tests, demo video recording, README.</a:t>
            </a:r>
          </a:p>
          <a:p>
            <a:r>
              <a:t>  3. Strict Scope Discipline:</a:t>
            </a:r>
          </a:p>
          <a:p>
            <a:r>
              <a:t>     - NEVER CUT: Core policy engine, frame citations, seller authorization gate, structured audit log, clarification/resume loop, 4 demo cases.</a:t>
            </a:r>
          </a:p>
          <a:p>
            <a:r>
              <a:t>     - CUT FIRST IF BEHIND: Real carrier webhooks, multi-product order parsing, video OCR barcode scanning, production payment gateways, seller analytics dashboards.</a:t>
            </a:r>
          </a:p>
          <a:p>
            <a:r>
              <a:t>- Winning Philosophy: "The winning hackathon agent is not the one with the most tool definitions. It is the one where every action is held to evidence, and the seller stays in control."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IBM Plex Mono"/>
              </a:defRPr>
            </a:pPr>
            <a:r>
              <a:t>RETURNLENS · PRODUCT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5669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72621"/>
                </a:solidFill>
                <a:latin typeface="Inter"/>
              </a:defRPr>
            </a:pPr>
            <a:r>
              <a:t>RETURNLENS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669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2621"/>
                </a:solidFill>
                <a:latin typeface="Inter"/>
              </a:defRPr>
            </a:pPr>
            <a:r>
              <a:t>Every return decision, backed by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669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6E64"/>
                </a:solidFill>
                <a:latin typeface="Inter"/>
              </a:defRPr>
            </a:pPr>
            <a:r>
              <a:t>Solo online sellers lose 15–20 minutes per return deciding from memory across disconnected tabs.</a:t>
            </a:r>
            <a:br/>
            <a:br/>
            <a:r>
              <a:t>ReturnLens indexes unboxing video keyframes, matches store orders, applies deterministic policy rules, and presents a 1-click decision console to the merchant.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669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B55"/>
                </a:solidFill>
                <a:latin typeface="IBM Plex Mono"/>
              </a:defRPr>
            </a:pPr>
            <a:r>
              <a:t>AgentX Hackathon 2026 · PS-04 Track · Team Rookie (3 Members)</a:t>
            </a:r>
          </a:p>
          <a:p>
            <a:pPr>
              <a:defRPr sz="1000">
                <a:solidFill>
                  <a:srgbClr val="172621"/>
                </a:solidFill>
                <a:latin typeface="Inter"/>
              </a:defRPr>
            </a:pPr>
            <a:r>
              <a:t>Thesis: Models observe. Code verifies. Seller authorizes.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46320"/>
            <a:ext cx="1737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D95D39"/>
                </a:solidFill>
                <a:latin typeface="Inter"/>
              </a:defRPr>
            </a:pPr>
            <a:r>
              <a:t>15–20m</a:t>
            </a:r>
          </a:p>
          <a:p>
            <a:pPr>
              <a:defRPr sz="900">
                <a:solidFill>
                  <a:srgbClr val="596E64"/>
                </a:solidFill>
                <a:latin typeface="Inter"/>
              </a:defRPr>
            </a:pPr>
            <a:r>
              <a:t>Current manual triage time per return ticket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846320"/>
            <a:ext cx="1737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6B55"/>
                </a:solidFill>
                <a:latin typeface="Inter"/>
              </a:defRPr>
            </a:pPr>
            <a:r>
              <a:t>1-Click</a:t>
            </a:r>
          </a:p>
          <a:p>
            <a:pPr>
              <a:defRPr sz="900">
                <a:solidFill>
                  <a:srgbClr val="596E64"/>
                </a:solidFill>
                <a:latin typeface="Inter"/>
              </a:defRPr>
            </a:pPr>
            <a:r>
              <a:t>Merchant decision with cited keyframe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4846320"/>
            <a:ext cx="1737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72621"/>
                </a:solidFill>
                <a:latin typeface="Inter"/>
              </a:defRPr>
            </a:pPr>
            <a:r>
              <a:t>24h</a:t>
            </a:r>
          </a:p>
          <a:p>
            <a:pPr>
              <a:defRPr sz="900">
                <a:solidFill>
                  <a:srgbClr val="596E64"/>
                </a:solidFill>
                <a:latin typeface="Inter"/>
              </a:defRPr>
            </a:pPr>
            <a:r>
              <a:t>Prototype feasibility for 3-member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777240"/>
            <a:ext cx="469361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777240"/>
            <a:ext cx="4693615" cy="502920"/>
          </a:xfrm>
          <a:prstGeom prst="rect">
            <a:avLst/>
          </a:prstGeom>
          <a:solidFill>
            <a:srgbClr val="1F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D1A7"/>
                </a:solidFill>
                <a:latin typeface="IBM Plex Mono"/>
              </a:defRPr>
            </a:pPr>
            <a:r>
              <a:t>RETURNLENS SELLER CONSOLE  ·  CASE #RT-1042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1417320"/>
            <a:ext cx="2179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7A8E85"/>
                </a:solidFill>
                <a:latin typeface="IBM Plex Mono"/>
              </a:defRPr>
            </a:pPr>
            <a:r>
              <a:t>ORDER INFORMATION</a:t>
            </a:r>
          </a:p>
          <a:p>
            <a:pPr>
              <a:defRPr sz="1050" b="1">
                <a:solidFill>
                  <a:srgbClr val="172621"/>
                </a:solidFill>
                <a:latin typeface="Inter"/>
              </a:defRPr>
            </a:pPr>
            <a:r>
              <a:t>Order #ORD-8821</a:t>
            </a:r>
            <a:br/>
            <a:r>
              <a:t>SKU: HEAD-WHT-02 (White)</a:t>
            </a:r>
            <a:br/>
            <a:r>
              <a:t>Price: ₹4,999 · Delivered 4d ago</a:t>
            </a:r>
          </a:p>
          <a:p>
            <a:br/>
            <a:pPr>
              <a:defRPr sz="900" b="1">
                <a:solidFill>
                  <a:srgbClr val="7A8E85"/>
                </a:solidFill>
                <a:latin typeface="IBM Plex Mono"/>
              </a:defRPr>
            </a:pPr>
            <a:r>
              <a:t>VIDEO EVIDENCE CITATION</a:t>
            </a:r>
          </a:p>
          <a:p>
            <a:pPr>
              <a:defRPr sz="1100" b="1">
                <a:solidFill>
                  <a:srgbClr val="172621"/>
                </a:solidFill>
                <a:latin typeface="Inter"/>
              </a:defRPr>
            </a:pPr>
            <a:r>
              <a:t>Inspection Frame 00:14</a:t>
            </a:r>
          </a:p>
          <a:p>
            <a:pPr>
              <a:defRPr sz="950">
                <a:solidFill>
                  <a:srgbClr val="596E64"/>
                </a:solidFill>
                <a:latin typeface="Inter"/>
              </a:defRPr>
            </a:pPr>
            <a:r>
              <a:t>Potential casing damage flagged · Requires manual confirmation</a:t>
            </a:r>
          </a:p>
          <a:p>
            <a:br/>
            <a:pPr>
              <a:defRPr sz="900" b="1">
                <a:solidFill>
                  <a:srgbClr val="7A8E85"/>
                </a:solidFill>
                <a:latin typeface="IBM Plex Mono"/>
              </a:defRPr>
            </a:pPr>
            <a:r>
              <a:t>POLICY VERIFICATION</a:t>
            </a:r>
          </a:p>
          <a:p>
            <a:pPr>
              <a:defRPr sz="1000" b="1">
                <a:solidFill>
                  <a:srgbClr val="92400E"/>
                </a:solidFill>
                <a:latin typeface="Inter"/>
              </a:defRPr>
            </a:pPr>
            <a:r>
              <a:t>P-01 Defect Check: FLAGGED FOR REVIEW</a:t>
            </a:r>
            <a:br/>
            <a:r>
              <a:t>P-04 Return Window: PASS (Day 4 of 7)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709160"/>
            <a:ext cx="4327855" cy="3657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92400E"/>
                </a:solidFill>
                <a:latin typeface="IBM Plex Mono"/>
              </a:defRPr>
            </a:pPr>
            <a:r>
              <a:t>STATUS: READY FOR SELLER REVIEW (FLAGGED)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5212080"/>
            <a:ext cx="4327855" cy="502920"/>
          </a:xfrm>
          <a:prstGeom prst="rect">
            <a:avLst/>
          </a:prstGeom>
          <a:solidFill>
            <a:srgbClr val="00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Review Evidence &amp; Authorize Draft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367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E85"/>
                </a:solidFill>
                <a:latin typeface="IBM Plex Mono"/>
              </a:defRPr>
            </a:pPr>
            <a:r>
              <a:t>ReturnLens · Idea Pitch Deck · PS-04 · Team Rookie (3 members)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6336792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E85"/>
                </a:solidFill>
                <a:latin typeface="IBM Plex Mono"/>
              </a:defRPr>
            </a:pPr>
            <a:r>
              <a:t>Slide 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IBM Plex Mono"/>
              </a:defRPr>
            </a:pPr>
            <a:r>
              <a:t>THE PROBLEM · SOLO SELLER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72621"/>
                </a:solidFill>
                <a:latin typeface="Inter"/>
              </a:defRPr>
            </a:pPr>
            <a:r>
              <a:t>One return decision. Four disconnected 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6E64"/>
                </a:solidFill>
                <a:latin typeface="Inter"/>
              </a:defRPr>
            </a:pPr>
            <a:r>
              <a:t>Sellers decide returns from memory today. ReturnLens assembles one trace before money moves.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329184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B55"/>
                </a:solidFill>
                <a:latin typeface="IBM Plex Mono"/>
              </a:defRPr>
            </a:pPr>
            <a:r>
              <a:t>01 BUYER VIDEO &amp; CLAIM</a:t>
            </a:r>
          </a:p>
          <a:p>
            <a:pPr>
              <a:defRPr sz="1300" b="1">
                <a:solidFill>
                  <a:srgbClr val="172621"/>
                </a:solidFill>
                <a:latin typeface="Inter"/>
              </a:defRPr>
            </a:pPr>
            <a:r>
              <a:t>Unverified Customer Claims</a:t>
            </a:r>
          </a:p>
          <a:p>
            <a:pPr>
              <a:defRPr sz="1000">
                <a:solidFill>
                  <a:srgbClr val="596E64"/>
                </a:solidFill>
                <a:latin typeface="Inter"/>
              </a:defRPr>
            </a:pPr>
            <a:r>
              <a:t>Subjective descriptions in chat; videos are unindexed and skipped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97680"/>
            <a:ext cx="329184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B55"/>
                </a:solidFill>
                <a:latin typeface="IBM Plex Mono"/>
              </a:defRPr>
            </a:pPr>
            <a:r>
              <a:t>03 COURIER TRACKING</a:t>
            </a:r>
          </a:p>
          <a:p>
            <a:pPr>
              <a:defRPr sz="1300" b="1">
                <a:solidFill>
                  <a:srgbClr val="172621"/>
                </a:solidFill>
                <a:latin typeface="Inter"/>
              </a:defRPr>
            </a:pPr>
            <a:r>
              <a:t>Delivered 4 Days Ago</a:t>
            </a:r>
          </a:p>
          <a:p>
            <a:pPr>
              <a:defRPr sz="1000">
                <a:solidFill>
                  <a:srgbClr val="596E64"/>
                </a:solidFill>
                <a:latin typeface="Inter"/>
              </a:defRPr>
            </a:pPr>
            <a:r>
              <a:t>Shippo mock tracking API scan timestamp verification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377440"/>
            <a:ext cx="3779215" cy="3657600"/>
          </a:xfrm>
          <a:prstGeom prst="rect">
            <a:avLst/>
          </a:prstGeom>
          <a:solidFill>
            <a:srgbClr val="172621"/>
          </a:solidFill>
          <a:ln w="25400">
            <a:solidFill>
              <a:srgbClr val="D95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95D39"/>
                </a:solidFill>
                <a:latin typeface="IBM Plex Mono"/>
              </a:defRPr>
            </a:pPr>
            <a:r>
              <a:t>CRITICAL INFORMATION GAP</a:t>
            </a:r>
          </a:p>
          <a:p>
            <a:pPr algn="ctr">
              <a:defRPr sz="1600" b="1">
                <a:solidFill>
                  <a:srgbClr val="F5F3EF"/>
                </a:solidFill>
                <a:latin typeface="Inter"/>
              </a:defRPr>
            </a:pPr>
            <a:r>
              <a:t>Four systems. No traceable decision.</a:t>
            </a:r>
          </a:p>
          <a:p>
            <a:pPr algn="ctr">
              <a:defRPr sz="1100" b="1">
                <a:solidFill>
                  <a:srgbClr val="00D1A7"/>
                </a:solidFill>
                <a:latin typeface="IBM Plex Mono"/>
              </a:defRPr>
            </a:pPr>
            <a:r>
              <a:t>NO SHARED EVIDENCE RECORD</a:t>
            </a:r>
          </a:p>
          <a:p>
            <a:br/>
            <a:pPr algn="ctr">
              <a:defRPr sz="1000">
                <a:solidFill>
                  <a:srgbClr val="D1D5DB"/>
                </a:solidFill>
                <a:latin typeface="Inter"/>
              </a:defRPr>
            </a:pPr>
            <a:r>
              <a:t>Today the seller opens 4 tabs, then decides alone. A wrong refund loses inventory; an unfair denial loses a repeat customer.</a:t>
            </a:r>
            <a:br/>
            <a:br/>
            <a:r>
              <a:t>The gap is not a missing returns portal, but the absence of a unified record connecting order, video frames, courier scans, and policy terms.</a:t>
            </a:r>
          </a:p>
          <a:p>
            <a:br/>
            <a:pPr algn="ctr">
              <a:defRPr sz="1400" b="1">
                <a:solidFill>
                  <a:srgbClr val="D95D39"/>
                </a:solidFill>
                <a:latin typeface="Inter"/>
              </a:defRPr>
            </a:pPr>
            <a:r>
              <a:t>9.0% vs 15.14%</a:t>
            </a:r>
          </a:p>
          <a:p>
            <a:pPr algn="ctr">
              <a:defRPr sz="850">
                <a:solidFill>
                  <a:srgbClr val="9CA3AF"/>
                </a:solidFill>
                <a:latin typeface="Inter"/>
              </a:defRPr>
            </a:pPr>
            <a:r>
              <a:t>9% Return Fraud (NRF 2025, fraud only)  |  15.14% (Appriss/Deloitte 2024, fraud + abuse)</a:t>
            </a:r>
            <a:br/>
            <a:r>
              <a:t>Definitions differ: strict fraud vs fraud combined with policy abuse.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8335" y="2377440"/>
            <a:ext cx="329184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B55"/>
                </a:solidFill>
                <a:latin typeface="IBM Plex Mono"/>
              </a:defRPr>
            </a:pPr>
            <a:r>
              <a:t>02 ORDER RECORD</a:t>
            </a:r>
          </a:p>
          <a:p>
            <a:pPr>
              <a:defRPr sz="1300" b="1">
                <a:solidFill>
                  <a:srgbClr val="172621"/>
                </a:solidFill>
                <a:latin typeface="Inter"/>
              </a:defRPr>
            </a:pPr>
            <a:r>
              <a:t>White Headphones · ₹4,999</a:t>
            </a:r>
          </a:p>
          <a:p>
            <a:pPr>
              <a:defRPr sz="1000">
                <a:solidFill>
                  <a:srgbClr val="596E64"/>
                </a:solidFill>
                <a:latin typeface="Inter"/>
              </a:defRPr>
            </a:pPr>
            <a:r>
              <a:t>Shopify mock store API product inventory catalog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68335" y="4297680"/>
            <a:ext cx="329184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B55"/>
                </a:solidFill>
                <a:latin typeface="IBM Plex Mono"/>
              </a:defRPr>
            </a:pPr>
            <a:r>
              <a:t>04 RETURN POLICY</a:t>
            </a:r>
          </a:p>
          <a:p>
            <a:pPr>
              <a:defRPr sz="1300" b="1">
                <a:solidFill>
                  <a:srgbClr val="172621"/>
                </a:solidFill>
                <a:latin typeface="Inter"/>
              </a:defRPr>
            </a:pPr>
            <a:r>
              <a:t>7-Day Window · Sealed Tag</a:t>
            </a:r>
          </a:p>
          <a:p>
            <a:pPr>
              <a:defRPr sz="1000">
                <a:solidFill>
                  <a:srgbClr val="596E64"/>
                </a:solidFill>
                <a:latin typeface="Inter"/>
              </a:defRPr>
            </a:pPr>
            <a:r>
              <a:t>Deterministic code rules P-01 to P-08, never prompts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367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E85"/>
                </a:solidFill>
                <a:latin typeface="IBM Plex Mono"/>
              </a:defRPr>
            </a:pPr>
            <a:r>
              <a:t>Fraud estimates differ by definition: 9% (NRF 2025, fraud only) vs 15.14% (Appriss/Deloitte 2024, fraud + abuse).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336792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E85"/>
                </a:solidFill>
                <a:latin typeface="IBM Plex Mono"/>
              </a:defRPr>
            </a:pPr>
            <a:r>
              <a:t>Slide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IBM Plex Mono"/>
              </a:defRPr>
            </a:pPr>
            <a:r>
              <a:t>STAR DEMO · VISUAL GROUNDING &amp; COLOR CONTRADICTION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72621"/>
                </a:solidFill>
                <a:latin typeface="Inter"/>
              </a:defRPr>
            </a:pPr>
            <a:r>
              <a:t>The order says white. The video shows black.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6E64"/>
                </a:solidFill>
                <a:latin typeface="Inter"/>
              </a:defRPr>
            </a:pPr>
            <a:r>
              <a:t>ReturnLens extracts keyframes, flags color discrepancies, and halts auto-payout for seller approval.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676656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983480"/>
            <a:ext cx="3108960" cy="320040"/>
          </a:xfrm>
          <a:prstGeom prst="rect">
            <a:avLst/>
          </a:prstGeom>
          <a:solidFill>
            <a:srgbClr val="E1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B55"/>
                </a:solidFill>
                <a:latin typeface="IBM Plex Mono"/>
              </a:defRPr>
            </a:pPr>
            <a:r>
              <a:t>ORDER MANIFEST: WHITE HEADPHONES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4983480"/>
            <a:ext cx="3108960" cy="320040"/>
          </a:xfrm>
          <a:prstGeom prst="rect">
            <a:avLst/>
          </a:prstGeom>
          <a:solidFill>
            <a:srgbClr val="F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5D39"/>
                </a:solidFill>
                <a:latin typeface="IBM Plex Mono"/>
              </a:defRPr>
            </a:pPr>
            <a:r>
              <a:t>UNBOXING KEYFRAME 00:07: BLACK 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596E64"/>
                </a:solidFill>
                <a:latin typeface="Inter"/>
              </a:defRPr>
            </a:pPr>
            <a:r>
              <a:t>Visual Grounding Honesty: Keyframe resolution reveals black casing. Exact SKU barcode is unreadable in this frame; ReturnLens factually records 'Observed Color: Black · Exact SKU: Not verified' and cites frame 00:07.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2148840"/>
            <a:ext cx="3733495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59" y="2286000"/>
            <a:ext cx="336773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5D39"/>
                </a:solidFill>
                <a:latin typeface="IBM Plex Mono"/>
              </a:defRPr>
            </a:pPr>
            <a:r>
              <a:t>DETERMINISTIC POLICY GATE</a:t>
            </a:r>
          </a:p>
          <a:p>
            <a:pPr>
              <a:defRPr sz="1400" b="1">
                <a:solidFill>
                  <a:srgbClr val="991B1B"/>
                </a:solidFill>
                <a:latin typeface="Inter"/>
              </a:defRPr>
            </a:pPr>
            <a:r>
              <a:t>P-03 Check: COLOR CONTRADICTION</a:t>
            </a:r>
          </a:p>
          <a:p>
            <a:pPr>
              <a:defRPr sz="850" b="1">
                <a:solidFill>
                  <a:srgbClr val="991B1B"/>
                </a:solidFill>
                <a:latin typeface="IBM Plex Mono"/>
              </a:defRPr>
            </a:pPr>
            <a:r>
              <a:t>STATUS: ESCALATE (SELLER REVIEW REQUIRED)</a:t>
            </a:r>
            <a:br/>
            <a:r>
              <a:t>Observed Color: Midnight Black · Exact SKU: Not verified</a:t>
            </a:r>
          </a:p>
          <a:p>
            <a:pPr>
              <a:defRPr sz="950">
                <a:solidFill>
                  <a:srgbClr val="596E64"/>
                </a:solidFill>
                <a:latin typeface="Inter"/>
              </a:defRPr>
            </a:pPr>
            <a:r>
              <a:t>Customer claim contradicts visual evidence. Automated return label and refund payout are inhibited.</a:t>
            </a:r>
          </a:p>
          <a:p>
            <a:br/>
            <a:pPr>
              <a:defRPr sz="900">
                <a:solidFill>
                  <a:srgbClr val="172621"/>
                </a:solidFill>
                <a:latin typeface="Inter"/>
              </a:defRPr>
            </a:pPr>
            <a:r>
              <a:t>Seller Resolution Options:</a:t>
            </a:r>
            <a:br/>
            <a:r>
              <a:t>1. Request unboxing video with packaging label / serial visible</a:t>
            </a:r>
            <a:br/>
            <a:r>
              <a:t>2. Reject return under Clause 4.2 (Item does not match order)</a:t>
            </a:r>
            <a:br/>
            <a:r>
              <a:t>3. Override &amp; approve if seller acknowledges warehouse error</a:t>
            </a:r>
          </a:p>
          <a:p>
            <a:br/>
            <a:pPr>
              <a:defRPr sz="850">
                <a:solidFill>
                  <a:srgbClr val="596E64"/>
                </a:solidFill>
                <a:latin typeface="IBM Plex Mono"/>
              </a:defRPr>
            </a:pPr>
            <a:r>
              <a:t>Financial Safety Ceiling:</a:t>
            </a:r>
            <a:br/>
            <a:r>
              <a:t>max_refund = min(₹4,999, remaining refundable, order paid amount)</a:t>
            </a:r>
            <a:br/>
            <a:r>
              <a:t>No automatic customer denial · No refund released without seller click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367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E85"/>
                </a:solidFill>
                <a:latin typeface="IBM Plex Mono"/>
              </a:defRPr>
            </a:pPr>
            <a:r>
              <a:t>Illustrative staged evidence · Mock Shopify &amp; Shippo 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336792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E85"/>
                </a:solidFill>
                <a:latin typeface="IBM Plex Mono"/>
              </a:defRPr>
            </a:pPr>
            <a:r>
              <a:t>Slide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1A7"/>
                </a:solidFill>
                <a:latin typeface="IBM Plex Mono"/>
              </a:defRPr>
            </a:pPr>
            <a:r>
              <a:t>SYSTEM ARCHITECTURE · DYNAMIC AGENTIC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3EF"/>
                </a:solidFill>
                <a:latin typeface="Inter"/>
              </a:defRPr>
            </a:pPr>
            <a:r>
              <a:t>Models observe. Code verifies. Seller authorizes.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A3B8B0"/>
                </a:solidFill>
                <a:latin typeface="Inter"/>
              </a:defRPr>
            </a:pPr>
            <a:r>
              <a:t>Dynamic action selection and stateful resumption under deterministic human authorization.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1600200" cy="1051560"/>
          </a:xfrm>
          <a:prstGeom prst="rect">
            <a:avLst/>
          </a:prstGeom>
          <a:solidFill>
            <a:srgbClr val="172621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6C8279"/>
                </a:solidFill>
                <a:latin typeface="IBM Plex Mono"/>
              </a:defRPr>
            </a:pPr>
            <a:r>
              <a:t>01 PLAN</a:t>
            </a:r>
          </a:p>
          <a:p>
            <a:pPr>
              <a:defRPr sz="1100" b="1">
                <a:solidFill>
                  <a:srgbClr val="F5F3EF"/>
                </a:solidFill>
                <a:latin typeface="Inter"/>
              </a:defRPr>
            </a:pPr>
            <a:r>
              <a:t>Planner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1600200" cy="36576"/>
          </a:xfrm>
          <a:prstGeom prst="rect">
            <a:avLst/>
          </a:prstGeom>
          <a:solidFill>
            <a:srgbClr val="00D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587751"/>
            <a:ext cx="1417320" cy="237744"/>
          </a:xfrm>
          <a:prstGeom prst="rect">
            <a:avLst/>
          </a:prstGeom>
          <a:solidFill>
            <a:srgbClr val="003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D1A7"/>
                </a:solidFill>
                <a:latin typeface="IBM Plex Mono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194559"/>
            <a:ext cx="219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D1A7"/>
                </a:solidFill>
                <a:latin typeface="IBM Plex Mono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1176" y="1874519"/>
            <a:ext cx="1600200" cy="1051560"/>
          </a:xfrm>
          <a:prstGeom prst="rect">
            <a:avLst/>
          </a:prstGeom>
          <a:solidFill>
            <a:srgbClr val="172621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6C8279"/>
                </a:solidFill>
                <a:latin typeface="IBM Plex Mono"/>
              </a:defRPr>
            </a:pPr>
            <a:r>
              <a:t>02 RETRIEVE</a:t>
            </a:r>
          </a:p>
          <a:p>
            <a:pPr>
              <a:defRPr sz="1100" b="1">
                <a:solidFill>
                  <a:srgbClr val="F5F3EF"/>
                </a:solidFill>
                <a:latin typeface="Inter"/>
              </a:defRPr>
            </a:pPr>
            <a:r>
              <a:t>Tools &amp; Video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1176" y="1874519"/>
            <a:ext cx="1600200" cy="36576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42616" y="2587751"/>
            <a:ext cx="1417320" cy="237744"/>
          </a:xfrm>
          <a:prstGeom prst="rect">
            <a:avLst/>
          </a:prstGeom>
          <a:solidFill>
            <a:srgbClr val="263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F3EF"/>
                </a:solidFill>
                <a:latin typeface="IBM Plex Mono"/>
              </a:defRPr>
            </a:pPr>
            <a:r>
              <a:t>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1376" y="2194559"/>
            <a:ext cx="219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D1A7"/>
                </a:solidFill>
                <a:latin typeface="IBM Plex Mono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2" y="1874519"/>
            <a:ext cx="1600200" cy="1051560"/>
          </a:xfrm>
          <a:prstGeom prst="rect">
            <a:avLst/>
          </a:prstGeom>
          <a:solidFill>
            <a:srgbClr val="172621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6C8279"/>
                </a:solidFill>
                <a:latin typeface="IBM Plex Mono"/>
              </a:defRPr>
            </a:pPr>
            <a:r>
              <a:t>03 EVALUATE</a:t>
            </a:r>
          </a:p>
          <a:p>
            <a:pPr>
              <a:defRPr sz="1100" b="1">
                <a:solidFill>
                  <a:srgbClr val="F5F3EF"/>
                </a:solidFill>
                <a:latin typeface="Inter"/>
              </a:defRPr>
            </a:pPr>
            <a:r>
              <a:t>Policy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1874519"/>
            <a:ext cx="1600200" cy="36576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62272" y="2587751"/>
            <a:ext cx="1417320" cy="237744"/>
          </a:xfrm>
          <a:prstGeom prst="rect">
            <a:avLst/>
          </a:prstGeom>
          <a:solidFill>
            <a:srgbClr val="263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F3EF"/>
                </a:solidFill>
                <a:latin typeface="IBM Plex Mono"/>
              </a:defRPr>
            </a:pPr>
            <a:r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2194559"/>
            <a:ext cx="219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D1A7"/>
                </a:solidFill>
                <a:latin typeface="IBM Plex Mono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1874519"/>
            <a:ext cx="1600200" cy="1051560"/>
          </a:xfrm>
          <a:prstGeom prst="rect">
            <a:avLst/>
          </a:prstGeom>
          <a:solidFill>
            <a:srgbClr val="172621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6C8279"/>
                </a:solidFill>
                <a:latin typeface="IBM Plex Mono"/>
              </a:defRPr>
            </a:pPr>
            <a:r>
              <a:t>04 AUDIT</a:t>
            </a:r>
          </a:p>
          <a:p>
            <a:pPr>
              <a:defRPr sz="1100" b="1">
                <a:solidFill>
                  <a:srgbClr val="F5F3EF"/>
                </a:solidFill>
                <a:latin typeface="Inter"/>
              </a:defRPr>
            </a:pPr>
            <a:r>
              <a:t>Critic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1874519"/>
            <a:ext cx="1600200" cy="36576"/>
          </a:xfrm>
          <a:prstGeom prst="rect">
            <a:avLst/>
          </a:prstGeom>
          <a:solidFill>
            <a:srgbClr val="00D1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2587751"/>
            <a:ext cx="1417320" cy="237744"/>
          </a:xfrm>
          <a:prstGeom prst="rect">
            <a:avLst/>
          </a:prstGeom>
          <a:solidFill>
            <a:srgbClr val="003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D1A7"/>
                </a:solidFill>
                <a:latin typeface="IBM Plex Mono"/>
              </a:defRPr>
            </a:pPr>
            <a: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2194559"/>
            <a:ext cx="219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D1A7"/>
                </a:solidFill>
                <a:latin typeface="IBM Plex Mono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144" y="1874519"/>
            <a:ext cx="1600200" cy="1051560"/>
          </a:xfrm>
          <a:prstGeom prst="rect">
            <a:avLst/>
          </a:prstGeom>
          <a:solidFill>
            <a:srgbClr val="172621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6C8279"/>
                </a:solidFill>
                <a:latin typeface="IBM Plex Mono"/>
              </a:defRPr>
            </a:pPr>
            <a:r>
              <a:t>05 AUTHORIZE</a:t>
            </a:r>
          </a:p>
          <a:p>
            <a:pPr>
              <a:defRPr sz="1100" b="1">
                <a:solidFill>
                  <a:srgbClr val="F5F3EF"/>
                </a:solidFill>
                <a:latin typeface="Inter"/>
              </a:defRPr>
            </a:pPr>
            <a:r>
              <a:t>Seller Gate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10144" y="1874519"/>
            <a:ext cx="16002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4" y="2587751"/>
            <a:ext cx="1417320" cy="237744"/>
          </a:xfrm>
          <a:prstGeom prst="rect">
            <a:avLst/>
          </a:prstGeom>
          <a:solidFill>
            <a:srgbClr val="452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BBF24"/>
                </a:solidFill>
                <a:latin typeface="IBM Plex Mono"/>
              </a:defRPr>
            </a:pPr>
            <a:r>
              <a:t>HUMAN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4" y="2194559"/>
            <a:ext cx="2194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D1A7"/>
                </a:solidFill>
                <a:latin typeface="IBM Plex Mono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1874519"/>
            <a:ext cx="1600200" cy="1051560"/>
          </a:xfrm>
          <a:prstGeom prst="rect">
            <a:avLst/>
          </a:prstGeom>
          <a:solidFill>
            <a:srgbClr val="172621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6C8279"/>
                </a:solidFill>
                <a:latin typeface="IBM Plex Mono"/>
              </a:defRPr>
            </a:pPr>
            <a:r>
              <a:t>06 RECORD</a:t>
            </a:r>
          </a:p>
          <a:p>
            <a:pPr>
              <a:defRPr sz="1100" b="1">
                <a:solidFill>
                  <a:srgbClr val="F5F3EF"/>
                </a:solidFill>
                <a:latin typeface="Inter"/>
              </a:defRPr>
            </a:pPr>
            <a:r>
              <a:t>Audit Log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1874519"/>
            <a:ext cx="1600200" cy="36576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21240" y="2587751"/>
            <a:ext cx="1417320" cy="237744"/>
          </a:xfrm>
          <a:prstGeom prst="rect">
            <a:avLst/>
          </a:prstGeom>
          <a:solidFill>
            <a:srgbClr val="263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F3EF"/>
                </a:solidFill>
                <a:latin typeface="IBM Plex Mono"/>
              </a:defRPr>
            </a:pPr>
            <a:r>
              <a:t>CODE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063240"/>
            <a:ext cx="5943600" cy="777240"/>
          </a:xfrm>
          <a:prstGeom prst="rect">
            <a:avLst/>
          </a:prstGeom>
          <a:solidFill>
            <a:srgbClr val="14221D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93C5FD"/>
                </a:solidFill>
                <a:latin typeface="IBM Plex Mono"/>
              </a:defRPr>
            </a:pPr>
            <a:r>
              <a:t>DYNAMIC STATEFUL CLARIFICATION LOOP (CASE C) · Observe → Decide → Act → Wait → Resume</a:t>
            </a:r>
          </a:p>
          <a:p>
            <a:pPr>
              <a:defRPr sz="950" b="1">
                <a:solidFill>
                  <a:srgbClr val="F5F3EF"/>
                </a:solidFill>
                <a:latin typeface="Inter"/>
              </a:defRPr>
            </a:pPr>
            <a:r>
              <a:t>Dark Frames → ask_for_evidence() → WAITING_FOR_EVIDENCE → Customer Uploads → Resume Case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3063240"/>
            <a:ext cx="4647895" cy="777240"/>
          </a:xfrm>
          <a:prstGeom prst="rect">
            <a:avLst/>
          </a:prstGeom>
          <a:solidFill>
            <a:srgbClr val="14221D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34D399"/>
                </a:solidFill>
                <a:latin typeface="IBM Plex Mono"/>
              </a:defRPr>
            </a:pPr>
            <a:r>
              <a:t>ORDER STATUS FAST PATH (PS-04 FIT) · Zero-Vision Direct Route</a:t>
            </a:r>
          </a:p>
          <a:p>
            <a:pPr>
              <a:defRPr sz="950" b="1">
                <a:solidFill>
                  <a:srgbClr val="F5F3EF"/>
                </a:solidFill>
                <a:latin typeface="Inter"/>
              </a:defRPr>
            </a:pPr>
            <a:r>
              <a:t>“Where is my order?” → Query Store &amp; Shippo APIs → Delivery Scan &amp;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977639"/>
            <a:ext cx="2560320" cy="1051560"/>
          </a:xfrm>
          <a:prstGeom prst="rect">
            <a:avLst/>
          </a:prstGeom>
          <a:solidFill>
            <a:srgbClr val="121F1B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7171"/>
                </a:solidFill>
                <a:latin typeface="IBM Plex Mono"/>
              </a:defRPr>
            </a:pPr>
            <a:r>
              <a:t>1. CONTRADICTION → ESCALATE</a:t>
            </a:r>
          </a:p>
          <a:p>
            <a:pPr>
              <a:defRPr sz="900">
                <a:solidFill>
                  <a:srgbClr val="A3B8B0"/>
                </a:solidFill>
                <a:latin typeface="Inter"/>
              </a:defRPr>
            </a:pPr>
            <a:r>
              <a:t>Discrepancy flagged (e.g. Case B). Inhibits automated label/refund. Seller reviews 3 options.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47288" y="3977639"/>
            <a:ext cx="2560320" cy="1051560"/>
          </a:xfrm>
          <a:prstGeom prst="rect">
            <a:avLst/>
          </a:prstGeom>
          <a:solidFill>
            <a:srgbClr val="121F1B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BBF24"/>
                </a:solidFill>
                <a:latin typeface="IBM Plex Mono"/>
              </a:defRPr>
            </a:pPr>
            <a:r>
              <a:t>2. HARD FAIL → ESCALATE</a:t>
            </a:r>
          </a:p>
          <a:p>
            <a:pPr>
              <a:defRPr sz="900">
                <a:solidFill>
                  <a:srgbClr val="A3B8B0"/>
                </a:solidFill>
                <a:latin typeface="Inter"/>
              </a:defRPr>
            </a:pPr>
            <a:r>
              <a:t>Mandatory rule violation (e.g. expired return window). Seller makes final decision; never auto-deny.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3056" y="3977639"/>
            <a:ext cx="2560320" cy="1051560"/>
          </a:xfrm>
          <a:prstGeom prst="rect">
            <a:avLst/>
          </a:prstGeom>
          <a:solidFill>
            <a:srgbClr val="121F1B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60A5FA"/>
                </a:solidFill>
                <a:latin typeface="IBM Plex Mono"/>
              </a:defRPr>
            </a:pPr>
            <a:r>
              <a:t>3. UNCLEAR ONLY → ASK MORE</a:t>
            </a:r>
          </a:p>
          <a:p>
            <a:pPr>
              <a:defRPr sz="900">
                <a:solidFill>
                  <a:srgbClr val="A3B8B0"/>
                </a:solidFill>
                <a:latin typeface="Inter"/>
              </a:defRPr>
            </a:pPr>
            <a:r>
              <a:t>Low brightness or blurry barcode (e.g. Case C). Prompts exact re-film checklist (1 retry limit).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78824" y="3977639"/>
            <a:ext cx="2560320" cy="1051560"/>
          </a:xfrm>
          <a:prstGeom prst="rect">
            <a:avLst/>
          </a:prstGeom>
          <a:solidFill>
            <a:srgbClr val="121F1B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4D399"/>
                </a:solidFill>
                <a:latin typeface="IBM Plex Mono"/>
              </a:defRPr>
            </a:pPr>
            <a:r>
              <a:t>4. ALL PASS → APPROVE REVIEW</a:t>
            </a:r>
          </a:p>
          <a:p>
            <a:pPr>
              <a:defRPr sz="900">
                <a:solidFill>
                  <a:srgbClr val="A3B8B0"/>
                </a:solidFill>
                <a:latin typeface="Inter"/>
              </a:defRPr>
            </a:pPr>
            <a:r>
              <a:t>All clauses pass (e.g. Case A). Prepares mock label and drafts refund in pending_return_receipt.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166360"/>
            <a:ext cx="10728655" cy="868680"/>
          </a:xfrm>
          <a:prstGeom prst="rect">
            <a:avLst/>
          </a:prstGeom>
          <a:solidFill>
            <a:srgbClr val="121F1B"/>
          </a:solidFill>
          <a:ln w="12700">
            <a:solidFill>
              <a:srgbClr val="223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>
                <a:solidFill>
                  <a:srgbClr val="A3B8B0"/>
                </a:solidFill>
                <a:latin typeface="IBM Plex Mono"/>
              </a:defRPr>
            </a:pPr>
            <a:r>
              <a:t>■ Model Calls: Bounded design estimate (3 base calls: planner, vision, critic + retries)  |  ■ Policy Rules: Deterministic Python code rules P-01 to P-08, never prompts</a:t>
            </a:r>
          </a:p>
          <a:p>
            <a:pPr>
              <a:defRPr sz="850">
                <a:solidFill>
                  <a:srgbClr val="A3B8B0"/>
                </a:solidFill>
                <a:latin typeface="IBM Plex Mono"/>
              </a:defRPr>
            </a:pPr>
            <a:r>
              <a:t>■ Critic Duty: Reviews cited frames, flags unsupported observations (correlated error limits noted)  |  ■ Safety Boundary: Backend authorization check — LLMs cannot execute financial refunds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223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3367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786E"/>
                </a:solidFill>
                <a:latin typeface="IBM Plex Mono"/>
              </a:defRPr>
            </a:pPr>
            <a:r>
              <a:t>Structured audit log recorded at every state transition · Decision priority: Contradiction &gt; Hard fail &gt; Unclear only &gt; All pass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6336792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C786E"/>
                </a:solidFill>
                <a:latin typeface="IBM Plex Mono"/>
              </a:defRPr>
            </a:pPr>
            <a:r>
              <a:t>Slide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IBM Plex Mono"/>
              </a:defRPr>
            </a:pPr>
            <a:r>
              <a:t>DEMO SCENARIOS · CONTROLLED PROTOTYPE BEHAVIORS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72621"/>
                </a:solidFill>
                <a:latin typeface="Inter"/>
              </a:defRPr>
            </a:pPr>
            <a:r>
              <a:t>Four scenarios. Four predictable behaviors.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6E64"/>
                </a:solidFill>
                <a:latin typeface="Inter"/>
              </a:defRPr>
            </a:pPr>
            <a:r>
              <a:t>Expected prototype behaviors across staged benchmark cases. Not measured production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072865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368296"/>
            <a:ext cx="1645920" cy="420624"/>
          </a:xfrm>
          <a:prstGeom prst="rect">
            <a:avLst/>
          </a:prstGeom>
          <a:solidFill>
            <a:srgbClr val="E1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B55"/>
                </a:solidFill>
                <a:latin typeface="IBM Plex Mono"/>
              </a:defRPr>
            </a:pPr>
            <a:r>
              <a:t>CASE A ·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258568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72621"/>
                </a:solidFill>
                <a:latin typeface="Inter"/>
              </a:defRPr>
            </a:pPr>
            <a:r>
              <a:t>Verified Damage · Staged cosmetic crack, timestamp 00:04 · Defect verified.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295144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B55"/>
                </a:solidFill>
                <a:latin typeface="IBM Plex Mono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25856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96E64"/>
                </a:solidFill>
                <a:latin typeface="Inter"/>
              </a:defRPr>
            </a:pPr>
            <a:r>
              <a:t>Agent prepares mock label &amp; draft refund in pending_return_receipt; seller one-click confirms.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45536"/>
            <a:ext cx="1072865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64992"/>
            <a:ext cx="1645920" cy="420624"/>
          </a:xfrm>
          <a:prstGeom prst="rect">
            <a:avLst/>
          </a:prstGeom>
          <a:solidFill>
            <a:srgbClr val="FC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991B1B"/>
                </a:solidFill>
                <a:latin typeface="IBM Plex Mono"/>
              </a:defRPr>
            </a:pPr>
            <a:r>
              <a:t>CASE B ·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55264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72621"/>
                </a:solidFill>
                <a:latin typeface="Inter"/>
              </a:defRPr>
            </a:pPr>
            <a:r>
              <a:t>Color Contradiction · HEAD-WHT-02 (White) ordered vs Frame 00:07 Black item · SKU unverified.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2918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B55"/>
                </a:solidFill>
                <a:latin typeface="IBM Plex Mono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255264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96E64"/>
                </a:solidFill>
                <a:latin typeface="Inter"/>
              </a:defRPr>
            </a:pPr>
            <a:r>
              <a:t>P-03 contradiction blocks automation; seller selects 1 of 3 options: mis-shipment / box label / warehouse inspection.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42232"/>
            <a:ext cx="1072865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4361688"/>
            <a:ext cx="1645920" cy="42062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E40AF"/>
                </a:solidFill>
                <a:latin typeface="IBM Plex Mono"/>
              </a:defRPr>
            </a:pPr>
            <a:r>
              <a:t>CASE C · UNCLEAR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519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72621"/>
                </a:solidFill>
                <a:latin typeface="Inter"/>
              </a:defRPr>
            </a:pPr>
            <a:r>
              <a:t>Insufficient Visibility · 4-second dark video, brightness 28, only 2 usable frames.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288536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B55"/>
                </a:solidFill>
                <a:latin typeface="IBM Plex Mono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2519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96E64"/>
                </a:solidFill>
                <a:latin typeface="Inter"/>
              </a:defRPr>
            </a:pPr>
            <a:r>
              <a:t>Agent requests targeted photo; enters WAITING_FOR_EVIDENCE; resumes case on upload (1 retry limit).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138928"/>
            <a:ext cx="1072865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5358384"/>
            <a:ext cx="1645920" cy="420624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5F46"/>
                </a:solidFill>
                <a:latin typeface="IBM Plex Mono"/>
              </a:defRPr>
            </a:pPr>
            <a:r>
              <a:t>CASE D ·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248656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72621"/>
                </a:solidFill>
                <a:latin typeface="Inter"/>
              </a:defRPr>
            </a:pPr>
            <a:r>
              <a:t>Sequence Continuity · Staged parcel-to-product take: opening sealed parcel to product reveal.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285232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B55"/>
                </a:solidFill>
                <a:latin typeface="IBM Plex Mono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5248656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596E64"/>
                </a:solidFill>
                <a:latin typeface="Inter"/>
              </a:defRPr>
            </a:pPr>
            <a:r>
              <a:t>Expected behavior: inspect sequence continuity and flag missing transitions for seller review.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3367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E85"/>
                </a:solidFill>
                <a:latin typeface="IBM Plex Mono"/>
              </a:defRPr>
            </a:pPr>
            <a:r>
              <a:t>Staged prototype scenarios · Expected agent behaviors, not measured production metrics · Cap: min(₹4,999, remaining refundable amount, order paid amount)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336792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E85"/>
                </a:solidFill>
                <a:latin typeface="IBM Plex Mono"/>
              </a:defRPr>
            </a:pPr>
            <a:r>
              <a:t>Slide 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IBM Plex Mono"/>
              </a:defRPr>
            </a:pPr>
            <a:r>
              <a:t>24-HOUR PROTOTYPE PLAN · FEASIBILITY &amp; SCOPE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72621"/>
                </a:solidFill>
                <a:latin typeface="Inter"/>
              </a:defRPr>
            </a:pPr>
            <a:r>
              <a:t>Built for a 24-hour sprint.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596E64"/>
                </a:solidFill>
                <a:latin typeface="Inter"/>
              </a:defRPr>
            </a:pPr>
            <a:r>
              <a:t>Strict scope boundaries and clear division of labor make the prototype fully buildable in one 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B55"/>
                </a:solidFill>
                <a:latin typeface="IBM Plex Mono"/>
              </a:defRPr>
            </a:pPr>
            <a:r>
              <a:t>00h – 06h · Foundation</a:t>
            </a:r>
          </a:p>
          <a:p>
            <a:pPr>
              <a:defRPr sz="1150" b="1">
                <a:solidFill>
                  <a:srgbClr val="172621"/>
                </a:solidFill>
                <a:latin typeface="Inter"/>
              </a:defRPr>
            </a:pPr>
            <a:r>
              <a:t>Mock APIs &amp; Agent Core</a:t>
            </a:r>
          </a:p>
          <a:p>
            <a:pPr>
              <a:defRPr sz="900">
                <a:solidFill>
                  <a:srgbClr val="596E64"/>
                </a:solidFill>
                <a:latin typeface="Inter"/>
              </a:defRPr>
            </a:pPr>
            <a:r>
              <a:t>Person A (Backend), supported by C</a:t>
            </a:r>
            <a:br/>
            <a:r>
              <a:t>LangGraph skeleton, mock store/courier fixtures, order status route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2560320" cy="36576"/>
          </a:xfrm>
          <a:prstGeom prst="rect">
            <a:avLst/>
          </a:prstGeom>
          <a:solidFill>
            <a:srgbClr val="00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47288" y="214884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B55"/>
                </a:solidFill>
                <a:latin typeface="IBM Plex Mono"/>
              </a:defRPr>
            </a:pPr>
            <a:r>
              <a:t>06h – 12h · Evidence</a:t>
            </a:r>
          </a:p>
          <a:p>
            <a:pPr>
              <a:defRPr sz="1150" b="1">
                <a:solidFill>
                  <a:srgbClr val="172621"/>
                </a:solidFill>
                <a:latin typeface="Inter"/>
              </a:defRPr>
            </a:pPr>
            <a:r>
              <a:t>Evidence Pipeline &amp; Policy</a:t>
            </a:r>
          </a:p>
          <a:p>
            <a:pPr>
              <a:defRPr sz="900">
                <a:solidFill>
                  <a:srgbClr val="596E64"/>
                </a:solidFill>
                <a:latin typeface="Inter"/>
              </a:defRPr>
            </a:pPr>
            <a:r>
              <a:t>Person B (Video &amp; UI)</a:t>
            </a:r>
            <a:br/>
            <a:r>
              <a:t>FFmpeg keyframe indexer, Python rules P-01 to P-08, critic prompt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288" y="2148840"/>
            <a:ext cx="2560320" cy="36576"/>
          </a:xfrm>
          <a:prstGeom prst="rect">
            <a:avLst/>
          </a:prstGeom>
          <a:solidFill>
            <a:srgbClr val="00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3056" y="214884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B55"/>
                </a:solidFill>
                <a:latin typeface="IBM Plex Mono"/>
              </a:defRPr>
            </a:pPr>
            <a:r>
              <a:t>12h – 18h · Integration</a:t>
            </a:r>
          </a:p>
          <a:p>
            <a:pPr>
              <a:defRPr sz="1150" b="1">
                <a:solidFill>
                  <a:srgbClr val="172621"/>
                </a:solidFill>
                <a:latin typeface="Inter"/>
              </a:defRPr>
            </a:pPr>
            <a:r>
              <a:t>State Flow &amp; Scenarios</a:t>
            </a:r>
          </a:p>
          <a:p>
            <a:pPr>
              <a:defRPr sz="900">
                <a:solidFill>
                  <a:srgbClr val="596E64"/>
                </a:solidFill>
                <a:latin typeface="Inter"/>
              </a:defRPr>
            </a:pPr>
            <a:r>
              <a:t>Person C (Integration), supported by A/B</a:t>
            </a:r>
            <a:br/>
            <a:r>
              <a:t>End-to-end wiring, clarification/resume loop, seller console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2560320" cy="36576"/>
          </a:xfrm>
          <a:prstGeom prst="rect">
            <a:avLst/>
          </a:prstGeom>
          <a:solidFill>
            <a:srgbClr val="00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78824" y="214884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6B55"/>
                </a:solidFill>
                <a:latin typeface="IBM Plex Mono"/>
              </a:defRPr>
            </a:pPr>
            <a:r>
              <a:t>18h – 24h · Validation</a:t>
            </a:r>
          </a:p>
          <a:p>
            <a:pPr>
              <a:defRPr sz="1150" b="1">
                <a:solidFill>
                  <a:srgbClr val="172621"/>
                </a:solidFill>
                <a:latin typeface="Inter"/>
              </a:defRPr>
            </a:pPr>
            <a:r>
              <a:t>Testing &amp; Submission</a:t>
            </a:r>
          </a:p>
          <a:p>
            <a:pPr>
              <a:defRPr sz="900">
                <a:solidFill>
                  <a:srgbClr val="596E64"/>
                </a:solidFill>
                <a:latin typeface="Inter"/>
              </a:defRPr>
            </a:pPr>
            <a:r>
              <a:t>All 3 Members</a:t>
            </a:r>
            <a:br/>
            <a:r>
              <a:t>Fallback testing, authorization tests, demo video recording, README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78824" y="2148840"/>
            <a:ext cx="2560320" cy="36576"/>
          </a:xfrm>
          <a:prstGeom prst="rect">
            <a:avLst/>
          </a:prstGeom>
          <a:solidFill>
            <a:srgbClr val="00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66160"/>
            <a:ext cx="5212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73152" cy="1783080"/>
          </a:xfrm>
          <a:prstGeom prst="rect">
            <a:avLst/>
          </a:prstGeom>
          <a:solidFill>
            <a:srgbClr val="00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B55"/>
                </a:solidFill>
                <a:latin typeface="IBM Plex Mono"/>
              </a:defRPr>
            </a:pPr>
            <a:r>
              <a:t>NEVER CUT (CORE ENGINE)</a:t>
            </a:r>
          </a:p>
          <a:p>
            <a:pPr>
              <a:defRPr sz="1000">
                <a:solidFill>
                  <a:srgbClr val="172621"/>
                </a:solidFill>
                <a:latin typeface="Inter"/>
              </a:defRPr>
            </a:pPr>
            <a:r>
              <a:t>• Deterministic policy engine (P-01 to P-08)</a:t>
            </a:r>
            <a:br/>
            <a:r>
              <a:t>• Evidence-pack frame citation</a:t>
            </a:r>
            <a:br/>
            <a:r>
              <a:t>• Fail-closed seller approval gate</a:t>
            </a:r>
            <a:br/>
            <a:r>
              <a:t>• Structured JSON audit log</a:t>
            </a:r>
            <a:br/>
            <a:r>
              <a:t>• Clarification/resume loop</a:t>
            </a:r>
            <a:br/>
            <a:r>
              <a:t>• 4 reproducible demo cases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095" y="3566160"/>
            <a:ext cx="5212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8095" y="3566160"/>
            <a:ext cx="73152" cy="178308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6695" y="365760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5D39"/>
                </a:solidFill>
                <a:latin typeface="IBM Plex Mono"/>
              </a:defRPr>
            </a:pPr>
            <a:r>
              <a:t>CUT FIRST IF BEHIND (DEFERRED EXPANSION)</a:t>
            </a:r>
          </a:p>
          <a:p>
            <a:pPr>
              <a:defRPr sz="1000">
                <a:solidFill>
                  <a:srgbClr val="172621"/>
                </a:solidFill>
                <a:latin typeface="Inter"/>
              </a:defRPr>
            </a:pPr>
            <a:r>
              <a:t>• Real carrier webhook integration (keep mock courier)</a:t>
            </a:r>
            <a:br/>
            <a:r>
              <a:t>• Multi-product order parsing (keep 1 item/return)</a:t>
            </a:r>
            <a:br/>
            <a:r>
              <a:t>• Custom video encoding (keep standard 1 fps FFmpeg extraction)</a:t>
            </a:r>
            <a:br/>
            <a:r>
              <a:t>• Production payment gateways / live WhatsApp webhooks</a:t>
            </a:r>
            <a:br/>
            <a:r>
              <a:t>• Seller analytics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486400"/>
            <a:ext cx="10728655" cy="594360"/>
          </a:xfrm>
          <a:prstGeom prst="rect">
            <a:avLst/>
          </a:prstGeom>
          <a:solidFill>
            <a:srgbClr val="FAF8F5"/>
          </a:solidFill>
          <a:ln w="12700">
            <a:solidFill>
              <a:srgbClr val="E2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i="1">
                <a:solidFill>
                  <a:srgbClr val="172621"/>
                </a:solidFill>
                <a:latin typeface="Inter"/>
              </a:defRPr>
            </a:pPr>
            <a:r>
              <a:t>“The winning hackathon agent is not the one with the most tool definitions. It is the one where every action is held to evidence, and the seller stays in control.”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E2D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33679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8E85"/>
                </a:solidFill>
                <a:latin typeface="IBM Plex Mono"/>
              </a:defRPr>
            </a:pPr>
            <a:r>
              <a:t>Team Rookie (3 members) · PS-04 Autonomous Support Agent · 24-Hour Prototype Feasibility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336792"/>
            <a:ext cx="2316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A8E85"/>
                </a:solidFill>
                <a:latin typeface="IBM Plex Mono"/>
              </a:defRPr>
            </a:pPr>
            <a:r>
              <a:t>Slide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