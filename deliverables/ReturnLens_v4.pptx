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Product Hero &amp; Executive Summary:</a:t>
            </a:r>
          </a:p>
          <a:p>
            <a:r>
              <a:t>- Problem Statement Fit: PS-04 (Autonomous Support Agent for Online Sellers).</a:t>
            </a:r>
          </a:p>
          <a:p>
            <a:r>
              <a:t>- Target User: Solo direct-to-consumer (D2C) online merchants managing customer support, shipping, and returns alone.</a:t>
            </a:r>
          </a:p>
          <a:p>
            <a:r>
              <a:t>- Core Friction: Solo sellers lose valuable hours navigating fragmented tabs (buyer chat, Shopify, Shippo tracking, store return policy). Return decisions are currently made from memory without unified evidence.</a:t>
            </a:r>
          </a:p>
          <a:p>
            <a:r>
              <a:t>- Core Thesis: 'Models observe. Code verifies. Seller authorizes.'</a:t>
            </a:r>
          </a:p>
          <a:p>
            <a:r>
              <a:t>- Console Focus: Side-by-side comparison between ordered White Headphones (HEAD-WHT-02, ₹1,499) and unboxed Black Headphones (Frame 00:07). The agent flags the contradiction, leaves exact SKU unverified, and surfaces actionable resolution choices to the seller.</a:t>
            </a:r>
          </a:p>
          <a:p>
            <a:r>
              <a:t>- Safety Boundary: The system never autonomously issues a refund or denies a customer. Financial release strictly requires 1-click merchant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Problem Space &amp; The Four Disconnected Sources:</a:t>
            </a:r>
          </a:p>
          <a:p>
            <a:r>
              <a:t>- The returns bottleneck for solo sellers is not an absent returns portal; it is fragmented, unverified context across four disconnected systems:</a:t>
            </a:r>
          </a:p>
          <a:p>
            <a:r>
              <a:t>  1. Buyer claim in chat (unverified claims, emotional text).</a:t>
            </a:r>
          </a:p>
          <a:p>
            <a:r>
              <a:t>  2. Store truth in Shopify (SKU HEAD-WHT-02, ₹1,499).</a:t>
            </a:r>
          </a:p>
          <a:p>
            <a:r>
              <a:t>  3. Courier tracking in Shippo (delivered 4 days ago).</a:t>
            </a:r>
          </a:p>
          <a:p>
            <a:r>
              <a:t>  4. Store return policy document (7-day defect window, security tag).</a:t>
            </a:r>
          </a:p>
          <a:p>
            <a:r>
              <a:t>- Central Gap: Four systems, but no traceable decision. The merchant makes memory-based decisions across multiple tabs.</a:t>
            </a:r>
          </a:p>
          <a:p>
            <a:r>
              <a:t>- Sourced Fraud Context: NRF 2025 reports 9% for strictly criminal return fraud, whereas Appriss/Deloitte 2024 reports 15.14% when combining fraud and policy abuse (wardrobing, unboxing swaps). These measure distinct scopes and must never be merged.</a:t>
            </a:r>
          </a:p>
          <a:p>
            <a:r>
              <a:t>- Asymmetric Merchant Risk: Wrong refund loses inventory and gross margin; unfair denial destroys customer lifetime value (LTV).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The Star Demo &amp; Technical Honesty in Vision Citation:</a:t>
            </a:r>
          </a:p>
          <a:p>
            <a:r>
              <a:t>- Core Benchmark Scenario (Case B): Buyer ordered White Headphones (HEAD-WHT-02, ₹1,499), but unboxing frame 00:07 shows black headphones.</a:t>
            </a:r>
          </a:p>
          <a:p>
            <a:r>
              <a:t>- Visual Grounding Honesty: The agent does NOT claim to read an unreadable SKU barcode from frame 00:07. It factually observes: 'Observed Color: Midnight Black · Exact SKU: Not verified · Tag: Not visible in cited frame'. Frame citations provide a traceable reference, not proof of footage authenticity.</a:t>
            </a:r>
          </a:p>
          <a:p>
            <a:r>
              <a:t>- Decision Logic: Seeing a black item when white was ordered is an undeniable visual contradiction against the manifest. Instead of auto-denying the customer, the policy engine triggers ESCALATE.</a:t>
            </a:r>
          </a:p>
          <a:p>
            <a:r>
              <a:t>- Three Clear Merchant Options:</a:t>
            </a:r>
          </a:p>
          <a:p>
            <a:r>
              <a:t>  1. Request unboxing video with packaging label / serial number visible.</a:t>
            </a:r>
          </a:p>
          <a:p>
            <a:r>
              <a:t>  2. Reject return under policy (item does not match order record).</a:t>
            </a:r>
          </a:p>
          <a:p>
            <a:r>
              <a:t>  3. Override &amp; approve if seller acknowledges known warehouse fulfillment error.</a:t>
            </a:r>
          </a:p>
          <a:p>
            <a:r>
              <a:t>- Financial Guardrail: min(₹4,999, remaining refundable amount, order paid amount). No money moves without seller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System Architecture, Agentic Governance &amp; Technical Q&amp;A Defense:</a:t>
            </a:r>
          </a:p>
          <a:p>
            <a:r>
              <a:t>- Philosophy: 'Models observe. Code verifies. Seller authorizes.'</a:t>
            </a:r>
          </a:p>
          <a:p>
            <a:r>
              <a:t>- Responsibilities: Planner model proposes tool actions; backend code validates JSON schemas; FFmpeg extracts keyframes; vision model generates cited observations; deterministic Python rules evaluate policy P-01 to P-08; seller gate authorizes consequential actions.</a:t>
            </a:r>
          </a:p>
          <a:p>
            <a:r>
              <a:t>- DEFENSE QUESTION 1: Why is this an agent rather than a hardcoded workflow?</a:t>
            </a:r>
          </a:p>
          <a:p>
            <a:r>
              <a:t>  ReturnLens is an autonomous state machine with dynamic action selection, multimodal observation, and stateful lifecycle management. In Case C, when a customer submits a dark or blurry video (average brightness 28), the agent does NOT simply fail or run a static linear chain. It inspects the frames, determines evidence is insufficient under Policy P-05, dynamically decides to invoke ask_for_evidence() with specific re-filming guidance, transitions the ticket to WAITING_FOR_EVIDENCE, pauses execution while retaining state and order context, and resumes the exact triage session when new media arrives. Conversely, for routine order status requests, the agent selects the zero-vision fast path directly querying mock APIs.</a:t>
            </a:r>
          </a:p>
          <a:p>
            <a:r>
              <a:t>- DEFENSE QUESTION 2: What happens if vision or critic models hallucinate?</a:t>
            </a:r>
          </a:p>
          <a:p>
            <a:r>
              <a:t>  Vision models produce non-binding observation metadata, never authoritative decisions. Hard business rules (return windows from carrier delivery timestamps, SKU comparisons) are executed in deterministic Python code (P-01 to P-08). The critic provides an adversarial sanity check against cited timestamps. If both vision and critic experience correlated hallucinations, the fail-closed human seller gate guarantees that no refund or return label can ever be issued without seller review.</a:t>
            </a:r>
          </a:p>
          <a:p>
            <a:r>
              <a:t>- DEFENSE QUESTION 3: How do you prevent duplicate or incorrect refunds?</a:t>
            </a:r>
          </a:p>
          <a:p>
            <a:r>
              <a:t>  1. Idempotency keys (hash(order_id, return_id, transaction_type)) with backend uniqueness checks prevent duplicate execution.</a:t>
            </a:r>
          </a:p>
          <a:p>
            <a:r>
              <a:t>  2. Ledgers enforce: 0 &lt; amount &lt;= min(₹4,999, remaining_refundable_amount, order_paid_amount).</a:t>
            </a:r>
          </a:p>
          <a:p>
            <a:r>
              <a:t>  3. Sequence: Refund proposal -&gt; Code validation -&gt; Seller approval -&gt; Revalidation -&gt; Draft creation -&gt; Receipt -&gt; Release. LLMs possess zero capability to call payment gateways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Four Reproducible Benchmark Scenarios:</a:t>
            </a:r>
          </a:p>
          <a:p>
            <a:r>
              <a:t>- Grounding Note: These four scenarios represent staged prototype test suites and deterministic expected behaviors, NOT ungrounded production field metrics.</a:t>
            </a:r>
          </a:p>
          <a:p>
            <a:r>
              <a:t>- Case 01 (Consistent Claim): All rules pass (within 7d, SKU matches manifest, tag visible, physical crack observed). System drafts return shipping label and refund draft in 'pending_return_receipt' state. No refund money is transferred until physical warehouse receipt.</a:t>
            </a:r>
          </a:p>
          <a:p>
            <a:r>
              <a:t>- Case 02 (Contradiction): Color mismatch detected (ordered white, unboxed black). System prevents auto-rejection and routes to seller review with 3 concrete resolution options.</a:t>
            </a:r>
          </a:p>
          <a:p>
            <a:r>
              <a:t>- Case 03 (Unclear / Agentic Loop): Dark video (28/255 avg brightness). Instead of auto-denying, the agent provides a clear checklist, transitions to WAITING_FOR_EVIDENCE, and resumes on upload (1 retry limit protects customers from infinite loops).</a:t>
            </a:r>
          </a:p>
          <a:p>
            <a:r>
              <a:t>- Case 04 (Continuity): Expected prototype behavior: inspect parcel-to-product sequence to flag suspicious cut-aways or missing transitions. Does not claim proven prevention of video manipulation.</a:t>
            </a:r>
          </a:p>
          <a:p>
            <a:r>
              <a:t>- Financial Cap Formula: min(₹4,999, remaining refundable amount, order paid amount) strictly prevents over-refunding.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— 24-Hour Sprint Feasibility, Ownership &amp; Strict Scope Guardrails:</a:t>
            </a:r>
          </a:p>
          <a:p>
            <a:r>
              <a:t>- Feasibility Argument: Why is ReturnLens realistically buildable in 24 hours by 3 engineers?</a:t>
            </a:r>
          </a:p>
          <a:p>
            <a:r>
              <a:t>  1. No live external production dependencies: deterministic mock APIs for Shopify &amp; Shippo eliminate external latency and flakiness.</a:t>
            </a:r>
          </a:p>
          <a:p>
            <a:r>
              <a:t>  2. Clear division of labor with single-threaded component ownership across 3 teammates:</a:t>
            </a:r>
          </a:p>
          <a:p>
            <a:r>
              <a:t>     - Person A (Agent / Backend / Policy / Authorization): LangGraph orchestrator, mock store/courier APIs, order status fast path, deterministic rules P-01 to P-08, fail-closed authorization gate.</a:t>
            </a:r>
          </a:p>
          <a:p>
            <a:r>
              <a:t>     - Person B (Vision / Evidence / UI): FFmpeg keyframe extraction, vision schema, critic prompt, seller console UI.</a:t>
            </a:r>
          </a:p>
          <a:p>
            <a:r>
              <a:t>     - Person C (Mock Fixtures / Integration / QA): Test fixtures, clarification/resume loop, 4 staged demo cases (A-D), authorization tests, demo video recording, README.</a:t>
            </a:r>
          </a:p>
          <a:p>
            <a:r>
              <a:t>  3. Strict Scope Discipline:</a:t>
            </a:r>
          </a:p>
          <a:p>
            <a:r>
              <a:t>     - MUST DELIVER: Mock store/courier APIs, deterministic policy engine, frame citations, seller authorization gate, structured audit log, clarification/resume loop, 4 demo cases.</a:t>
            </a:r>
          </a:p>
          <a:p>
            <a:r>
              <a:t>     - CUT FIRST IF BEHIND: Case D advanced continuity checks (stretch), real carrier webhooks, multi-product order parsing, video OCR barcode scanning, production payment gateways, seller analytics dashboards.</a:t>
            </a:r>
          </a:p>
          <a:p>
            <a:r>
              <a:t>- Winning Philosophy: 'The winning hackathon agent is not the one with the most tool definitions. It is the one where every action is held to evidence, and the seller stays in control.'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4297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AGENTX HACKATHON 2026 · TRACK PS-04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4297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72621"/>
                </a:solidFill>
                <a:latin typeface="Inter"/>
              </a:defRPr>
            </a:pPr>
            <a:r>
              <a:t>ReturnLens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72621"/>
                </a:solidFill>
                <a:latin typeface="Inter"/>
              </a:defRPr>
            </a:pPr>
            <a:r>
              <a:t>“Every return decision, backed by evidence.”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4297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72621"/>
                </a:solidFill>
                <a:latin typeface="Inter"/>
              </a:defRPr>
            </a:pPr>
            <a:r>
              <a:t>Connect customer evidence, order facts and policy — then let the seller decide.</a:t>
            </a:r>
          </a:p>
          <a:p>
            <a:br/>
            <a:pPr>
              <a:defRPr sz="1400">
                <a:solidFill>
                  <a:srgbClr val="596E64"/>
                </a:solidFill>
                <a:latin typeface="Inter"/>
              </a:defRPr>
            </a:pPr>
            <a:r>
              <a:t>ReturnLens unifies unboxing video evidence, store truth, and policy checks into a 1-click decision console for solo merchants.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3212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Team Rookie · AgentX PS-04 · 24h Prototype</a:t>
            </a:r>
          </a:p>
        </p:txBody>
      </p:sp>
      <p:sp>
        <p:nvSpPr>
          <p:cNvPr id="8" name="Rectangle 7"/>
          <p:cNvSpPr/>
          <p:nvPr/>
        </p:nvSpPr>
        <p:spPr>
          <a:xfrm>
            <a:off x="5349240" y="685800"/>
            <a:ext cx="6110935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349240" y="685800"/>
            <a:ext cx="6110935" cy="457200"/>
          </a:xfrm>
          <a:prstGeom prst="rect">
            <a:avLst/>
          </a:prstGeom>
          <a:solidFill>
            <a:srgbClr val="1F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D1A7"/>
                </a:solidFill>
                <a:latin typeface="IBM Plex Mono"/>
              </a:defRPr>
            </a:pPr>
            <a:r>
              <a:t>RETURNLENS SELLER CONSOLE  ·  CASE #RT-8821</a:t>
            </a:r>
          </a:p>
        </p:txBody>
      </p:sp>
      <p:pic>
        <p:nvPicPr>
          <p:cNvPr id="10" name="Picture 9" descr="studio_white_headph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2788920" cy="19659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532120" y="3291840"/>
            <a:ext cx="2788920" cy="320040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>
              <a:defRPr sz="1050" b="1">
                <a:solidFill>
                  <a:srgbClr val="006B55"/>
                </a:solidFill>
                <a:latin typeface="IBM Plex Mono"/>
              </a:defRPr>
            </a:pPr>
            <a:r>
              <a:t>ORDERED: HEAD-WHT-02 (WHITE)</a:t>
            </a:r>
          </a:p>
        </p:txBody>
      </p:sp>
      <p:pic>
        <p:nvPicPr>
          <p:cNvPr id="12" name="Picture 11" descr="unboxing_black_headph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375" y="1280160"/>
            <a:ext cx="2788920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488375" y="3291840"/>
            <a:ext cx="2788920" cy="32004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>
              <a:defRPr sz="1000" b="1">
                <a:solidFill>
                  <a:srgbClr val="991B1B"/>
                </a:solidFill>
                <a:latin typeface="IBM Plex Mono"/>
              </a:defRPr>
            </a:pPr>
            <a:r>
              <a:t>OBSERVED: BLACK ITEM · FRAME 00:07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3721608"/>
            <a:ext cx="5745175" cy="658368"/>
          </a:xfrm>
          <a:prstGeom prst="rect">
            <a:avLst/>
          </a:prstGeom>
          <a:solidFill>
            <a:srgbClr val="FCECE8"/>
          </a:solidFill>
          <a:ln w="12700">
            <a:solidFill>
              <a:srgbClr val="D95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 b="1">
                <a:solidFill>
                  <a:srgbClr val="991B1B"/>
                </a:solidFill>
                <a:latin typeface="IBM Plex Mono"/>
              </a:defRPr>
            </a:pPr>
            <a:r>
              <a:t>P-03: COLOR CONTRADICTION DETECTED</a:t>
            </a:r>
          </a:p>
          <a:p>
            <a:pPr>
              <a:defRPr sz="1150">
                <a:solidFill>
                  <a:srgbClr val="991B1B"/>
                </a:solidFill>
                <a:latin typeface="Inter"/>
              </a:defRPr>
            </a:pPr>
            <a:r>
              <a:t>P-04 Return Window: PASS (Day 4 of 7)  |  P-03 Manifest: CONTRADICTION FLAGGED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4453128"/>
            <a:ext cx="5745175" cy="38404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92400E"/>
                </a:solidFill>
                <a:latin typeface="IBM Plex Mono"/>
              </a:defRPr>
            </a:pPr>
            <a:r>
              <a:t>SELLER REVIEW REQUIRED (HUMAN GATE)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32120" y="4910328"/>
            <a:ext cx="5745175" cy="50292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Inter"/>
              </a:defRPr>
            </a:pPr>
            <a:r>
              <a:t>Review Evidence &amp; Authorize Draft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ReturnLens · Pitch Deck · PS-04 Track · Team Rookie (3 Members)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THE PROBLEM · SOLO SELLER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One return. Four disconnected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596E64"/>
                </a:solidFill>
                <a:latin typeface="Inter"/>
              </a:defRPr>
            </a:pPr>
            <a:r>
              <a:t>Four systems. No traceable decision.  Without a shared record, the seller connects order facts, video, and policy manually from memory.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4846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01  BUYER MESSAGE</a:t>
            </a:r>
          </a:p>
          <a:p>
            <a:pPr>
              <a:defRPr sz="1300">
                <a:solidFill>
                  <a:srgbClr val="172621"/>
                </a:solidFill>
                <a:latin typeface="Inter"/>
              </a:defRPr>
            </a:pPr>
            <a:r>
              <a:t>Subjective text &amp; unindexed video claim in chat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035808"/>
            <a:ext cx="4846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02  ORDER RECORD</a:t>
            </a:r>
          </a:p>
          <a:p>
            <a:pPr>
              <a:defRPr sz="1300">
                <a:solidFill>
                  <a:srgbClr val="172621"/>
                </a:solidFill>
                <a:latin typeface="Inter"/>
              </a:defRPr>
            </a:pPr>
            <a:r>
              <a:t>Shopify manifest: HEAD-WHT-02, Matte White, ₹1,499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014216"/>
            <a:ext cx="4846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03  COURIER STATUS</a:t>
            </a:r>
          </a:p>
          <a:p>
            <a:pPr>
              <a:defRPr sz="1300">
                <a:solidFill>
                  <a:srgbClr val="172621"/>
                </a:solidFill>
                <a:latin typeface="Inter"/>
              </a:defRPr>
            </a:pPr>
            <a:r>
              <a:t>Shippo scan: delivered 4 days ago (Day 4 of 7)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992624"/>
            <a:ext cx="4846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04  RETURN POLICY</a:t>
            </a:r>
          </a:p>
          <a:p>
            <a:pPr>
              <a:defRPr sz="1300">
                <a:solidFill>
                  <a:srgbClr val="172621"/>
                </a:solidFill>
                <a:latin typeface="Inter"/>
              </a:defRPr>
            </a:pPr>
            <a:r>
              <a:t>7-day defect window; security packaging tag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3474720"/>
            <a:ext cx="365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D95D39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057400"/>
            <a:ext cx="5242255" cy="3803904"/>
          </a:xfrm>
          <a:prstGeom prst="rect">
            <a:avLst/>
          </a:prstGeom>
          <a:solidFill>
            <a:srgbClr val="172621"/>
          </a:solidFill>
          <a:ln w="25400">
            <a:solidFill>
              <a:srgbClr val="D95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95D39"/>
                </a:solidFill>
                <a:latin typeface="IBM Plex Mono"/>
              </a:defRPr>
            </a:pPr>
            <a:r>
              <a:t>THE MISSING LINK</a:t>
            </a:r>
          </a:p>
          <a:p>
            <a:pPr algn="ctr">
              <a:defRPr sz="2600" b="1">
                <a:solidFill>
                  <a:srgbClr val="F5F3EF"/>
                </a:solidFill>
                <a:latin typeface="Inter"/>
              </a:defRPr>
            </a:pPr>
            <a:r>
              <a:t>NO SHARED EVIDENCE RECORD</a:t>
            </a:r>
          </a:p>
          <a:p>
            <a:br/>
            <a:pPr algn="ctr">
              <a:defRPr sz="1800" b="1" i="1">
                <a:solidFill>
                  <a:srgbClr val="FBBF24"/>
                </a:solidFill>
                <a:latin typeface="Inter"/>
              </a:defRPr>
            </a:pPr>
            <a:r>
              <a:t>“What evidence supports this return decision?”</a:t>
            </a:r>
          </a:p>
          <a:p>
            <a:br/>
            <a:pPr algn="ctr">
              <a:defRPr sz="1500" b="1">
                <a:solidFill>
                  <a:srgbClr val="F5F3EF"/>
                </a:solidFill>
                <a:latin typeface="Inter"/>
              </a:defRPr>
            </a:pPr>
            <a:r>
              <a:t>Four disconnected sources. One seller making the call.</a:t>
            </a:r>
          </a:p>
          <a:p>
            <a:br/>
            <a:pPr algn="ctr">
              <a:defRPr sz="1300">
                <a:solidFill>
                  <a:srgbClr val="D1D5DB"/>
                </a:solidFill>
                <a:latin typeface="Inter"/>
              </a:defRPr>
            </a:pPr>
            <a:r>
              <a:t>The gap is the absence of an auditable artifact linking order truth, video keyframes, and policy before money moves.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Fraud research: 9% strict fraud (NRF 2025) vs 15.14% fraud + abuse (Appriss/Deloitte 2024). Details in notes.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STAR DEMO · CORE BENCHMARK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The order says white. The video shows black.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596E64"/>
                </a:solidFill>
                <a:latin typeface="Inter"/>
              </a:defRPr>
            </a:pPr>
            <a:r>
              <a:t>ReturnLens flags the contradiction — the seller decides.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694944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udio_white_headph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48840"/>
            <a:ext cx="3200400" cy="2606040"/>
          </a:xfrm>
          <a:prstGeom prst="rect">
            <a:avLst/>
          </a:prstGeom>
        </p:spPr>
      </p:pic>
      <p:pic>
        <p:nvPicPr>
          <p:cNvPr id="8" name="Picture 7" descr="unboxing_black_headph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2148840"/>
            <a:ext cx="3200400" cy="26060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14400" y="4846320"/>
            <a:ext cx="3200400" cy="347472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STORE CATALOG TRUTH: HEAD-WHT-02 (WHITE)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4846320"/>
            <a:ext cx="3200400" cy="347472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991B1B"/>
                </a:solidFill>
                <a:latin typeface="IBM Plex Mono"/>
              </a:defRPr>
            </a:pPr>
            <a:r>
              <a:t>UNBOXING KEYFRAME (STAGED): MIDNIGHT 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03520"/>
            <a:ext cx="6583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96E64"/>
                </a:solidFill>
                <a:latin typeface="Inter"/>
              </a:defRPr>
            </a:pPr>
            <a:r>
              <a:t>Visual Grounding: Keyframe 00:07 confirms black casing. Exact SKU barcode is unverified in this frame.</a:t>
            </a:r>
          </a:p>
          <a:p>
            <a:pPr>
              <a:defRPr sz="1150">
                <a:solidFill>
                  <a:srgbClr val="7A8E85"/>
                </a:solidFill>
                <a:latin typeface="Inter"/>
              </a:defRPr>
            </a:pPr>
            <a:r>
              <a:t>Frame citation provides a traceable timestamped reference, not absolute proof of video authenticity.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9" y="1965960"/>
            <a:ext cx="3504895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2148840"/>
            <a:ext cx="3047695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5D39"/>
                </a:solidFill>
                <a:latin typeface="IBM Plex Mono"/>
              </a:defRPr>
            </a:pPr>
            <a:r>
              <a:t>POLICY GATE EVALUATION</a:t>
            </a:r>
          </a:p>
          <a:p>
            <a:pPr>
              <a:defRPr sz="2200" b="1">
                <a:solidFill>
                  <a:srgbClr val="991B1B"/>
                </a:solidFill>
                <a:latin typeface="Inter"/>
              </a:defRPr>
            </a:pPr>
            <a:r>
              <a:t>COLOR CONTRADICTION</a:t>
            </a:r>
          </a:p>
          <a:p>
            <a:br/>
            <a:pPr>
              <a:defRPr sz="1500" b="1">
                <a:solidFill>
                  <a:srgbClr val="172621"/>
                </a:solidFill>
                <a:latin typeface="Inter"/>
              </a:defRPr>
            </a:pPr>
            <a:r>
              <a:t>• ORDERED — Matte White</a:t>
            </a:r>
          </a:p>
          <a:p>
            <a:pPr>
              <a:defRPr sz="1500" b="1">
                <a:solidFill>
                  <a:srgbClr val="991B1B"/>
                </a:solidFill>
                <a:latin typeface="Inter"/>
              </a:defRPr>
            </a:pPr>
            <a:r>
              <a:t>• OBSERVED — Midnight Black</a:t>
            </a:r>
          </a:p>
          <a:p>
            <a:pPr>
              <a:defRPr sz="1400" b="1">
                <a:solidFill>
                  <a:srgbClr val="596E64"/>
                </a:solidFill>
                <a:latin typeface="Inter"/>
              </a:defRPr>
            </a:pPr>
            <a:r>
              <a:t>• EXACT SKU — Not verified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4434840"/>
            <a:ext cx="3047695" cy="548640"/>
          </a:xfrm>
          <a:prstGeom prst="rect">
            <a:avLst/>
          </a:prstGeom>
          <a:solidFill>
            <a:srgbClr val="FCECE8"/>
          </a:solidFill>
          <a:ln w="19050">
            <a:solidFill>
              <a:srgbClr val="D95D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991B1B"/>
                </a:solidFill>
                <a:latin typeface="IBM Plex Mono"/>
              </a:defRPr>
            </a:pPr>
            <a:r>
              <a:t>SELLER REVIEW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5120640"/>
            <a:ext cx="3047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No automatic denial or refund without seller authorization.</a:t>
            </a:r>
          </a:p>
          <a:p>
            <a:br/>
            <a:pPr>
              <a:defRPr sz="1000">
                <a:solidFill>
                  <a:srgbClr val="596E64"/>
                </a:solidFill>
                <a:latin typeface="IBM Plex Mono"/>
              </a:defRPr>
            </a:pPr>
            <a:r>
              <a:t>Financial safety ceiling:</a:t>
            </a:r>
            <a:br/>
            <a:r>
              <a:t>0 &lt; amount &lt;= min(₹4,999, remaining, paid)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Illustrative staged evidence · Exact SKU: Not verified · Mock Shopify &amp; Shippo APIs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A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D1A7"/>
                </a:solidFill>
                <a:latin typeface="IBM Plex Mono"/>
              </a:defRPr>
            </a:pPr>
            <a:r>
              <a:t>SYSTEM ARCHITECTURE · DYNAMIC AGENTIC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5F3EF"/>
                </a:solidFill>
                <a:latin typeface="Inter"/>
              </a:defRPr>
            </a:pPr>
            <a:r>
              <a:t>Models observe. Code verifies. Seller authorizes.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A3B8B0"/>
                </a:solidFill>
                <a:latin typeface="Inter"/>
              </a:defRPr>
            </a:pPr>
            <a:r>
              <a:t>Dynamic action selection and stateful resumption under deterministic human authorization.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65960"/>
            <a:ext cx="329184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D1A7"/>
                </a:solidFill>
                <a:latin typeface="IBM Plex Mono"/>
              </a:defRPr>
            </a:pPr>
            <a:r>
              <a:t>MODEL</a:t>
            </a:r>
          </a:p>
          <a:p>
            <a:pPr>
              <a:defRPr sz="1550" b="1">
                <a:solidFill>
                  <a:srgbClr val="F5F3EF"/>
                </a:solidFill>
                <a:latin typeface="Inter"/>
              </a:defRPr>
            </a:pPr>
            <a:r>
              <a:t>Plan and observe</a:t>
            </a:r>
          </a:p>
          <a:p>
            <a:pPr>
              <a:defRPr sz="1200">
                <a:solidFill>
                  <a:srgbClr val="A3B8B0"/>
                </a:solidFill>
                <a:latin typeface="Inter"/>
              </a:defRPr>
            </a:pPr>
            <a:r>
              <a:t>Planner proposes typed actions · Vision model generates cited observations.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3291840" cy="36576"/>
          </a:xfrm>
          <a:prstGeom prst="rect">
            <a:avLst/>
          </a:prstGeom>
          <a:solidFill>
            <a:srgbClr val="00D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42816" y="1965960"/>
            <a:ext cx="3931920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5F3EF"/>
                </a:solidFill>
                <a:latin typeface="IBM Plex Mono"/>
              </a:defRPr>
            </a:pPr>
            <a:r>
              <a:t>CODE</a:t>
            </a:r>
          </a:p>
          <a:p>
            <a:pPr>
              <a:defRPr sz="1550" b="1">
                <a:solidFill>
                  <a:srgbClr val="F5F3EF"/>
                </a:solidFill>
                <a:latin typeface="Inter"/>
              </a:defRPr>
            </a:pPr>
            <a:r>
              <a:t>Retrieve, validate and enforce rules</a:t>
            </a:r>
          </a:p>
          <a:p>
            <a:pPr>
              <a:defRPr sz="1200">
                <a:solidFill>
                  <a:srgbClr val="A3B8B0"/>
                </a:solidFill>
                <a:latin typeface="Inter"/>
              </a:defRPr>
            </a:pPr>
            <a:r>
              <a:t>Backend code validates schemas · FFmpeg extracts frames · Python code evaluates rules P-01 to P-08.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42816" y="1965960"/>
            <a:ext cx="393192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94192" y="1965960"/>
            <a:ext cx="3065983" cy="1234440"/>
          </a:xfrm>
          <a:prstGeom prst="rect">
            <a:avLst/>
          </a:prstGeom>
          <a:solidFill>
            <a:srgbClr val="172621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BBF24"/>
                </a:solidFill>
                <a:latin typeface="IBM Plex Mono"/>
              </a:defRPr>
            </a:pPr>
            <a:r>
              <a:t>SELLER</a:t>
            </a:r>
          </a:p>
          <a:p>
            <a:pPr>
              <a:defRPr sz="1550" b="1">
                <a:solidFill>
                  <a:srgbClr val="F5F3EF"/>
                </a:solidFill>
                <a:latin typeface="Inter"/>
              </a:defRPr>
            </a:pPr>
            <a:r>
              <a:t>Approve consequential actions</a:t>
            </a:r>
          </a:p>
          <a:p>
            <a:pPr>
              <a:defRPr sz="1200">
                <a:solidFill>
                  <a:srgbClr val="A3B8B0"/>
                </a:solidFill>
                <a:latin typeface="Inter"/>
              </a:defRPr>
            </a:pPr>
            <a:r>
              <a:t>Fail-closed authorization gate · 1-click human merchant confirmation before refund release.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94192" y="1965960"/>
            <a:ext cx="3065983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401568"/>
            <a:ext cx="10728655" cy="1874519"/>
          </a:xfrm>
          <a:prstGeom prst="rect">
            <a:avLst/>
          </a:prstGeom>
          <a:solidFill>
            <a:srgbClr val="14221D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11296"/>
            <a:ext cx="103628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3C5FD"/>
                </a:solidFill>
                <a:latin typeface="IBM Plex Mono"/>
              </a:defRPr>
            </a:pPr>
            <a:r>
              <a:t>DYNAMIC STATEFUL CLARIFICATION LOOP (CASE 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3904488"/>
            <a:ext cx="1627632" cy="594360"/>
          </a:xfrm>
          <a:prstGeom prst="rect">
            <a:avLst/>
          </a:prstGeom>
          <a:solidFill>
            <a:srgbClr val="1F302A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defRPr sz="1000" b="1">
                <a:solidFill>
                  <a:srgbClr val="F5F3EF"/>
                </a:solidFill>
                <a:latin typeface="IBM Plex Mono"/>
              </a:defRPr>
            </a:pPr>
            <a:r>
              <a:t>DARK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8024" y="4014216"/>
            <a:ext cx="2011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60904" y="3904488"/>
            <a:ext cx="1627632" cy="594360"/>
          </a:xfrm>
          <a:prstGeom prst="rect">
            <a:avLst/>
          </a:prstGeom>
          <a:solidFill>
            <a:srgbClr val="1F302A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defRPr sz="1000" b="1">
                <a:solidFill>
                  <a:srgbClr val="F5F3EF"/>
                </a:solidFill>
                <a:latin typeface="IBM Plex Mono"/>
              </a:defRPr>
            </a:pPr>
            <a:r>
              <a:t>ASK FOR 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4014216"/>
            <a:ext cx="2011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53128" y="3904488"/>
            <a:ext cx="1627632" cy="594360"/>
          </a:xfrm>
          <a:prstGeom prst="rect">
            <a:avLst/>
          </a:prstGeom>
          <a:solidFill>
            <a:srgbClr val="1E3A8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defRPr sz="1000" b="1">
                <a:solidFill>
                  <a:srgbClr val="DBEAFE"/>
                </a:solidFill>
                <a:latin typeface="IBM Plex Mono"/>
              </a:defRPr>
            </a:pPr>
            <a:r>
              <a:t>WAITING_FOR_EVIDENCE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2472" y="4014216"/>
            <a:ext cx="2011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3904488"/>
            <a:ext cx="1627632" cy="594360"/>
          </a:xfrm>
          <a:prstGeom prst="rect">
            <a:avLst/>
          </a:prstGeom>
          <a:solidFill>
            <a:srgbClr val="1F302A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defRPr sz="1000" b="1">
                <a:solidFill>
                  <a:srgbClr val="F5F3EF"/>
                </a:solidFill>
                <a:latin typeface="IBM Plex Mono"/>
              </a:defRPr>
            </a:pPr>
            <a:r>
              <a:t>CUSTOMER UPLOAD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54696" y="4014216"/>
            <a:ext cx="2011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7576" y="3904488"/>
            <a:ext cx="1627632" cy="594360"/>
          </a:xfrm>
          <a:prstGeom prst="rect">
            <a:avLst/>
          </a:prstGeom>
          <a:solidFill>
            <a:srgbClr val="1E3A8A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defRPr sz="1000" b="1">
                <a:solidFill>
                  <a:srgbClr val="DBEAFE"/>
                </a:solidFill>
                <a:latin typeface="IBM Plex Mono"/>
              </a:defRPr>
            </a:pPr>
            <a:r>
              <a:t>RESUME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4014216"/>
            <a:ext cx="20116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93C5FD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29800" y="3904488"/>
            <a:ext cx="1627632" cy="594360"/>
          </a:xfrm>
          <a:prstGeom prst="rect">
            <a:avLst/>
          </a:prstGeom>
          <a:solidFill>
            <a:srgbClr val="1F302A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>
              <a:defRPr sz="1000" b="1">
                <a:solidFill>
                  <a:srgbClr val="F5F3EF"/>
                </a:solidFill>
                <a:latin typeface="IBM Plex Mono"/>
              </a:defRPr>
            </a:pPr>
            <a:r>
              <a:t>SELLER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636008"/>
            <a:ext cx="103628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A3B8B0"/>
                </a:solidFill>
                <a:latin typeface="Inter"/>
              </a:defRPr>
            </a:pPr>
            <a:r>
              <a:t>Agent calls ask_for_evidence() on low-light frames, serializes context, and resumes execution upon customer upload.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440680"/>
            <a:ext cx="10728655" cy="713232"/>
          </a:xfrm>
          <a:prstGeom prst="rect">
            <a:avLst/>
          </a:prstGeom>
          <a:solidFill>
            <a:srgbClr val="121F1B"/>
          </a:solidFill>
          <a:ln w="12700">
            <a:solidFill>
              <a:srgbClr val="22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  <a:latin typeface="IBM Plex Mono"/>
              </a:defRPr>
            </a:pPr>
            <a:r>
              <a:t>SECONDARY PS-04 ROUTE ("Where is my order?"): Store API → Courier API → Customer Reply (Zero vision overhead)</a:t>
            </a:r>
          </a:p>
          <a:p>
            <a:pPr>
              <a:defRPr sz="1050">
                <a:solidFill>
                  <a:srgbClr val="A3B8B0"/>
                </a:solidFill>
                <a:latin typeface="IBM Plex Mono"/>
              </a:defRPr>
            </a:pPr>
            <a:r>
              <a:t>Structured JSON Audit Log recorded at every state transition.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223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5C786E"/>
                </a:solidFill>
                <a:latin typeface="IBM Plex Mono"/>
              </a:defRPr>
            </a:pPr>
            <a:r>
              <a:t>Structured JSON Audit Log recorded at every state transition · Decision priority: Contradiction &gt; Hard fail &gt; Unclear only &gt; All pass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C786E"/>
                </a:solidFill>
                <a:latin typeface="IBM Plex Mono"/>
              </a:defRPr>
            </a:pPr>
            <a:r>
              <a:t>Slide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DEMO SCENARIOS · BEHAVIORAL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Different evidence. Different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96E64"/>
                </a:solidFill>
                <a:latin typeface="Inter"/>
              </a:defRPr>
            </a:pPr>
            <a:r>
              <a:t>Predictable, controlled prototype responses across four distinct evidence conditions.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5740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58568"/>
            <a:ext cx="2011680" cy="457200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6B55"/>
                </a:solidFill>
                <a:latin typeface="IBM Plex Mono"/>
              </a:defRPr>
            </a:pPr>
            <a:r>
              <a:t>01 · CONSISTENT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167128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Evidence Supported · Manifest matches, packaging tag present, cosmetic defect 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240280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148840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6B55"/>
                </a:solidFill>
                <a:latin typeface="IBM Plex Mono"/>
              </a:defRPr>
            </a:pPr>
            <a:r>
              <a:t>PREPARE SELLER REVIEW</a:t>
            </a:r>
          </a:p>
          <a:p>
            <a:pPr>
              <a:defRPr sz="1200">
                <a:solidFill>
                  <a:srgbClr val="596E64"/>
                </a:solidFill>
                <a:latin typeface="Inter"/>
              </a:defRPr>
            </a:pPr>
            <a:r>
              <a:t>Drafts mock return label and refund draft in pending_return_receipt. Money releases only on physical receipt.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035808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236976"/>
            <a:ext cx="2011680" cy="457200"/>
          </a:xfrm>
          <a:prstGeom prst="rect">
            <a:avLst/>
          </a:prstGeom>
          <a:solidFill>
            <a:srgbClr val="FCEC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991B1B"/>
                </a:solidFill>
                <a:latin typeface="IBM Plex Mono"/>
              </a:defRPr>
            </a:pPr>
            <a:r>
              <a:t>02 · CONTRADICTION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3145536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Ordered White, Observed Black · HEAD-WHT-02 ordered vs Frame 00:07 Black item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3218688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127248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991B1B"/>
                </a:solidFill>
                <a:latin typeface="IBM Plex Mono"/>
              </a:defRPr>
            </a:pPr>
            <a:r>
              <a:t>ESCALATE TO SELLER</a:t>
            </a:r>
          </a:p>
          <a:p>
            <a:pPr>
              <a:defRPr sz="1200">
                <a:solidFill>
                  <a:srgbClr val="596E64"/>
                </a:solidFill>
                <a:latin typeface="Inter"/>
              </a:defRPr>
            </a:pPr>
            <a:r>
              <a:t>Policy P-03 blocks automation. Inhibits label and refund. Seller selects: mis-shipment / box label / warehouse inspection.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14216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215384"/>
            <a:ext cx="201168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1E40AF"/>
                </a:solidFill>
                <a:latin typeface="IBM Plex Mono"/>
              </a:defRPr>
            </a:pPr>
            <a:r>
              <a:t>03 · UNCLEAR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123944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Insufficient Visual Evidence · 4s low-light video (brightness 28/255), barcode obscured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197096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105656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40AF"/>
                </a:solidFill>
                <a:latin typeface="IBM Plex Mono"/>
              </a:defRPr>
            </a:pPr>
            <a:r>
              <a:t>ASK AND RESUME</a:t>
            </a:r>
          </a:p>
          <a:p>
            <a:pPr>
              <a:defRPr sz="1200">
                <a:solidFill>
                  <a:srgbClr val="596E64"/>
                </a:solidFill>
                <a:latin typeface="Inter"/>
              </a:defRPr>
            </a:pPr>
            <a:r>
              <a:t>Calls ask_for_evidence(); transitions to WAITING_FOR_EVIDENCE; resumes context on upload (1 retry limit).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992624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193792"/>
            <a:ext cx="2011680" cy="4572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65F46"/>
                </a:solidFill>
                <a:latin typeface="IBM Plex Mono"/>
              </a:defRPr>
            </a:pPr>
            <a:r>
              <a:t>04 · SEQUENCE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510235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Continuity Uncertain · Staged take from sealed parcel opening to product reveal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5175504"/>
            <a:ext cx="274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B55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5084064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65F46"/>
                </a:solidFill>
                <a:latin typeface="IBM Plex Mono"/>
              </a:defRPr>
            </a:pPr>
            <a:r>
              <a:t>INSPECT SEQUENCE CONTINUITY</a:t>
            </a:r>
          </a:p>
          <a:p>
            <a:pPr>
              <a:defRPr sz="1200">
                <a:solidFill>
                  <a:srgbClr val="596E64"/>
                </a:solidFill>
                <a:latin typeface="Inter"/>
              </a:defRPr>
            </a:pPr>
            <a:r>
              <a:t>Expected prototype behavior: inspect sequence continuity and flag cutaways for seller review.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Staged prototype scenarios · Expected agent behaviors, not measured production metrics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24-HOUR PROTOTYPE PLAN · FEASIBILITY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A credible prototype in 24 hours.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2865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596E64"/>
                </a:solidFill>
                <a:latin typeface="Inter"/>
              </a:defRPr>
            </a:pPr>
            <a:r>
              <a:t>Strict scope boundaries and single-threaded ownership make the prototype buildable in one 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10728655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48256"/>
            <a:ext cx="256032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6B55"/>
                </a:solidFill>
                <a:latin typeface="IBM Plex Mono"/>
              </a:defRPr>
            </a:pPr>
            <a:r>
              <a:t>00–06h</a:t>
            </a:r>
          </a:p>
          <a:p>
            <a:pPr>
              <a:defRPr sz="1500" b="1">
                <a:solidFill>
                  <a:srgbClr val="172621"/>
                </a:solidFill>
                <a:latin typeface="Inter"/>
              </a:defRPr>
            </a:pPr>
            <a:r>
              <a:t>Mock APIs &amp; Agent State</a:t>
            </a:r>
          </a:p>
          <a:p>
            <a:pPr>
              <a:defRPr sz="1150" b="1">
                <a:solidFill>
                  <a:srgbClr val="006B55"/>
                </a:solidFill>
                <a:latin typeface="Inter"/>
              </a:defRPr>
            </a:pPr>
            <a:r>
              <a:t>Person A (Agent / Backend / Policy)</a:t>
            </a:r>
          </a:p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LangGraph state machine, mock store &amp; courier fixtures, order status fast path.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47288" y="2048256"/>
            <a:ext cx="256032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6B55"/>
                </a:solidFill>
                <a:latin typeface="IBM Plex Mono"/>
              </a:defRPr>
            </a:pPr>
            <a:r>
              <a:t>06–12h</a:t>
            </a:r>
          </a:p>
          <a:p>
            <a:pPr>
              <a:defRPr sz="1500" b="1">
                <a:solidFill>
                  <a:srgbClr val="172621"/>
                </a:solidFill>
                <a:latin typeface="Inter"/>
              </a:defRPr>
            </a:pPr>
            <a:r>
              <a:t>Evidence Pipeline &amp; Policy</a:t>
            </a:r>
          </a:p>
          <a:p>
            <a:pPr>
              <a:defRPr sz="1150" b="1">
                <a:solidFill>
                  <a:srgbClr val="006B55"/>
                </a:solidFill>
                <a:latin typeface="Inter"/>
              </a:defRPr>
            </a:pPr>
            <a:r>
              <a:t>Person B (Vision / Evidence / UI)</a:t>
            </a:r>
          </a:p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FFmpeg keyframe indexer, vision prompt schema, critic prompt, seller console UI.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2048256"/>
            <a:ext cx="256032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6B55"/>
                </a:solidFill>
                <a:latin typeface="IBM Plex Mono"/>
              </a:defRPr>
            </a:pPr>
            <a:r>
              <a:t>12–18h</a:t>
            </a:r>
          </a:p>
          <a:p>
            <a:pPr>
              <a:defRPr sz="1500" b="1">
                <a:solidFill>
                  <a:srgbClr val="172621"/>
                </a:solidFill>
                <a:latin typeface="Inter"/>
              </a:defRPr>
            </a:pPr>
            <a:r>
              <a:t>State Flow &amp; Scenarios</a:t>
            </a:r>
          </a:p>
          <a:p>
            <a:pPr>
              <a:defRPr sz="1150" b="1">
                <a:solidFill>
                  <a:srgbClr val="006B55"/>
                </a:solidFill>
                <a:latin typeface="Inter"/>
              </a:defRPr>
            </a:pPr>
            <a:r>
              <a:t>Person C (Fixtures / Integration / QA)</a:t>
            </a:r>
          </a:p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Clarification/resume loop, wiring 4 staged demo cases, end-to-end event bus.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78824" y="2048256"/>
            <a:ext cx="2560320" cy="17007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06B55"/>
                </a:solidFill>
                <a:latin typeface="IBM Plex Mono"/>
              </a:defRPr>
            </a:pPr>
            <a:r>
              <a:t>18–24h</a:t>
            </a:r>
          </a:p>
          <a:p>
            <a:pPr>
              <a:defRPr sz="1500" b="1">
                <a:solidFill>
                  <a:srgbClr val="172621"/>
                </a:solidFill>
                <a:latin typeface="Inter"/>
              </a:defRPr>
            </a:pPr>
            <a:r>
              <a:t>Testing &amp; Submission</a:t>
            </a:r>
          </a:p>
          <a:p>
            <a:pPr>
              <a:defRPr sz="1150" b="1">
                <a:solidFill>
                  <a:srgbClr val="006B55"/>
                </a:solidFill>
                <a:latin typeface="Inter"/>
              </a:defRPr>
            </a:pPr>
            <a:r>
              <a:t>All 3 Members</a:t>
            </a:r>
          </a:p>
          <a:p>
            <a:pPr>
              <a:defRPr sz="1100">
                <a:solidFill>
                  <a:srgbClr val="596E64"/>
                </a:solidFill>
                <a:latin typeface="Inter"/>
              </a:defRPr>
            </a:pPr>
            <a:r>
              <a:t>Authorization safety tests, edge cases, fallback validation, demo video recording.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977639"/>
            <a:ext cx="5257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977639"/>
            <a:ext cx="73152" cy="210312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087367"/>
            <a:ext cx="4937760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6B55"/>
                </a:solidFill>
                <a:latin typeface="IBM Plex Mono"/>
              </a:defRPr>
            </a:pPr>
            <a:r>
              <a:t>MUST DELIVER (CORE PROTOTYPE)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Mock store &amp; courier APIs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Deterministic policy &amp; seller gate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Color-mismatch contradiction scenario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Clarification / resume scenario (Case C)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Structured JSON audit trail log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Order-status fast path lookup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2375" y="3977639"/>
            <a:ext cx="5257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2375" y="3977639"/>
            <a:ext cx="73152" cy="21031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087367"/>
            <a:ext cx="4937760" cy="188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95D39"/>
                </a:solidFill>
                <a:latin typeface="IBM Plex Mono"/>
              </a:defRPr>
            </a:pPr>
            <a:r>
              <a:t>CUT FIRST IF BEHIND (DEFERRED EXPANSION)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Advanced continuity checks (Case D stretch)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Live external carrier &amp; store integrations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Video OCR barcode scanner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• Merchant analytics dashboard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E2D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8251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7A8E85"/>
                </a:solidFill>
                <a:latin typeface="IBM Plex Mono"/>
              </a:defRPr>
            </a:pPr>
            <a:r>
              <a:t>Team Rookie (3 Members) · PS-04 Autonomous Support Agent · 24-Hour Prototype Feasibility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638251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7A8E85"/>
                </a:solidFill>
                <a:latin typeface="IBM Plex Mono"/>
              </a:defRPr>
            </a:pPr>
            <a:r>
              <a:t>Slide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