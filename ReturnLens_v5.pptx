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Product Hero &amp; Executive Summary:</a:t>
            </a:r>
          </a:p>
          <a:p>
            <a:r>
              <a:t>- Problem Statement Fit: PS-04 (Autonomous Support Agent for Online Sellers).</a:t>
            </a:r>
          </a:p>
          <a:p>
            <a:r>
              <a:t>- Target User: Solo direct-to-consumer (D2C) online merchants managing customer support, shipping, and returns alone.</a:t>
            </a:r>
          </a:p>
          <a:p>
            <a:r>
              <a:t>- Core Friction: Solo sellers lose valuable hours navigating fragmented tabs (buyer chat, Shopify, Shippo tracking, store return policy). Return decisions are currently made from memory without unified evidence.</a:t>
            </a:r>
          </a:p>
          <a:p>
            <a:r>
              <a:t>- Core Thesis: 'Models observe. Code verifies. Seller authorizes.'</a:t>
            </a:r>
          </a:p>
          <a:p>
            <a:r>
              <a:t>- Console Focus: Side-by-side comparison between ordered White Headphones (HEAD-WHT-02, ₹1,499) and unboxed Black Headphones (Frame 00:07). The agent flags the contradiction, leaves exact SKU unverified, and surfaces actionable resolution choices to the seller.</a:t>
            </a:r>
          </a:p>
          <a:p>
            <a:r>
              <a:t>- Safety Boundary: The system never autonomously issues a refund or denies a customer. Financial release strictly requires 1-click merchant authorization.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Problem Space &amp; The Four Disconnected Sources:</a:t>
            </a:r>
          </a:p>
          <a:p>
            <a:r>
              <a:t>- The returns bottleneck for solo sellers is not an absent returns portal; it is fragmented, unverified context across four disconnected systems:</a:t>
            </a:r>
          </a:p>
          <a:p>
            <a:r>
              <a:t>  1. Buyer claim in chat (unverified claims, emotional text).</a:t>
            </a:r>
          </a:p>
          <a:p>
            <a:r>
              <a:t>  2. Store truth in Shopify (SKU HEAD-WHT-02, ₹1,499).</a:t>
            </a:r>
          </a:p>
          <a:p>
            <a:r>
              <a:t>  3. Courier tracking in Shippo (delivered 4 days ago).</a:t>
            </a:r>
          </a:p>
          <a:p>
            <a:r>
              <a:t>  4. Store return policy document (7-day defect window, security tag).</a:t>
            </a:r>
          </a:p>
          <a:p>
            <a:r>
              <a:t>- Central Gap: Four systems, but no traceable decision. The merchant makes memory-based decisions across multiple tabs.</a:t>
            </a:r>
          </a:p>
          <a:p>
            <a:r>
              <a:t>- Sourced Fraud Context: NRF 2025 reports 9% for strictly criminal return fraud, whereas Appriss/Deloitte 2024 reports 15.14% when combining fraud and policy abuse (wardrobing, unboxing swaps). These measure distinct scopes and must never be merged.</a:t>
            </a:r>
          </a:p>
          <a:p>
            <a:r>
              <a:t>- Asymmetric Merchant Risk: Wrong refund loses inventory and gross margin; unfair denial destroys customer lifetime value (LTV).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Star Demo &amp; Technical Honesty in Vision Citation:</a:t>
            </a:r>
          </a:p>
          <a:p>
            <a:r>
              <a:t>- Core Benchmark Scenario (Case B): Buyer ordered White Headphones (HEAD-WHT-02, ₹1,499), but unboxing frame 00:07 shows black headphones.</a:t>
            </a:r>
          </a:p>
          <a:p>
            <a:r>
              <a:t>- Visual Grounding Honesty: The agent does NOT claim to read an unreadable SKU barcode from frame 00:07. It factually observes: 'Observed Color: Midnight Black · Exact SKU: Not verified · Tag: Not visible in cited frame'. Frame citations provide a traceable reference, not proof of footage authenticity.</a:t>
            </a:r>
          </a:p>
          <a:p>
            <a:r>
              <a:t>- Decision Logic: Seeing a black item when white was ordered is an undeniable visual contradiction against the manifest. Instead of auto-denying the customer, the policy engine triggers ESCALATE.</a:t>
            </a:r>
          </a:p>
          <a:p>
            <a:r>
              <a:t>- Three Clear Merchant Options:</a:t>
            </a:r>
          </a:p>
          <a:p>
            <a:r>
              <a:t>  1. Request unboxing video with packaging label / serial number visible.</a:t>
            </a:r>
          </a:p>
          <a:p>
            <a:r>
              <a:t>  2. Reject return under policy (item does not match order record).</a:t>
            </a:r>
          </a:p>
          <a:p>
            <a:r>
              <a:t>  3. Override &amp; approve if seller acknowledges known warehouse fulfillment error.</a:t>
            </a:r>
          </a:p>
          <a:p>
            <a:r>
              <a:t>- Financial Guardrail: min(₹4,999, remaining refundable amount, order paid amount). No money moves without seller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System Architecture, Agentic Governance &amp; Technical Q&amp;A Defense:</a:t>
            </a:r>
          </a:p>
          <a:p>
            <a:r>
              <a:t>- Philosophy: 'Models observe. Code verifies. Seller authorizes.'</a:t>
            </a:r>
          </a:p>
          <a:p>
            <a:r>
              <a:t>- Responsibilities: Planner model proposes tool actions; backend code validates JSON schemas; FFmpeg extracts keyframes; vision model generates cited observations; deterministic Python rules evaluate policy P-01 to P-08; seller gate authorizes consequential actions.</a:t>
            </a:r>
          </a:p>
          <a:p>
            <a:r>
              <a:t>- DEFENSE QUESTION 1: Why is this an agent rather than a hardcoded workflow?</a:t>
            </a:r>
          </a:p>
          <a:p>
            <a:r>
              <a:t>  ReturnLens is an autonomous state machine with dynamic action selection, multimodal observation, and stateful lifecycle management. In Case C, when a customer submits a dark or blurry video (average brightness 28), the agent does NOT simply fail or run a static linear chain. It inspects the frames, determines evidence is insufficient under Policy P-05, dynamically decides to invoke ask_for_evidence() with specific re-filming guidance, transitions the ticket to WAITING_FOR_EVIDENCE, pauses execution while retaining state and order context, and resumes the exact triage session when new media arrives. Conversely, for routine order status requests, the agent selects the zero-vision fast path directly querying mock APIs.</a:t>
            </a:r>
          </a:p>
          <a:p>
            <a:r>
              <a:t>- DEFENSE QUESTION 2: What happens if vision or critic models hallucinate?</a:t>
            </a:r>
          </a:p>
          <a:p>
            <a:r>
              <a:t>  Vision models produce non-binding observation metadata, never authoritative decisions. Hard business rules (return windows from carrier delivery timestamps, SKU comparisons) are executed in deterministic Python code (P-01 to P-08). The critic provides an adversarial sanity check against cited timestamps. If both vision and critic experience correlated hallucinations, the fail-closed human seller gate guarantees that no refund or return label can ever be issued without seller review.</a:t>
            </a:r>
          </a:p>
          <a:p>
            <a:r>
              <a:t>- DEFENSE QUESTION 3: How do you prevent duplicate or incorrect refunds?</a:t>
            </a:r>
          </a:p>
          <a:p>
            <a:r>
              <a:t>  1. Idempotency keys (hash(order_id, return_id, transaction_type)) with backend uniqueness checks prevent duplicate execution.</a:t>
            </a:r>
          </a:p>
          <a:p>
            <a:r>
              <a:t>  2. Ledgers enforce: 0 &lt; amount &lt;= min(₹4,999, remaining_refundable_amount, order_paid_amount).</a:t>
            </a:r>
          </a:p>
          <a:p>
            <a:r>
              <a:t>  3. Sequence: Refund proposal -&gt; Code validation -&gt; Seller approval -&gt; Revalidation -&gt; Draft creation -&gt; Receipt -&gt; Release. LLMs possess zero capability to call payment gateways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Four Reproducible Benchmark Scenarios:</a:t>
            </a:r>
          </a:p>
          <a:p>
            <a:r>
              <a:t>- Grounding Note: These four scenarios represent staged prototype test suites and deterministic expected behaviors, NOT ungrounded production field metrics.</a:t>
            </a:r>
          </a:p>
          <a:p>
            <a:r>
              <a:t>- Case 01 (Consistent Claim): All rules pass (within 7d, SKU matches manifest, tag visible, physical crack observed). System drafts return shipping label and refund draft in 'pending_return_receipt' state. No refund money is transferred until physical warehouse receipt.</a:t>
            </a:r>
          </a:p>
          <a:p>
            <a:r>
              <a:t>- Case 02 (Contradiction): Color mismatch detected (ordered white, unboxed black). System prevents auto-rejection and routes to seller review with 3 concrete resolution options.</a:t>
            </a:r>
          </a:p>
          <a:p>
            <a:r>
              <a:t>- Case 03 (Unclear / Agentic Loop): Dark video (28/255 avg brightness). Instead of auto-denying, the agent provides a clear checklist, transitions to WAITING_FOR_EVIDENCE, and resumes on upload (1 retry limit protects customers from infinite loops).</a:t>
            </a:r>
          </a:p>
          <a:p>
            <a:r>
              <a:t>- Case 04 (Continuity): Expected prototype behavior: inspect parcel-to-product sequence to flag suspicious cut-aways or missing transitions. Does not claim proven prevention of video manipulation.</a:t>
            </a:r>
          </a:p>
          <a:p>
            <a:r>
              <a:t>- Financial Cap Formula: min(₹4,999, remaining refundable amount, order paid amount) strictly prevents over-refunding.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24-Hour Sprint Feasibility, Ownership &amp; Strict Scope Guardrails:</a:t>
            </a:r>
          </a:p>
          <a:p>
            <a:r>
              <a:t>- Feasibility Argument: Why is ReturnLens realistically buildable in 24 hours by 3 engineers?</a:t>
            </a:r>
          </a:p>
          <a:p>
            <a:r>
              <a:t>  1. No live external production dependencies: deterministic mock APIs for Shopify &amp; Shippo eliminate external latency and flakiness.</a:t>
            </a:r>
          </a:p>
          <a:p>
            <a:r>
              <a:t>  2. Clear division of labor with single-threaded component ownership across 3 teammates:</a:t>
            </a:r>
          </a:p>
          <a:p>
            <a:r>
              <a:t>     - Person A (Agent / Backend / Policy / Authorization): LangGraph orchestrator, mock store/courier APIs, order status fast path, deterministic rules P-01 to P-08, fail-closed authorization gate.</a:t>
            </a:r>
          </a:p>
          <a:p>
            <a:r>
              <a:t>     - Person B (Vision / Evidence / UI): FFmpeg keyframe extraction, vision schema, critic prompt, seller console UI.</a:t>
            </a:r>
          </a:p>
          <a:p>
            <a:r>
              <a:t>     - Person C (Mock Fixtures / Integration / QA): Test fixtures, clarification/resume loop, 4 staged demo cases (A-D), authorization tests, demo video recording, README.</a:t>
            </a:r>
          </a:p>
          <a:p>
            <a:r>
              <a:t>  3. Strict Scope Discipline:</a:t>
            </a:r>
          </a:p>
          <a:p>
            <a:r>
              <a:t>     - MUST DELIVER: Mock store/courier APIs, deterministic policy engine, frame citations, seller authorization gate, structured audit log, clarification/resume loop, 4 demo cases.</a:t>
            </a:r>
          </a:p>
          <a:p>
            <a:r>
              <a:t>     - CUT FIRST IF BEHIND: Case D advanced continuity checks (stretch), real carrier webhooks, multi-product order parsing, video OCR barcode scanning, production payment gateways, seller analytics dashboards.</a:t>
            </a:r>
          </a:p>
          <a:p>
            <a:r>
              <a:t>- Winning Philosophy: 'The winning hackathon agent is not the one with the most tool definitions. It is the one where every action is held to evidence, and the seller stays in control.'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56032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AGENTX HACKATHON 2026 · PS-04 TRACK · TEAM ROOKIE (3 MEMBERS)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777240"/>
            <a:ext cx="41148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14241E"/>
                </a:solidFill>
                <a:latin typeface="Inter"/>
              </a:defRPr>
            </a:pPr>
            <a:r>
              <a:t>ReturnLens</a:t>
            </a:r>
          </a:p>
          <a:p>
            <a:pPr>
              <a:spcAft>
                <a:spcPts val="1600"/>
              </a:spcAft>
              <a:defRPr sz="2200" b="1">
                <a:solidFill>
                  <a:srgbClr val="006B54"/>
                </a:solidFill>
                <a:latin typeface="Inter"/>
              </a:defRPr>
            </a:pPr>
            <a:r>
              <a:t>Every return decision, backed by verifiable evidence.</a:t>
            </a:r>
          </a:p>
          <a:p>
            <a:pPr>
              <a:spcAft>
                <a:spcPts val="2000"/>
              </a:spcAft>
              <a:defRPr sz="1400">
                <a:solidFill>
                  <a:srgbClr val="5C7066"/>
                </a:solidFill>
                <a:latin typeface="Inter"/>
              </a:defRPr>
            </a:pPr>
            <a:r>
              <a:t>For solo D2C merchants managing orders alone: an autonomous agent that unifies customer video, store facts, and return policy into a 1-click decision console.</a:t>
            </a:r>
          </a:p>
          <a:p>
            <a:pPr>
              <a:defRPr sz="1100">
                <a:solidFill>
                  <a:srgbClr val="243830"/>
                </a:solidFill>
                <a:latin typeface="IBM Plex Mono"/>
              </a:defRPr>
            </a:pPr>
            <a:r>
              <a:t>Core Thesis: Models observe. Code verifies. Seller authorizes.</a:t>
            </a:r>
            <a:br/>
            <a:r>
              <a:t>Scope: Return triage + order status · Mock fixtures · Never auto-refunds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777240"/>
            <a:ext cx="7013448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C5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0" y="777240"/>
            <a:ext cx="7013448" cy="475488"/>
          </a:xfrm>
          <a:prstGeom prst="rect">
            <a:avLst/>
          </a:prstGeom>
          <a:solidFill>
            <a:srgbClr val="14241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850392"/>
            <a:ext cx="6647688" cy="329184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50" b="1">
                <a:solidFill>
                  <a:srgbClr val="FDF2D0"/>
                </a:solidFill>
                <a:latin typeface="IBM Plex Mono"/>
              </a:defRPr>
            </a:pPr>
            <a:r>
              <a:t>RETURNLENS SELLER CONSOLE — CASE #RT-8821               [ MOCK EVIDENCE PACK ]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252728"/>
            <a:ext cx="7013448" cy="384048"/>
          </a:xfrm>
          <a:prstGeom prst="rect">
            <a:avLst/>
          </a:prstGeom>
          <a:solidFill>
            <a:srgbClr val="F2EFEB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289304"/>
            <a:ext cx="6647688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00">
                <a:solidFill>
                  <a:srgbClr val="14241E"/>
                </a:solidFill>
                <a:latin typeface="IBM Plex Mono"/>
              </a:defRPr>
            </a:pPr>
            <a:r>
              <a:t>CASE: #RT-8821 · ORDER: #ORD-7729 · SKU: HEAD-WHT-02      DELIVERED: 4d ago (Window: Day 4/7 PASS)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828800"/>
            <a:ext cx="3246120" cy="201168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2011680"/>
            <a:ext cx="2971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5C7066"/>
                </a:solidFill>
                <a:latin typeface="IBM Plex Mono"/>
              </a:defRPr>
            </a:pPr>
            <a:r>
              <a:t>STORE TRUTH · SHOPIFY</a:t>
            </a:r>
          </a:p>
          <a:p>
            <a:pPr>
              <a:defRPr sz="1600" b="1">
                <a:solidFill>
                  <a:srgbClr val="14241E"/>
                </a:solidFill>
                <a:latin typeface="Inter"/>
              </a:defRPr>
            </a:pPr>
            <a:r>
              <a:t>HEAD-WHT-02 (White)</a:t>
            </a:r>
          </a:p>
          <a:p>
            <a:pPr>
              <a:defRPr sz="1100">
                <a:solidFill>
                  <a:srgbClr val="5C7066"/>
                </a:solidFill>
                <a:latin typeface="Inter"/>
              </a:defRPr>
            </a:pPr>
            <a:r>
              <a:t>₹1,499 · Studio Catalog Spec</a:t>
            </a:r>
            <a:br/>
            <a:r>
              <a:t>Tag Required: Present in manifest</a:t>
            </a:r>
            <a:br/>
            <a:r>
              <a:t>Status: Verified against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39328" y="1828800"/>
            <a:ext cx="3246120" cy="2011680"/>
          </a:xfrm>
          <a:prstGeom prst="roundRect">
            <a:avLst/>
          </a:prstGeom>
          <a:solidFill>
            <a:srgbClr val="FDF2F2"/>
          </a:solidFill>
          <a:ln w="19050">
            <a:solidFill>
              <a:srgbClr val="F5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2011680"/>
            <a:ext cx="2971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C0392B"/>
                </a:solidFill>
                <a:latin typeface="IBM Plex Mono"/>
              </a:defRPr>
            </a:pPr>
            <a:r>
              <a:t>OBSERVED · VIDEO FRAME 00:07</a:t>
            </a:r>
          </a:p>
          <a:p>
            <a:pPr>
              <a:defRPr sz="1600" b="1">
                <a:solidFill>
                  <a:srgbClr val="962D22"/>
                </a:solidFill>
                <a:latin typeface="Inter"/>
              </a:defRPr>
            </a:pPr>
            <a:r>
              <a:t>HEAD-BLK-09 (Midnight Black)</a:t>
            </a:r>
          </a:p>
          <a:p>
            <a:pPr>
              <a:defRPr sz="1100">
                <a:solidFill>
                  <a:srgbClr val="243830"/>
                </a:solidFill>
                <a:latin typeface="Inter"/>
              </a:defRPr>
            </a:pPr>
            <a:r>
              <a:t>Observed: Black casing</a:t>
            </a:r>
            <a:br/>
            <a:r>
              <a:t>Exact Barcode: Unverified in frame</a:t>
            </a:r>
            <a:br/>
            <a:r>
              <a:t>Lighting: Optimal (142/255)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4023360"/>
            <a:ext cx="6647688" cy="658368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F5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4133088"/>
            <a:ext cx="63733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62D22"/>
                </a:solidFill>
                <a:latin typeface="IBM Plex Mono"/>
              </a:defRPr>
            </a:pPr>
            <a:r>
              <a:t>P-03 CONTRADICTION: Item in parcel does not match ordered SKU · Citation: Keyframe 00:07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84632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2400E"/>
                </a:solidFill>
                <a:latin typeface="IBM Plex Mono"/>
              </a:defRPr>
            </a:pPr>
            <a:r>
              <a:t>● SELLER AUTHORIZATION REQUIRED (FAIL-CLOSED)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4800600"/>
            <a:ext cx="2331720" cy="438912"/>
          </a:xfrm>
          <a:prstGeom prst="roundRect">
            <a:avLst/>
          </a:prstGeom>
          <a:solidFill>
            <a:srgbClr val="006B5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Review Evidence &amp; Authorize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3DDD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IBM Plex Mono"/>
              </a:defRPr>
            </a:pPr>
            <a:r>
              <a:t>RETURNLENS · AGENTX HACKATHON 2026 PS-04 · TEAM ROOKIE (3 MEMBERS)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IBM Plex Mono"/>
              </a:defRPr>
            </a:pPr>
            <a: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THE PROBLEM · SOLO MERCHANT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41E"/>
                </a:solidFill>
                <a:latin typeface="Inter"/>
              </a:defRPr>
            </a:pPr>
            <a:r>
              <a:t>One return. Four disconnected systems. Zero shared record.</a:t>
            </a:r>
          </a:p>
          <a:p>
            <a:pPr>
              <a:defRPr sz="1400">
                <a:solidFill>
                  <a:srgbClr val="5C7066"/>
                </a:solidFill>
                <a:latin typeface="Inter"/>
              </a:defRPr>
            </a:pPr>
            <a:r>
              <a:t>Solo merchants cross-reference tabs, video footage, and policy rules manually before moving money.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11347704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737360"/>
            <a:ext cx="3931920" cy="658368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810512"/>
            <a:ext cx="3749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6B54"/>
                </a:solidFill>
                <a:latin typeface="IBM Plex Mono"/>
              </a:defRPr>
            </a:pPr>
            <a:r>
              <a:t>SOURCE 01: BUYER MESSAGE</a:t>
            </a:r>
          </a:p>
          <a:p>
            <a:pPr>
              <a:defRPr sz="1100">
                <a:solidFill>
                  <a:srgbClr val="14241E"/>
                </a:solidFill>
                <a:latin typeface="Inter"/>
              </a:defRPr>
            </a:pPr>
            <a:r>
              <a:t>Subjective text &amp; unindexed video claim in 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2542031"/>
            <a:ext cx="3931920" cy="658368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615183"/>
            <a:ext cx="3749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6B54"/>
                </a:solidFill>
                <a:latin typeface="IBM Plex Mono"/>
              </a:defRPr>
            </a:pPr>
            <a:r>
              <a:t>SOURCE 02: ORDER RECORD</a:t>
            </a:r>
          </a:p>
          <a:p>
            <a:pPr>
              <a:defRPr sz="1100">
                <a:solidFill>
                  <a:srgbClr val="14241E"/>
                </a:solidFill>
                <a:latin typeface="Inter"/>
              </a:defRPr>
            </a:pPr>
            <a:r>
              <a:t>Shopify manifest: HEAD-WHT-02, Matte White, ₹1,499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" y="3346703"/>
            <a:ext cx="3931920" cy="658368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419855"/>
            <a:ext cx="3749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6B54"/>
                </a:solidFill>
                <a:latin typeface="IBM Plex Mono"/>
              </a:defRPr>
            </a:pPr>
            <a:r>
              <a:t>SOURCE 03: COURIER STATUS</a:t>
            </a:r>
          </a:p>
          <a:p>
            <a:pPr>
              <a:defRPr sz="1100">
                <a:solidFill>
                  <a:srgbClr val="14241E"/>
                </a:solidFill>
                <a:latin typeface="Inter"/>
              </a:defRPr>
            </a:pPr>
            <a:r>
              <a:t>Shippo scan: delivered 4 days ago (Day 4 of 7)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" y="4151376"/>
            <a:ext cx="3931920" cy="658368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224528"/>
            <a:ext cx="3749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6B54"/>
                </a:solidFill>
                <a:latin typeface="IBM Plex Mono"/>
              </a:defRPr>
            </a:pPr>
            <a:r>
              <a:t>SOURCE 04: RETURN POLICY</a:t>
            </a:r>
          </a:p>
          <a:p>
            <a:pPr>
              <a:defRPr sz="1100">
                <a:solidFill>
                  <a:srgbClr val="14241E"/>
                </a:solidFill>
                <a:latin typeface="Inter"/>
              </a:defRPr>
            </a:pPr>
            <a:r>
              <a:t>7-day defect window; security packaging tag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2880360"/>
            <a:ext cx="731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6B54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41264" y="1737360"/>
            <a:ext cx="5989320" cy="3154680"/>
          </a:xfrm>
          <a:prstGeom prst="roundRect">
            <a:avLst/>
          </a:prstGeom>
          <a:solidFill>
            <a:srgbClr val="14241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07024" y="2057400"/>
            <a:ext cx="52578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FFD485"/>
                </a:solidFill>
                <a:latin typeface="IBM Plex Mono"/>
              </a:defRPr>
            </a:pPr>
            <a:r>
              <a:t>THE CRITICAL INFORMATION GAP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“What verifiable evidence justifies moving this money?”</a:t>
            </a:r>
          </a:p>
          <a:p>
            <a:pPr>
              <a:defRPr sz="1300">
                <a:solidFill>
                  <a:srgbClr val="B5CCC2"/>
                </a:solidFill>
                <a:latin typeface="Inter"/>
              </a:defRPr>
            </a:pPr>
            <a:r>
              <a:t>Without an auditable evidence pack, the seller either refunds blind (losing COGS and 2-way freight) or disputes unfairly (destroying customer trust and merchant ratings).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" y="5285232"/>
            <a:ext cx="5559552" cy="914400"/>
          </a:xfrm>
          <a:prstGeom prst="roundRect">
            <a:avLst/>
          </a:prstGeom>
          <a:solidFill>
            <a:srgbClr val="F2EFEB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72"/>
            <a:ext cx="52852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4D3C"/>
                </a:solidFill>
                <a:latin typeface="IBM Plex Mono"/>
              </a:defRPr>
            </a:pPr>
            <a:r>
              <a:t>9% vs 15.14% · Industry Baseline</a:t>
            </a:r>
          </a:p>
          <a:p>
            <a:pPr>
              <a:defRPr sz="1050">
                <a:solidFill>
                  <a:srgbClr val="243830"/>
                </a:solidFill>
                <a:latin typeface="Inter"/>
              </a:defRPr>
            </a:pPr>
            <a:r>
              <a:t>9% NRF 2025 criminal fraud only vs 15.14% Appriss/Deloitte 2024 fraud + policy abuse (definitions differ).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5285232"/>
            <a:ext cx="5559552" cy="914400"/>
          </a:xfrm>
          <a:prstGeom prst="roundRect">
            <a:avLst/>
          </a:prstGeom>
          <a:solidFill>
            <a:srgbClr val="F2EFEB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5376672"/>
            <a:ext cx="52852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4D3C"/>
                </a:solidFill>
                <a:latin typeface="IBM Plex Mono"/>
              </a:defRPr>
            </a:pPr>
            <a:r>
              <a:t>Manual Triage · Asymmetric Risk</a:t>
            </a:r>
          </a:p>
          <a:p>
            <a:pPr>
              <a:defRPr sz="1050">
                <a:solidFill>
                  <a:srgbClr val="243830"/>
                </a:solidFill>
                <a:latin typeface="Inter"/>
              </a:defRPr>
            </a:pPr>
            <a:r>
              <a:t>High cognitive overhead on unboxing triage; memory-based manual checks create friction and financial leaks.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3DDD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IBM Plex Mono"/>
              </a:defRPr>
            </a:pPr>
            <a:r>
              <a:t>RETURNLENS · AGENTX HACKATHON 2026 PS-04 · TEAM ROOKIE (3 MEMBERS)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IBM Plex Mono"/>
              </a:defRPr>
            </a:pPr>
            <a: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STAR DEMO · CASE B · CORE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41E"/>
                </a:solidFill>
                <a:latin typeface="Inter"/>
              </a:defRPr>
            </a:pPr>
            <a:r>
              <a:t>The order says White. The unboxing video shows Black.</a:t>
            </a:r>
          </a:p>
          <a:p>
            <a:pPr>
              <a:defRPr sz="1400">
                <a:solidFill>
                  <a:srgbClr val="5C7066"/>
                </a:solidFill>
                <a:latin typeface="Inter"/>
              </a:defRPr>
            </a:pPr>
            <a:r>
              <a:t>Policy P-03 triggers ESCALATE. No mock label created. No refund draft. No denial without human review.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51206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C5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ORDER MANIFEST · STORE TRUTH (#ORD-7729)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4663440" cy="1920240"/>
          </a:xfrm>
          <a:prstGeom prst="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4297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241E"/>
                </a:solidFill>
                <a:latin typeface="Inter"/>
              </a:defRPr>
            </a:pPr>
            <a:r>
              <a:t>STUDIO WIRELESS HEADPHONES</a:t>
            </a:r>
            <a:br/>
            <a:r>
              <a:t>[ MATTE WHITE CASING ]</a:t>
            </a:r>
            <a:br/>
            <a:r>
              <a:t>SKU: HEAD-WHT-02 · ₹1,499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46634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43830"/>
                </a:solidFill>
                <a:latin typeface="IBM Plex Mono"/>
              </a:defRPr>
            </a:pPr>
            <a:r>
              <a:t>SKU: HEAD-WHT-02 · Color: Matte White</a:t>
            </a:r>
            <a:br/>
            <a:r>
              <a:t>Price: ₹1,499 paid · Delivered: 4d ago (Shippo #SH-9012)</a:t>
            </a:r>
          </a:p>
        </p:txBody>
      </p:sp>
      <p:sp>
        <p:nvSpPr>
          <p:cNvPr id="10" name="Oval 9"/>
          <p:cNvSpPr/>
          <p:nvPr/>
        </p:nvSpPr>
        <p:spPr>
          <a:xfrm>
            <a:off x="5696712" y="2788920"/>
            <a:ext cx="786384" cy="786384"/>
          </a:xfrm>
          <a:prstGeom prst="ellipse">
            <a:avLst/>
          </a:prstGeom>
          <a:solidFill>
            <a:srgbClr val="C0392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  <a:latin typeface="Inter"/>
              </a:defRPr>
            </a:pPr>
            <a:r>
              <a:t>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47688" y="1508760"/>
            <a:ext cx="5120640" cy="3657600"/>
          </a:xfrm>
          <a:prstGeom prst="roundRect">
            <a:avLst/>
          </a:prstGeom>
          <a:solidFill>
            <a:srgbClr val="FFFDFC"/>
          </a:solidFill>
          <a:ln w="19050">
            <a:solidFill>
              <a:srgbClr val="F5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69164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0392B"/>
                </a:solidFill>
                <a:latin typeface="IBM Plex Mono"/>
              </a:defRPr>
            </a:pPr>
            <a:r>
              <a:t>MOCK EVIDENCE PACK · VIDEO CITATION (FRAME 00:07)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103120"/>
            <a:ext cx="4663440" cy="1920240"/>
          </a:xfrm>
          <a:prstGeom prst="rect">
            <a:avLst/>
          </a:prstGeom>
          <a:solidFill>
            <a:srgbClr val="18221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2468880"/>
            <a:ext cx="42976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7F5F0"/>
                </a:solidFill>
                <a:latin typeface="Inter"/>
              </a:defRPr>
            </a:pPr>
            <a:r>
              <a:t>CUSTOMER UNBOXING FOOTAGE</a:t>
            </a:r>
            <a:br/>
            <a:r>
              <a:t>[ MIDNIGHT BLACK CASING DETECTED ]</a:t>
            </a:r>
            <a:br/>
            <a:r>
              <a:t>REC 00:07 / 00:24 · Lighting: 142/255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160520"/>
            <a:ext cx="46634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62D22"/>
                </a:solidFill>
                <a:latin typeface="IBM Plex Mono"/>
              </a:defRPr>
            </a:pPr>
            <a:r>
              <a:t>Observed: HEAD-BLK-09 (Midnight Black)</a:t>
            </a:r>
            <a:br/>
            <a:r>
              <a:t>Exact Barcode: Unverified · P-03 Color Match: FAIL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5330952"/>
            <a:ext cx="11347704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C5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4223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962D22"/>
                </a:solidFill>
                <a:latin typeface="IBM Plex Mono"/>
              </a:defRPr>
            </a:pPr>
            <a:r>
              <a:t>POLICY P-03 RESULT: ESCALATE TO SELLER</a:t>
            </a:r>
          </a:p>
          <a:p>
            <a:pPr>
              <a:defRPr sz="1100">
                <a:solidFill>
                  <a:srgbClr val="243830"/>
                </a:solidFill>
                <a:latin typeface="Inter"/>
              </a:defRPr>
            </a:pPr>
            <a:r>
              <a:t>3 Preserved Seller Actions: (1) Accept as warehouse mis-shipment · (2) Request photo of outside-box shipping label · (3) Hold return for physical parcel inspection.</a:t>
            </a:r>
            <a:br/>
            <a:r>
              <a:t>Server Cap Formula: 0 &lt; amount &lt;= min(₹4,999, remaining_refundable, order_paid)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3DDD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IBM Plex Mono"/>
              </a:defRPr>
            </a:pPr>
            <a:r>
              <a:t>RETURNLENS · AGENTX HACKATHON 2026 PS-04 · TEAM ROOKIE (3 MEMBERS)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IBM Plex Mono"/>
              </a:defRPr>
            </a:pPr>
            <a: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815"/>
          </a:solidFill>
          <a:ln>
            <a:solidFill>
              <a:srgbClr val="0E18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D1A7"/>
                </a:solidFill>
                <a:latin typeface="IBM Plex Mono"/>
              </a:defRPr>
            </a:pPr>
            <a:r>
              <a:t>SYSTEM ARCHITECTURE · FAIL-CLOSED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7F5F0"/>
                </a:solidFill>
                <a:latin typeface="Inter"/>
              </a:defRPr>
            </a:pPr>
            <a:r>
              <a:t>Models observe. Code verifies. Seller authorizes.</a:t>
            </a:r>
          </a:p>
          <a:p>
            <a:pPr>
              <a:defRPr sz="1400">
                <a:solidFill>
                  <a:srgbClr val="8EABA0"/>
                </a:solidFill>
                <a:latin typeface="Inter"/>
              </a:defRPr>
            </a:pPr>
            <a:r>
              <a:t>Exactly 3 base model calls per case. Weak evidence escalates. Never releases automated refunds.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11347704" cy="960120"/>
          </a:xfrm>
          <a:prstGeom prst="roundRect">
            <a:avLst/>
          </a:prstGeom>
          <a:solidFill>
            <a:srgbClr val="152420"/>
          </a:solidFill>
          <a:ln w="12700">
            <a:solidFill>
              <a:srgbClr val="23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18488"/>
            <a:ext cx="1691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7F5F0"/>
                </a:solidFill>
                <a:latin typeface="IBM Plex Mono"/>
              </a:defRPr>
            </a:pPr>
            <a:r>
              <a:t>1. Planner</a:t>
            </a:r>
          </a:p>
          <a:p>
            <a:pPr>
              <a:defRPr sz="1000">
                <a:solidFill>
                  <a:srgbClr val="8EABA0"/>
                </a:solidFill>
                <a:latin typeface="Inter"/>
              </a:defRPr>
            </a:pPr>
            <a:r>
              <a:t>Typed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79" y="1618488"/>
            <a:ext cx="1691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7F5F0"/>
                </a:solidFill>
                <a:latin typeface="IBM Plex Mono"/>
              </a:defRPr>
            </a:pPr>
            <a:r>
              <a:t>2. Tools</a:t>
            </a:r>
          </a:p>
          <a:p>
            <a:pPr>
              <a:defRPr sz="1000">
                <a:solidFill>
                  <a:srgbClr val="8EABA0"/>
                </a:solidFill>
                <a:latin typeface="Inter"/>
              </a:defRPr>
            </a:pPr>
            <a:r>
              <a:t>FFmpeg + 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18488"/>
            <a:ext cx="1691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7F5F0"/>
                </a:solidFill>
                <a:latin typeface="IBM Plex Mono"/>
              </a:defRPr>
            </a:pPr>
            <a:r>
              <a:t>3. Policy</a:t>
            </a:r>
          </a:p>
          <a:p>
            <a:pPr>
              <a:defRPr sz="1000">
                <a:solidFill>
                  <a:srgbClr val="8EABA0"/>
                </a:solidFill>
                <a:latin typeface="Inter"/>
              </a:defRPr>
            </a:pPr>
            <a:r>
              <a:t>Rules P-01–08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618488"/>
            <a:ext cx="1691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7F5F0"/>
                </a:solidFill>
                <a:latin typeface="IBM Plex Mono"/>
              </a:defRPr>
            </a:pPr>
            <a:r>
              <a:t>4. Critic</a:t>
            </a:r>
          </a:p>
          <a:p>
            <a:pPr>
              <a:defRPr sz="1000">
                <a:solidFill>
                  <a:srgbClr val="8EABA0"/>
                </a:solidFill>
                <a:latin typeface="Inter"/>
              </a:defRPr>
            </a:pPr>
            <a:r>
              <a:t>Review cited frames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618488"/>
            <a:ext cx="1691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1A7"/>
                </a:solidFill>
                <a:latin typeface="IBM Plex Mono"/>
              </a:defRPr>
            </a:pPr>
            <a:r>
              <a:t>5. Seller Gate</a:t>
            </a:r>
          </a:p>
          <a:p>
            <a:pPr>
              <a:defRPr sz="1000">
                <a:solidFill>
                  <a:srgbClr val="8EABA0"/>
                </a:solidFill>
                <a:latin typeface="Inter"/>
              </a:defRPr>
            </a:pPr>
            <a:r>
              <a:t>1-Click 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1618488"/>
            <a:ext cx="1691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7F5F0"/>
                </a:solidFill>
                <a:latin typeface="IBM Plex Mono"/>
              </a:defRPr>
            </a:pPr>
            <a:r>
              <a:t>6. Audit Log</a:t>
            </a:r>
          </a:p>
          <a:p>
            <a:pPr>
              <a:defRPr sz="1000">
                <a:solidFill>
                  <a:srgbClr val="8EABA0"/>
                </a:solidFill>
                <a:latin typeface="Inter"/>
              </a:defRPr>
            </a:pPr>
            <a:r>
              <a:t>Append-only 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2651760"/>
            <a:ext cx="3611880" cy="2514600"/>
          </a:xfrm>
          <a:prstGeom prst="roundRect">
            <a:avLst/>
          </a:prstGeom>
          <a:solidFill>
            <a:srgbClr val="152420"/>
          </a:solidFill>
          <a:ln w="12700">
            <a:solidFill>
              <a:srgbClr val="23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834640"/>
            <a:ext cx="3246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1A7"/>
                </a:solidFill>
                <a:latin typeface="IBM Plex Mono"/>
              </a:defRPr>
            </a:pPr>
            <a:r>
              <a:t>CALL BUDGET</a:t>
            </a:r>
          </a:p>
          <a:p>
            <a:pPr>
              <a:spcAft>
                <a:spcPts val="800"/>
              </a:spcAft>
              <a:defRPr sz="1600" b="1">
                <a:solidFill>
                  <a:srgbClr val="F7F5F0"/>
                </a:solidFill>
                <a:latin typeface="Inter"/>
              </a:defRPr>
            </a:pPr>
            <a:r>
              <a:t>Exactly 3 Model Calls</a:t>
            </a:r>
          </a:p>
          <a:p>
            <a:pPr>
              <a:defRPr sz="1100">
                <a:solidFill>
                  <a:srgbClr val="8EABA0"/>
                </a:solidFill>
                <a:latin typeface="Inter"/>
              </a:defRPr>
            </a:pPr>
            <a:r>
              <a:t>1. Planner proposes typed tool actions.</a:t>
            </a:r>
            <a:br/>
            <a:r>
              <a:t>2. Vision model inspects server-generated keyframes.</a:t>
            </a:r>
            <a:br/>
            <a:r>
              <a:t>3. Critic evaluates citations against policy.</a:t>
            </a:r>
            <a:br/>
            <a:br/>
            <a:r>
              <a:t>Model never accesses payment APIs directly.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2651760"/>
            <a:ext cx="3611880" cy="2514600"/>
          </a:xfrm>
          <a:prstGeom prst="roundRect">
            <a:avLst/>
          </a:prstGeom>
          <a:solidFill>
            <a:srgbClr val="142822"/>
          </a:solidFill>
          <a:ln w="19050">
            <a:solidFill>
              <a:srgbClr val="006B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2834640"/>
            <a:ext cx="3246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1A7"/>
                </a:solidFill>
                <a:latin typeface="IBM Plex Mono"/>
              </a:defRPr>
            </a:pPr>
            <a:r>
              <a:t>STATEFUL RESUMPTION</a:t>
            </a:r>
          </a:p>
          <a:p>
            <a:pPr>
              <a:spcAft>
                <a:spcPts val="800"/>
              </a:spcAft>
              <a:defRPr sz="1600" b="1">
                <a:solidFill>
                  <a:srgbClr val="F7F5F0"/>
                </a:solidFill>
                <a:latin typeface="Inter"/>
              </a:defRPr>
            </a:pPr>
            <a:r>
              <a:t>Case C: Re-Film Loop</a:t>
            </a:r>
          </a:p>
          <a:p>
            <a:pPr>
              <a:defRPr sz="1100">
                <a:solidFill>
                  <a:srgbClr val="8EABA0"/>
                </a:solidFill>
                <a:latin typeface="Inter"/>
              </a:defRPr>
            </a:pPr>
            <a:r>
              <a:t>When video is too dark (brightness 28, 2 frames), agent calls ask_for_evidence() with a re-film checklist.</a:t>
            </a:r>
            <a:br/>
            <a:br/>
            <a:r>
              <a:t>Case state saved to WAITING_FOR_EVIDENCE and resumes on upload (1 retry limit).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2651760"/>
            <a:ext cx="3611880" cy="2514600"/>
          </a:xfrm>
          <a:prstGeom prst="roundRect">
            <a:avLst/>
          </a:prstGeom>
          <a:solidFill>
            <a:srgbClr val="152420"/>
          </a:solidFill>
          <a:ln w="12700">
            <a:solidFill>
              <a:srgbClr val="23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0183" y="2834640"/>
            <a:ext cx="3246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1A7"/>
                </a:solidFill>
                <a:latin typeface="IBM Plex Mono"/>
              </a:defRPr>
            </a:pPr>
            <a:r>
              <a:t>SECONDARY ROUTE</a:t>
            </a:r>
          </a:p>
          <a:p>
            <a:pPr>
              <a:spcAft>
                <a:spcPts val="800"/>
              </a:spcAft>
              <a:defRPr sz="1600" b="1">
                <a:solidFill>
                  <a:srgbClr val="F7F5F0"/>
                </a:solidFill>
                <a:latin typeface="Inter"/>
              </a:defRPr>
            </a:pPr>
            <a:r>
              <a:t>Tiny PS-04 Order Route</a:t>
            </a:r>
          </a:p>
          <a:p>
            <a:pPr>
              <a:defRPr sz="1100">
                <a:solidFill>
                  <a:srgbClr val="8EABA0"/>
                </a:solidFill>
                <a:latin typeface="Inter"/>
              </a:defRPr>
            </a:pPr>
            <a:r>
              <a:t>For routine "Where is my order?" inquiries, agent bypasses vision entirely:</a:t>
            </a:r>
            <a:br/>
            <a:br/>
            <a:r>
              <a:t>Store API → Courier API → Instant status reply.</a:t>
            </a:r>
            <a:br/>
            <a:br/>
            <a:r>
              <a:t>Zero vision token waste.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" y="5330952"/>
            <a:ext cx="11347704" cy="685800"/>
          </a:xfrm>
          <a:prstGeom prst="roundRect">
            <a:avLst/>
          </a:prstGeom>
          <a:solidFill>
            <a:srgbClr val="11221D"/>
          </a:solidFill>
          <a:ln w="12700">
            <a:solidFill>
              <a:srgbClr val="23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4406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FFD485"/>
                </a:solidFill>
                <a:latin typeface="IBM Plex Mono"/>
              </a:defRPr>
            </a:pPr>
            <a:r>
              <a:t>FAIL-CLOSED FINANCIAL GATE: requires_seller_approval: true enforced at schema layer.</a:t>
            </a:r>
            <a:br/>
            <a:r>
              <a:t>Server Cap: 0 &lt; amount &lt;= min(₹4,999, remaining_refundable, order_paid)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2339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EABA0"/>
                </a:solidFill>
                <a:latin typeface="IBM Plex Mono"/>
              </a:defRPr>
            </a:pPr>
            <a:r>
              <a:t>RETURNLENS · AGENTX HACKATHON 2026 PS-04 · TEAM ROOKIE (3 MEMBERS)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EABA0"/>
                </a:solidFill>
                <a:latin typeface="IBM Plex Mono"/>
              </a:defRPr>
            </a:pPr>
            <a: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EVALUATION SUITE · 4 CONTROLLED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41E"/>
                </a:solidFill>
                <a:latin typeface="Inter"/>
              </a:defRPr>
            </a:pPr>
            <a:r>
              <a:t>Different evidence. Controlled, predictable action.</a:t>
            </a:r>
          </a:p>
          <a:p>
            <a:pPr>
              <a:defRPr sz="1400">
                <a:solidFill>
                  <a:srgbClr val="5C7066"/>
                </a:solidFill>
                <a:latin typeface="Inter"/>
              </a:defRPr>
            </a:pPr>
            <a:r>
              <a:t>Every case produces an auditable mock evidence pack. Zero hallucinated policy approvals.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493776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73736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392B"/>
                </a:solidFill>
                <a:latin typeface="IBM Plex Mono"/>
              </a:defRPr>
            </a:pPr>
            <a:r>
              <a:t>CORE BENCHMARK SCENARIO · ESCALATE</a:t>
            </a:r>
          </a:p>
          <a:p>
            <a:pPr>
              <a:spcAft>
                <a:spcPts val="1200"/>
              </a:spcAft>
              <a:defRPr sz="2000" b="1">
                <a:solidFill>
                  <a:srgbClr val="14241E"/>
                </a:solidFill>
                <a:latin typeface="Inter"/>
              </a:defRPr>
            </a:pPr>
            <a:r>
              <a:t>Case B: Color Contradiction</a:t>
            </a:r>
          </a:p>
          <a:p>
            <a:pPr>
              <a:spcAft>
                <a:spcPts val="1600"/>
              </a:spcAft>
              <a:defRPr sz="1100">
                <a:solidFill>
                  <a:srgbClr val="962D22"/>
                </a:solidFill>
                <a:latin typeface="IBM Plex Mono"/>
              </a:defRPr>
            </a:pPr>
            <a:r>
              <a:t>Order Record: HEAD-WHT-02 (White, ₹1,499)</a:t>
            </a:r>
            <a:br/>
            <a:r>
              <a:t>Observed Frame 00:07: HEAD-BLK-09 (Midnight Black)</a:t>
            </a:r>
            <a:br/>
            <a:r>
              <a:t>Policy Evaluation: P-03 Color Match: FAIL</a:t>
            </a:r>
            <a:br/>
            <a:r>
              <a:t>Automated Action: No label · No refund draft · No denial</a:t>
            </a:r>
          </a:p>
          <a:p>
            <a:pPr>
              <a:defRPr sz="1200">
                <a:solidFill>
                  <a:srgbClr val="243830"/>
                </a:solidFill>
                <a:latin typeface="Inter"/>
              </a:defRPr>
            </a:pPr>
            <a:r>
              <a:t>PRESERVED SELLER OPTIONS IN MOCK EVIDENCE PACK:</a:t>
            </a:r>
            <a:br/>
            <a:r>
              <a:t>• Accept as warehouse mis-shipment</a:t>
            </a:r>
            <a:br/>
            <a:r>
              <a:t>• Request customer photo of outer box shipping barcode</a:t>
            </a:r>
            <a:br/>
            <a:r>
              <a:t>• Hold case for physical receipt inspection at depot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59552" y="1508760"/>
            <a:ext cx="6208776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88152" y="1618488"/>
            <a:ext cx="575157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D3C"/>
                </a:solidFill>
                <a:latin typeface="Inter"/>
              </a:defRPr>
            </a:pPr>
            <a:r>
              <a:t>Case A: Valid Return (ORD-1042)   [PREPARE SELLER REVIEW]</a:t>
            </a:r>
          </a:p>
          <a:p>
            <a:pPr>
              <a:defRPr sz="1050">
                <a:solidFill>
                  <a:srgbClr val="5C7066"/>
                </a:solidFill>
                <a:latin typeface="Inter"/>
              </a:defRPr>
            </a:pPr>
            <a:r>
              <a:t>Evidence: ORD-1042 · ₹1,499 · SKU matches catalog · Tag clearly present · Within 7-day return window.</a:t>
            </a:r>
          </a:p>
          <a:p>
            <a:pPr>
              <a:defRPr sz="1000" b="1">
                <a:solidFill>
                  <a:srgbClr val="004D3C"/>
                </a:solidFill>
                <a:latin typeface="IBM Plex Mono"/>
              </a:defRPr>
            </a:pPr>
            <a:r>
              <a:t>Outcome: Mock shipping label created · Refund draft placed in pending_return_receipt (not executed).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118104"/>
            <a:ext cx="6208776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88152" y="3227832"/>
            <a:ext cx="575157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2400E"/>
                </a:solidFill>
                <a:latin typeface="Inter"/>
              </a:defRPr>
            </a:pPr>
            <a:r>
              <a:t>Case C: Low-Light Video (Re-Film Loop)   [ASK &amp; RESUME]</a:t>
            </a:r>
          </a:p>
          <a:p>
            <a:pPr>
              <a:defRPr sz="1050">
                <a:solidFill>
                  <a:srgbClr val="5C7066"/>
                </a:solidFill>
                <a:latin typeface="Inter"/>
              </a:defRPr>
            </a:pPr>
            <a:r>
              <a:t>Evidence: 4-second dark unboxing video · Brightness score 28/255 · Only 2 usable keyframes extracted.</a:t>
            </a:r>
          </a:p>
          <a:p>
            <a:pPr>
              <a:defRPr sz="1000" b="1">
                <a:solidFill>
                  <a:srgbClr val="004D3C"/>
                </a:solidFill>
                <a:latin typeface="IBM Plex Mono"/>
              </a:defRPr>
            </a:pPr>
            <a:r>
              <a:t>Outcome: Agent issues re-film checklist · Case stays in WAITING_FOR_EVIDENCE · Resumes on upload (1 retry limit).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9552" y="4727448"/>
            <a:ext cx="6208776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88152" y="4837176"/>
            <a:ext cx="575157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4241E"/>
                </a:solidFill>
                <a:latin typeface="Inter"/>
              </a:defRPr>
            </a:pPr>
            <a:r>
              <a:t>Case D: Continuous Unboxing Sequence   [INSPECT SEQUENCE]</a:t>
            </a:r>
          </a:p>
          <a:p>
            <a:pPr>
              <a:defRPr sz="1050">
                <a:solidFill>
                  <a:srgbClr val="5C7066"/>
                </a:solidFill>
                <a:latin typeface="Inter"/>
              </a:defRPr>
            </a:pPr>
            <a:r>
              <a:t>Evidence: Single continuous take from opening sealed parcel to displaying label in one sequence.</a:t>
            </a:r>
          </a:p>
          <a:p>
            <a:pPr>
              <a:defRPr sz="1000" b="1">
                <a:solidFill>
                  <a:srgbClr val="004D3C"/>
                </a:solidFill>
                <a:latin typeface="IBM Plex Mono"/>
              </a:defRPr>
            </a:pPr>
            <a:r>
              <a:t>Outcome: Inspects sequence continuity and flags abrupt transitions. Does not claim proof of identical item.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3DDD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IBM Plex Mono"/>
              </a:defRPr>
            </a:pPr>
            <a:r>
              <a:t>RETURNLENS · AGENTX HACKATHON 2026 PS-04 · TEAM ROOKIE (3 MEMBERS)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IBM Plex Mono"/>
              </a:defRPr>
            </a:pPr>
            <a: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24-HOUR PROTOTYPE PLAN · TEAM ROOKIE (3 MEMBERS)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41E"/>
                </a:solidFill>
                <a:latin typeface="Inter"/>
              </a:defRPr>
            </a:pPr>
            <a:r>
              <a:t>A credible, buildable prototype in 24 hours.</a:t>
            </a:r>
          </a:p>
          <a:p>
            <a:pPr>
              <a:defRPr sz="1400">
                <a:solidFill>
                  <a:srgbClr val="5C7066"/>
                </a:solidFill>
                <a:latin typeface="Inter"/>
              </a:defRPr>
            </a:pPr>
            <a:r>
              <a:t>Strict scope discipline, mock data fixtures, and single-threaded ownership ensure on-time delivery.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11347704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C5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18488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00 – 06h · Foundation</a:t>
            </a:r>
          </a:p>
          <a:p>
            <a:pPr>
              <a:defRPr sz="950">
                <a:solidFill>
                  <a:srgbClr val="5C7066"/>
                </a:solidFill>
                <a:latin typeface="Inter"/>
              </a:defRPr>
            </a:pPr>
            <a:r>
              <a:t>Mock Store/Shippo APIs · LangGraph state schema · Policy P-01 to P-08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10712" y="1618488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06 – 12h · Evidence Pipeline</a:t>
            </a:r>
          </a:p>
          <a:p>
            <a:pPr>
              <a:defRPr sz="950">
                <a:solidFill>
                  <a:srgbClr val="5C7066"/>
                </a:solidFill>
                <a:latin typeface="Inter"/>
              </a:defRPr>
            </a:pPr>
            <a:r>
              <a:t>FFmpeg ~1fps extractor · Vision prompt schemas · Seller Console UI mock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7064" y="1618488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12 – 18h · Integration</a:t>
            </a:r>
          </a:p>
          <a:p>
            <a:pPr>
              <a:defRPr sz="950">
                <a:solidFill>
                  <a:srgbClr val="5C7066"/>
                </a:solidFill>
                <a:latin typeface="Inter"/>
              </a:defRPr>
            </a:pPr>
            <a:r>
              <a:t>Case C pause/resume state loop · 4 demo cases (A–D) · Critic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43416" y="1618488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18 – 24h · Validation</a:t>
            </a:r>
          </a:p>
          <a:p>
            <a:pPr>
              <a:defRPr sz="950">
                <a:solidFill>
                  <a:srgbClr val="5C7066"/>
                </a:solidFill>
                <a:latin typeface="Inter"/>
              </a:defRPr>
            </a:pPr>
            <a:r>
              <a:t>Fail-closed authorization tests · Boundary QA · Video demo recording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2788920"/>
            <a:ext cx="3611880" cy="214884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95351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PERSON A</a:t>
            </a:r>
          </a:p>
          <a:p>
            <a:pPr>
              <a:spcAft>
                <a:spcPts val="800"/>
              </a:spcAft>
              <a:defRPr sz="1400" b="1">
                <a:solidFill>
                  <a:srgbClr val="14241E"/>
                </a:solidFill>
                <a:latin typeface="Inter"/>
              </a:defRPr>
            </a:pPr>
            <a:r>
              <a:t>Backend, Policy &amp; Audit</a:t>
            </a:r>
          </a:p>
          <a:p>
            <a:pPr>
              <a:defRPr sz="1100">
                <a:solidFill>
                  <a:srgbClr val="5C7066"/>
                </a:solidFill>
                <a:latin typeface="Inter"/>
              </a:defRPr>
            </a:pPr>
            <a:r>
              <a:t>LangGraph state machine, policy engine P-01 to P-08, Critic validation, append-only JSON audit trail, server-side refund cap calculation.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2788920"/>
            <a:ext cx="3611880" cy="214884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295351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PERSON B</a:t>
            </a:r>
          </a:p>
          <a:p>
            <a:pPr>
              <a:spcAft>
                <a:spcPts val="800"/>
              </a:spcAft>
              <a:defRPr sz="1400" b="1">
                <a:solidFill>
                  <a:srgbClr val="14241E"/>
                </a:solidFill>
                <a:latin typeface="Inter"/>
              </a:defRPr>
            </a:pPr>
            <a:r>
              <a:t>Video &amp; Seller Console</a:t>
            </a:r>
          </a:p>
          <a:p>
            <a:pPr>
              <a:defRPr sz="1100">
                <a:solidFill>
                  <a:srgbClr val="5C7066"/>
                </a:solidFill>
                <a:latin typeface="Inter"/>
              </a:defRPr>
            </a:pPr>
            <a:r>
              <a:t>FFmpeg keyframe pipeline (~1fps sampling), vision model structured citation prompt, interactive 1-click Seller Console mockup.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788920"/>
            <a:ext cx="3611880" cy="214884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8" y="295351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PERSON C</a:t>
            </a:r>
          </a:p>
          <a:p>
            <a:pPr>
              <a:spcAft>
                <a:spcPts val="800"/>
              </a:spcAft>
              <a:defRPr sz="1400" b="1">
                <a:solidFill>
                  <a:srgbClr val="14241E"/>
                </a:solidFill>
                <a:latin typeface="Inter"/>
              </a:defRPr>
            </a:pPr>
            <a:r>
              <a:t>Integration, Scenarios &amp; QA</a:t>
            </a:r>
          </a:p>
          <a:p>
            <a:pPr>
              <a:defRPr sz="1100">
                <a:solidFill>
                  <a:srgbClr val="5C7066"/>
                </a:solidFill>
                <a:latin typeface="Inter"/>
              </a:defRPr>
            </a:pPr>
            <a:r>
              <a:t>Test fixtures for Cases A–D, Case C stateful pause/resume lifecycle, fail-closed human gate testing, benchmark runner, video capture.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5120640"/>
            <a:ext cx="11347704" cy="1051560"/>
          </a:xfrm>
          <a:prstGeom prst="roundRect">
            <a:avLst/>
          </a:prstGeom>
          <a:solidFill>
            <a:srgbClr val="14241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25780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D485"/>
                </a:solidFill>
                <a:latin typeface="IBM Plex Mono"/>
              </a:defRPr>
            </a:pPr>
            <a:r>
              <a:t>MUST DELIVER (CORE PROTOTYPE)</a:t>
            </a:r>
          </a:p>
          <a:p>
            <a:pPr>
              <a:defRPr sz="1050">
                <a:solidFill>
                  <a:srgbClr val="DFEAE5"/>
                </a:solidFill>
                <a:latin typeface="Inter"/>
              </a:defRPr>
            </a:pPr>
            <a:r>
              <a:t>Mock APIs · Policy engine · Case B mismatch · Case C re-film · Seller gate · Tiny order route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5780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8C69"/>
                </a:solidFill>
                <a:latin typeface="IBM Plex Mono"/>
              </a:defRPr>
            </a:pPr>
            <a:r>
              <a:t>CUT FIRST IF BEHIND</a:t>
            </a:r>
          </a:p>
          <a:p>
            <a:pPr>
              <a:defRPr sz="1050">
                <a:solidFill>
                  <a:srgbClr val="DFEAE5"/>
                </a:solidFill>
                <a:latin typeface="Inter"/>
              </a:defRPr>
            </a:pPr>
            <a:r>
              <a:t>WhatsApp bot · Exchanges · Multi-seller auth · Audio analysis · Public cloud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25780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1A7"/>
                </a:solidFill>
                <a:latin typeface="IBM Plex Mono"/>
              </a:defRPr>
            </a:pPr>
            <a:r>
              <a:t>FINANCIAL CEILING FORMULA</a:t>
            </a:r>
          </a:p>
          <a:p>
            <a:pPr>
              <a:defRPr sz="1100">
                <a:solidFill>
                  <a:srgbClr val="FFFFFF"/>
                </a:solidFill>
                <a:latin typeface="IBM Plex Mono"/>
              </a:defRPr>
            </a:pPr>
            <a:r>
              <a:t>0 &lt; amt &lt;= min(₹4,999, rem_ref, paid)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3DDD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IBM Plex Mono"/>
              </a:defRPr>
            </a:pPr>
            <a:r>
              <a:t>RETURNLENS · AGENTX HACKATHON 2026 PS-04 · TEAM ROOKIE (3 MEMBERS)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IBM Plex Mono"/>
              </a:defRPr>
            </a:pPr>
            <a: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