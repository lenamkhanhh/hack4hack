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Product Hero &amp; Executive Summary:</a:t>
            </a:r>
          </a:p>
          <a:p>
            <a:r>
              <a:t>- Problem Statement Fit: PS-04 (Autonomous Support Agent for Online Sellers).</a:t>
            </a:r>
          </a:p>
          <a:p>
            <a:r>
              <a:t>- Target User: Solo direct-to-consumer (D2C) online merchants managing customer support, shipping, and returns alone.</a:t>
            </a:r>
          </a:p>
          <a:p>
            <a:r>
              <a:t>- Core Friction: Solo sellers lose valuable hours navigating fragmented tabs (buyer chat, Shopify, Shippo tracking, store return policy). Return decisions are currently made from memory without unified evidence.</a:t>
            </a:r>
          </a:p>
          <a:p>
            <a:r>
              <a:t>- Core Thesis: 'Models observe. Code verifies. Seller authorizes.'</a:t>
            </a:r>
          </a:p>
          <a:p>
            <a:r>
              <a:t>- Console Focus: Side-by-side comparison between ordered White Headphones (HEAD-WHT-02, ₹1,499) and unboxed Black Headphones (Frame 00:07). The agent flags the contradiction, leaves exact SKU unverified, and surfaces actionable resolution choices to the seller.</a:t>
            </a:r>
          </a:p>
          <a:p>
            <a:r>
              <a:t>- Safety Boundary: The system never autonomously issues a refund or denies a customer. Financial release strictly requires 1-click merchant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Space &amp; The Four Disconnected Sources:</a:t>
            </a:r>
          </a:p>
          <a:p>
            <a:r>
              <a:t>- The returns bottleneck for solo sellers is not an absent returns portal; it is fragmented, unverified context across four disconnected systems:</a:t>
            </a:r>
          </a:p>
          <a:p>
            <a:r>
              <a:t>  1. Buyer claim in chat (unverified claims, emotional text).</a:t>
            </a:r>
          </a:p>
          <a:p>
            <a:r>
              <a:t>  2. Store truth in Shopify (SKU HEAD-WHT-02, ₹1,499).</a:t>
            </a:r>
          </a:p>
          <a:p>
            <a:r>
              <a:t>  3. Courier tracking in Shippo (delivered 4 days ago).</a:t>
            </a:r>
          </a:p>
          <a:p>
            <a:r>
              <a:t>  4. Store return policy document (7-day defect window, security tag).</a:t>
            </a:r>
          </a:p>
          <a:p>
            <a:r>
              <a:t>- Central Gap: Four systems, but no traceable decision. The merchant makes memory-based decisions across multiple tabs.</a:t>
            </a:r>
          </a:p>
          <a:p>
            <a:r>
              <a:t>- Sourced Fraud Context: NRF 2025 reports 9% for strictly criminal return fraud, whereas Appriss/Deloitte 2024 reports 15.14% when combining fraud and policy abuse (wardrobing, unboxing swaps). These measure distinct scopes and must never be merged.</a:t>
            </a:r>
          </a:p>
          <a:p>
            <a:r>
              <a:t>- Asymmetric Merchant Risk: Wrong refund loses inventory and gross margin; unfair denial destroys customer lifetime value (LTV).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Star Demo &amp; Technical Honesty in Vision Citation:</a:t>
            </a:r>
          </a:p>
          <a:p>
            <a:r>
              <a:t>- Core Benchmark Scenario (Case B): Buyer ordered White Headphones (HEAD-WHT-02, ₹1,499), but unboxing frame 00:07 shows black casing.</a:t>
            </a:r>
          </a:p>
          <a:p>
            <a:r>
              <a:t>- Visual Grounding Honesty: The agent does NOT claim to verify the exact SKU barcode from frame 00:07. It factually observes: 'Black casing (color-consistent with HEAD-BLK-09) · Barcode unverified · SKU not verified'. Frame citations provide a traceable reference, not proof of footage authenticity.</a:t>
            </a:r>
          </a:p>
          <a:p>
            <a:r>
              <a:t>- Decision Logic: Seeing a black item when white was ordered is an undeniable visual contradiction against the manifest. Instead of auto-denying the customer, the policy engine triggers ESCALATE.</a:t>
            </a:r>
          </a:p>
          <a:p>
            <a:r>
              <a:t>- Three Preserved Seller Options (matching slide face):</a:t>
            </a:r>
          </a:p>
          <a:p>
            <a:r>
              <a:t>  1. Accept as warehouse mis-shipment.</a:t>
            </a:r>
          </a:p>
          <a:p>
            <a:r>
              <a:t>  2. Request photo of outside-box shipping label.</a:t>
            </a:r>
          </a:p>
          <a:p>
            <a:r>
              <a:t>  3. Hold return for physical parcel inspection.</a:t>
            </a:r>
          </a:p>
          <a:p>
            <a:r>
              <a:t>- Financial Guardrail: min(₹4,999, remaining refundable amount, order paid amount). No money moves without seller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System Architecture, Agentic Governance &amp; Technical Q&amp;A Defense:</a:t>
            </a:r>
          </a:p>
          <a:p>
            <a:r>
              <a:t>- Philosophy: 'Models observe. Code verifies. Seller authorizes.'</a:t>
            </a:r>
          </a:p>
          <a:p>
            <a:r>
              <a:t>- Responsibilities: Planner model proposes tool actions; backend code validates JSON schemas; FFmpeg extracts keyframes; vision model generates cited observations; deterministic Python rules evaluate policy P-01 to P-08; seller gate authorizes consequential actions.</a:t>
            </a:r>
          </a:p>
          <a:p>
            <a:r>
              <a:t>- DEFENSE QUESTION 1: Why is this an agent rather than a hardcoded workflow?</a:t>
            </a:r>
          </a:p>
          <a:p>
            <a:r>
              <a:t>  ReturnLens is an autonomous state machine with dynamic action selection, multimodal observation, and stateful lifecycle management. In Case C, when a customer submits a dark or blurry video (average brightness 28), the agent does NOT simply fail or run a static linear chain. It inspects the frames, determines evidence is insufficient under Policy P-05, dynamically decides to invoke ask_for_evidence() with specific re-filming guidance, transitions the ticket to WAITING_FOR_EVIDENCE, pauses execution while retaining state and order context, and resumes the exact triage session when new media arrives. Conversely, for routine order status requests, the agent selects the zero-vision fast path directly querying mock APIs.</a:t>
            </a:r>
          </a:p>
          <a:p>
            <a:r>
              <a:t>- DEFENSE QUESTION 2: What happens if vision or critic models hallucinate?</a:t>
            </a:r>
          </a:p>
          <a:p>
            <a:r>
              <a:t>  Vision models produce non-binding observation metadata, never authoritative decisions. Hard business rules (return windows from carrier delivery timestamps, SKU comparisons) are executed in deterministic Python code (P-01 to P-08). The critic provides an adversarial sanity check against cited timestamps. If both vision and critic experience correlated hallucinations, the fail-closed human seller gate guarantees that no refund or return label can ever be issued without seller review.</a:t>
            </a:r>
          </a:p>
          <a:p>
            <a:r>
              <a:t>- DEFENSE QUESTION 3: How do you prevent duplicate or incorrect refunds?</a:t>
            </a:r>
          </a:p>
          <a:p>
            <a:r>
              <a:t>  1. Idempotency keys (hash(order_id, return_id, transaction_type)) with backend uniqueness checks prevent duplicate execution.</a:t>
            </a:r>
          </a:p>
          <a:p>
            <a:r>
              <a:t>  2. Ledgers enforce: 0 &lt; amount &lt;= min(₹4,999, remaining_refundable_amount, order_paid_amount).</a:t>
            </a:r>
          </a:p>
          <a:p>
            <a:r>
              <a:t>  3. Sequence: Refund proposal -&gt; Code validation -&gt; Seller approval -&gt; Revalidation -&gt; Draft creation -&gt; Receipt -&gt; Release. LLMs possess zero capability to call payment gateways directly.</a:t>
            </a:r>
          </a:p>
          <a:p>
            <a:r>
              <a:t>- Security Hardening: Authorization signature binds case ID, SHA256 evidence hash, and policy version. State is revalidated before any draft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Four Reproducible Benchmark Scenarios:</a:t>
            </a:r>
          </a:p>
          <a:p>
            <a:r>
              <a:t>- Grounding Note: These four scenarios represent staged prototype test suites and deterministic expected behaviors, NOT ungrounded production field metrics.</a:t>
            </a:r>
          </a:p>
          <a:p>
            <a:r>
              <a:t>- Case 01 (Consistent Claim): All rules pass (within 7d, SKU matches manifest, tag visible, physical crack observed). System drafts return shipping label and refund draft in 'pending_return_receipt' state. No refund money is transferred until physical warehouse receipt.</a:t>
            </a:r>
          </a:p>
          <a:p>
            <a:r>
              <a:t>- Case 02 (Contradiction): Color mismatch detected (ordered white, unboxed black). System prevents auto-rejection and routes to seller review with 3 concrete resolution options.</a:t>
            </a:r>
          </a:p>
          <a:p>
            <a:r>
              <a:t>- Case 03 (Unclear / Agentic Loop): Dark video (28/255 avg brightness). Instead of auto-denying, the agent provides a clear checklist, transitions to WAITING_FOR_EVIDENCE, and resumes on upload (1 retry limit protects customers from infinite loops).</a:t>
            </a:r>
          </a:p>
          <a:p>
            <a:r>
              <a:t>- Case 04 (Continuity): Expected prototype behavior: inspect parcel-to-product sequence to flag suspicious cut-aways or missing transitions. Does not claim proven prevention of video manipulation.</a:t>
            </a:r>
          </a:p>
          <a:p>
            <a:r>
              <a:t>- Financial Cap Formula: min(₹4,999, remaining refundable amount, order paid amount) strictly prevents over-refunding.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24-Hour Sprint Feasibility, Ownership &amp; Strict Scope Guardrails:</a:t>
            </a:r>
          </a:p>
          <a:p>
            <a:r>
              <a:t>- Feasibility Argument: Why is ReturnLens realistically buildable in 24 hours by 3 engineers?</a:t>
            </a:r>
          </a:p>
          <a:p>
            <a:r>
              <a:t>  1. No live external production dependencies: deterministic mock APIs for Shopify &amp; Shippo eliminate external latency and flakiness.</a:t>
            </a:r>
          </a:p>
          <a:p>
            <a:r>
              <a:t>  2. Clear division of labor with single-threaded component ownership across 3 teammates:</a:t>
            </a:r>
          </a:p>
          <a:p>
            <a:r>
              <a:t>     - Person A (Backend / Policy / Authorization): LangGraph orchestrator, mock store &amp; courier APIs, order status fast path, deterministic rules P-01 to P-08, fail-closed authorization gate, approval binding (case ID + evidence hash + policy version).</a:t>
            </a:r>
          </a:p>
          <a:p>
            <a:r>
              <a:t>     - Person B (Vision / Evidence / UI): FFmpeg keyframe pipeline (~1fps sampling), vision schema, critic prompt, interactive 1-click seller console UI with mock evidence pack.</a:t>
            </a:r>
          </a:p>
          <a:p>
            <a:r>
              <a:t>     - Person C (Integration / Scenarios / QA): Test fixtures for 3 core demo cases (A–C) + Case D sequence test, Case C clarification/resume lifecycle, fail-closed human gate testing, demo video recording, README.</a:t>
            </a:r>
          </a:p>
          <a:p>
            <a:r>
              <a:t>  3. Strict Scope Discipline (matching slide face):</a:t>
            </a:r>
          </a:p>
          <a:p>
            <a:r>
              <a:t>     - MUST DELIVER: Mock store &amp; courier APIs, deterministic policy engine &amp; seller gate, Case B color contradiction &amp; Case C re-film loop, 3 core demo cases (A–C) + Case D sequence test, approval binding (case + evidence hash + policy version), structured JSON audit trail &amp; order-status fast path.</a:t>
            </a:r>
          </a:p>
          <a:p>
            <a:r>
              <a:t>     - CUT FIRST IF BEHIND: Advanced video forensic splice analysis (Case D stretch), WhatsApp bot, exchanges, multi-seller auth, audio analysis, public cloud deployment.</a:t>
            </a:r>
          </a:p>
          <a:p>
            <a:r>
              <a:t>- Winning Philosophy: 'The winning hackathon agent is not the one with the most tool definitions. It is the one where every action is held to evidence, and the seller stays in control.'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AGENTX HACKATHON 2026 · PS-04 TRACK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77240"/>
            <a:ext cx="4114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14241E"/>
                </a:solidFill>
                <a:latin typeface="Calibri"/>
              </a:defRPr>
            </a:pPr>
            <a:r>
              <a:t>ReturnLens</a:t>
            </a:r>
          </a:p>
          <a:p>
            <a:pPr>
              <a:spcAft>
                <a:spcPts val="1600"/>
              </a:spcAft>
              <a:defRPr sz="2200" b="1">
                <a:solidFill>
                  <a:srgbClr val="006B54"/>
                </a:solidFill>
                <a:latin typeface="Calibri"/>
              </a:defRPr>
            </a:pPr>
            <a:r>
              <a:t>Every return decision, backed by verifiable evidence.</a:t>
            </a:r>
          </a:p>
          <a:p>
            <a:pPr>
              <a:spcAft>
                <a:spcPts val="2000"/>
              </a:spcAft>
              <a:defRPr sz="1500">
                <a:solidFill>
                  <a:srgbClr val="5C7066"/>
                </a:solidFill>
                <a:latin typeface="Calibri"/>
              </a:defRPr>
            </a:pPr>
            <a:r>
              <a:t>For solo D2C merchants managing orders alone: an autonomous agent that unifies customer video, store facts, and return policy into a 1-click decision console.</a:t>
            </a:r>
          </a:p>
          <a:p>
            <a:pPr>
              <a:defRPr sz="1100">
                <a:solidFill>
                  <a:srgbClr val="243830"/>
                </a:solidFill>
                <a:latin typeface="Consolas"/>
              </a:defRPr>
            </a:pPr>
            <a:r>
              <a:t>Core Thesis: Models observe. Code verifies. Seller authorizes.</a:t>
            </a:r>
            <a:br/>
            <a:r>
              <a:t>Scope: Return triage + order status · Mock fixtures · Never auto-refunds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777240"/>
            <a:ext cx="701344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777240"/>
            <a:ext cx="7013448" cy="438912"/>
          </a:xfrm>
          <a:prstGeom prst="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832104"/>
            <a:ext cx="6647688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DF2D0"/>
                </a:solidFill>
                <a:latin typeface="Consolas"/>
              </a:defRPr>
            </a:pPr>
            <a:r>
              <a:t>RETURNLENS SELLER CONSOLE — CASE #RT-8821               [ MOCK EVIDENCE PACK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16152"/>
            <a:ext cx="7013448" cy="347472"/>
          </a:xfrm>
          <a:prstGeom prst="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252728"/>
            <a:ext cx="664768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14241E"/>
                </a:solidFill>
                <a:latin typeface="Consolas"/>
              </a:defRPr>
            </a:pPr>
            <a:r>
              <a:t>CASE: #RT-8821 · ORDER: #ORD-7729 · SKU: HEAD-WHT-02      DELIVERED: 4d ago (Window: Day 4/7 PASS)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55064"/>
            <a:ext cx="3246120" cy="20116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746504"/>
            <a:ext cx="302666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C7066"/>
                </a:solidFill>
                <a:latin typeface="Consolas"/>
              </a:defRPr>
            </a:pPr>
            <a:r>
              <a:t>STORE TRUTH · SHOPIFY</a:t>
            </a:r>
          </a:p>
          <a:p>
            <a:pPr>
              <a:defRPr sz="1600" b="1">
                <a:solidFill>
                  <a:srgbClr val="14241E"/>
                </a:solidFill>
                <a:latin typeface="Calibri"/>
              </a:defRPr>
            </a:pPr>
            <a:r>
              <a:t>HEAD-WHT-02 (White)</a:t>
            </a:r>
          </a:p>
          <a:p>
            <a:pPr>
              <a:defRPr sz="1100">
                <a:solidFill>
                  <a:srgbClr val="5C7066"/>
                </a:solidFill>
                <a:latin typeface="Calibri"/>
              </a:defRPr>
            </a:pPr>
            <a:r>
              <a:t>₹1,499 · Studio Catalog Spec</a:t>
            </a:r>
            <a:br/>
            <a:r>
              <a:t>Tag Required: Present in manifest</a:t>
            </a:r>
            <a:br/>
            <a:r>
              <a:t>Delivered: 4d ago (Shippo #SH-9012)</a:t>
            </a:r>
            <a:br/>
            <a:r>
              <a:t>Return Window: Day 4/7 (P-04 PASS)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1655064"/>
            <a:ext cx="3246120" cy="201168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746504"/>
            <a:ext cx="302666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Consolas"/>
              </a:defRPr>
            </a:pPr>
            <a:r>
              <a:t>OBSERVED · VIDEO FRAME 00:07</a:t>
            </a:r>
          </a:p>
          <a:p>
            <a:pPr>
              <a:defRPr sz="1600" b="1">
                <a:solidFill>
                  <a:srgbClr val="962D22"/>
                </a:solidFill>
                <a:latin typeface="Calibri"/>
              </a:defRPr>
            </a:pPr>
            <a:r>
              <a:t>Black Casing (HEAD-BLK-09 Color)</a:t>
            </a:r>
          </a:p>
          <a:p>
            <a:pPr>
              <a:defRPr sz="1100">
                <a:solidFill>
                  <a:srgbClr val="243830"/>
                </a:solidFill>
                <a:latin typeface="Calibri"/>
              </a:defRPr>
            </a:pPr>
            <a:r>
              <a:t>Color-consistent with HEAD-BLK-09</a:t>
            </a:r>
            <a:br/>
            <a:r>
              <a:t>Barcode: Unverified (SKU not verified)</a:t>
            </a:r>
            <a:br/>
            <a:r>
              <a:t>Lighting: Optimal (142/255)</a:t>
            </a:r>
            <a:br/>
            <a:r>
              <a:t>Policy Check: P-03 Color Match FAIL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758184"/>
            <a:ext cx="6647688" cy="493776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3831336"/>
            <a:ext cx="6428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62D22"/>
                </a:solidFill>
                <a:latin typeface="Consolas"/>
              </a:defRPr>
            </a:pPr>
            <a:r>
              <a:t>P-03 CONTRADICTION: Item in parcel does not match ordered SKU · Citation: Keyframe 00:07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325112"/>
            <a:ext cx="6647688" cy="329184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4379976"/>
            <a:ext cx="64282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7066"/>
                </a:solidFill>
                <a:latin typeface="Consolas"/>
              </a:defRPr>
            </a:pPr>
            <a:r>
              <a:t>AUDIT LEDGER: Logged to SQLite · SHA256 evidence hash · Server refund cap: ≤ min(₹4,999, rem, paid)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782312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2400E"/>
                </a:solidFill>
                <a:latin typeface="Consolas"/>
              </a:defRPr>
            </a:pPr>
            <a:r>
              <a:t>● SELLER GATE (FAIL-CLOSED)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745736"/>
            <a:ext cx="1691640" cy="347472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241E"/>
                </a:solidFill>
                <a:latin typeface="Calibri"/>
              </a:defRPr>
            </a:pPr>
            <a:r>
              <a:t>Request Box Label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4745736"/>
            <a:ext cx="1874519" cy="347472"/>
          </a:xfrm>
          <a:prstGeom prst="roundRect">
            <a:avLst/>
          </a:prstGeom>
          <a:solidFill>
            <a:srgbClr val="006B5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Review &amp; Authorize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THE PROBLEM · SOLO MERCHANT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Calibri"/>
              </a:defRPr>
            </a:pPr>
            <a:r>
              <a:t>One return. Four disconnected systems. Zero shared record.</a:t>
            </a:r>
          </a:p>
          <a:p>
            <a:pPr>
              <a:defRPr sz="1500">
                <a:solidFill>
                  <a:srgbClr val="5C7066"/>
                </a:solidFill>
                <a:latin typeface="Calibri"/>
              </a:defRPr>
            </a:pPr>
            <a:r>
              <a:t>Solo merchants cross-reference tabs, video footage, and policy rules manually before moving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737360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810512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Consolas"/>
              </a:defRPr>
            </a:pPr>
            <a:r>
              <a:t>SOURCE 01: BUYER MESSAGE</a:t>
            </a:r>
          </a:p>
          <a:p>
            <a:pPr>
              <a:defRPr sz="1200">
                <a:solidFill>
                  <a:srgbClr val="14241E"/>
                </a:solidFill>
                <a:latin typeface="Calibri"/>
              </a:defRPr>
            </a:pPr>
            <a:r>
              <a:t>Subjective text &amp; unindexed video claim in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2542031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15183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Consolas"/>
              </a:defRPr>
            </a:pPr>
            <a:r>
              <a:t>SOURCE 02: ORDER RECORD</a:t>
            </a:r>
          </a:p>
          <a:p>
            <a:pPr>
              <a:defRPr sz="1200">
                <a:solidFill>
                  <a:srgbClr val="14241E"/>
                </a:solidFill>
                <a:latin typeface="Calibri"/>
              </a:defRPr>
            </a:pPr>
            <a:r>
              <a:t>Shopify manifest: HEAD-WHT-02, Matte White, ₹1,499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3346703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419855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Consolas"/>
              </a:defRPr>
            </a:pPr>
            <a:r>
              <a:t>SOURCE 03: COURIER STATUS</a:t>
            </a:r>
          </a:p>
          <a:p>
            <a:pPr>
              <a:defRPr sz="1200">
                <a:solidFill>
                  <a:srgbClr val="14241E"/>
                </a:solidFill>
                <a:latin typeface="Calibri"/>
              </a:defRPr>
            </a:pPr>
            <a:r>
              <a:t>Shippo scan: delivered 4 days ago (Day 4 of 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4151376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224528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Consolas"/>
              </a:defRPr>
            </a:pPr>
            <a:r>
              <a:t>SOURCE 04: RETURN POLICY</a:t>
            </a:r>
          </a:p>
          <a:p>
            <a:pPr>
              <a:defRPr sz="1200">
                <a:solidFill>
                  <a:srgbClr val="14241E"/>
                </a:solidFill>
                <a:latin typeface="Calibri"/>
              </a:defRPr>
            </a:pPr>
            <a:r>
              <a:t>7-day defect window; security packaging tag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880360"/>
            <a:ext cx="73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B5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1737360"/>
            <a:ext cx="5989320" cy="3154680"/>
          </a:xfrm>
          <a:prstGeom prst="round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2057400"/>
            <a:ext cx="5257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D485"/>
                </a:solidFill>
                <a:latin typeface="Consolas"/>
              </a:defRPr>
            </a:pPr>
            <a:r>
              <a:t>THE CRITICAL INFORMATION GAP</a:t>
            </a:r>
          </a:p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“What verifiable evidence justifies moving this money?”</a:t>
            </a:r>
          </a:p>
          <a:p>
            <a:pPr>
              <a:defRPr sz="1400">
                <a:solidFill>
                  <a:srgbClr val="B5CCC2"/>
                </a:solidFill>
                <a:latin typeface="Calibri"/>
              </a:defRPr>
            </a:pPr>
            <a:r>
              <a:t>Without an auditable evidence pack, the seller either refunds blind (losing COGS and 2-way freight) or disputes unfairly (destroying customer trust and merchant ratings).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85232"/>
            <a:ext cx="5559552" cy="914400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72"/>
            <a:ext cx="5285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4D3C"/>
                </a:solidFill>
                <a:latin typeface="Consolas"/>
              </a:defRPr>
            </a:pPr>
            <a:r>
              <a:t>9% vs 15.14% · Industry Baseline</a:t>
            </a:r>
          </a:p>
          <a:p>
            <a:pPr>
              <a:defRPr sz="1150">
                <a:solidFill>
                  <a:srgbClr val="243830"/>
                </a:solidFill>
                <a:latin typeface="Calibri"/>
              </a:defRPr>
            </a:pPr>
            <a:r>
              <a:t>9% NRF 2025 criminal fraud only vs 15.14% Appriss/Deloitte 2024 fraud + policy abuse (definitions differ).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5285232"/>
            <a:ext cx="5559552" cy="914400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76672"/>
            <a:ext cx="5285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4D3C"/>
                </a:solidFill>
                <a:latin typeface="Consolas"/>
              </a:defRPr>
            </a:pPr>
            <a:r>
              <a:t>Manual Triage · Asymmetric Risk</a:t>
            </a:r>
          </a:p>
          <a:p>
            <a:pPr>
              <a:defRPr sz="1150">
                <a:solidFill>
                  <a:srgbClr val="243830"/>
                </a:solidFill>
                <a:latin typeface="Calibri"/>
              </a:defRPr>
            </a:pPr>
            <a:r>
              <a:t>High cognitive overhead on unboxing triage; memory-based manual checks create friction and financial leaks.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STAR DEMO · CASE B · CORE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Calibri"/>
              </a:defRPr>
            </a:pPr>
            <a:r>
              <a:t>The order says White. The unboxing video shows Black.</a:t>
            </a:r>
          </a:p>
          <a:p>
            <a:pPr>
              <a:defRPr sz="1500">
                <a:solidFill>
                  <a:srgbClr val="5C7066"/>
                </a:solidFill>
                <a:latin typeface="Calibri"/>
              </a:defRPr>
            </a:pPr>
            <a:r>
              <a:t>Policy P-03 triggers ESCALATE. No mock label created. No refund draft. No denial without human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ORDER MANIFEST · STORE TRUTH (#ORD-7729)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4663440" cy="1920240"/>
          </a:xfrm>
          <a:prstGeom prst="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41E"/>
                </a:solidFill>
                <a:latin typeface="Calibri"/>
              </a:defRPr>
            </a:pPr>
            <a:r>
              <a:t>STUDIO WIRELESS HEADPHONES</a:t>
            </a:r>
            <a:br/>
            <a:r>
              <a:t>[ MATTE WHITE CASING ]</a:t>
            </a:r>
            <a:br/>
            <a:r>
              <a:t>SKU: HEAD-WHT-02 · ₹1,499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3830"/>
                </a:solidFill>
                <a:latin typeface="Consolas"/>
              </a:defRPr>
            </a:pPr>
            <a:r>
              <a:t>SKU: HEAD-WHT-02 · Color: Matte White</a:t>
            </a:r>
            <a:br/>
            <a:r>
              <a:t>Price: ₹1,499 paid · Delivered: 4d ago (Shippo #SH-9012)</a:t>
            </a:r>
          </a:p>
        </p:txBody>
      </p:sp>
      <p:sp>
        <p:nvSpPr>
          <p:cNvPr id="10" name="Oval 9"/>
          <p:cNvSpPr/>
          <p:nvPr/>
        </p:nvSpPr>
        <p:spPr>
          <a:xfrm>
            <a:off x="5696712" y="2788920"/>
            <a:ext cx="786384" cy="786384"/>
          </a:xfrm>
          <a:prstGeom prst="ellipse">
            <a:avLst/>
          </a:prstGeom>
          <a:solidFill>
            <a:srgbClr val="C0392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7688" y="1508760"/>
            <a:ext cx="5120640" cy="36576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916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Consolas"/>
              </a:defRPr>
            </a:pPr>
            <a:r>
              <a:t>MOCK EVIDENCE PACK · VIDEO CITATION (FRAME 00:07)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103120"/>
            <a:ext cx="4663440" cy="1920240"/>
          </a:xfrm>
          <a:prstGeom prst="rect">
            <a:avLst/>
          </a:prstGeom>
          <a:solidFill>
            <a:srgbClr val="1822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468880"/>
            <a:ext cx="4297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7F5F0"/>
                </a:solidFill>
                <a:latin typeface="Calibri"/>
              </a:defRPr>
            </a:pPr>
            <a:r>
              <a:t>CUSTOMER UNBOXING FOOTAGE</a:t>
            </a:r>
            <a:br/>
            <a:r>
              <a:t>[ BLACK CASING DETECTED ]</a:t>
            </a:r>
            <a:br/>
            <a:r>
              <a:t>REC 00:07 / 00:24 · Lighting: 142/255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2D22"/>
                </a:solidFill>
                <a:latin typeface="Consolas"/>
              </a:defRPr>
            </a:pPr>
            <a:r>
              <a:t>Observed: Black Casing (Color-consistent with HEAD-BLK-09)</a:t>
            </a:r>
            <a:br/>
            <a:r>
              <a:t>Exact SKU: Not verified (Barcode unverified) · P-03 FAIL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330952"/>
            <a:ext cx="11347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42239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962D22"/>
                </a:solidFill>
                <a:latin typeface="Consolas"/>
              </a:defRPr>
            </a:pPr>
            <a:r>
              <a:t>POLICY P-03 RESULT: ESCALATE TO SELLER</a:t>
            </a:r>
          </a:p>
          <a:p>
            <a:pPr>
              <a:defRPr sz="1250">
                <a:solidFill>
                  <a:srgbClr val="243830"/>
                </a:solidFill>
                <a:latin typeface="Calibri"/>
              </a:defRPr>
            </a:pPr>
            <a:r>
              <a:t>3 Preserved Seller Actions: (1) Accept mis-shipment · (2) Request box-label photo · (3) Hold for inspection.</a:t>
            </a:r>
            <a:br/>
            <a:r>
              <a:t>Server Cap Formula: 0 &lt; amount &lt;= min(₹4,999, remaining_refundable, order_paid)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15"/>
          </a:solidFill>
          <a:ln>
            <a:solidFill>
              <a:srgbClr val="0E18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1A7"/>
                </a:solidFill>
                <a:latin typeface="Consolas"/>
              </a:defRPr>
            </a:pPr>
            <a:r>
              <a:t>SYSTEM ARCHITECTURE · FAIL-CLOSED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7F5F0"/>
                </a:solidFill>
                <a:latin typeface="Calibri"/>
              </a:defRPr>
            </a:pPr>
            <a:r>
              <a:t>Models observe. Code verifies. Seller authorizes.</a:t>
            </a:r>
          </a:p>
          <a:p>
            <a:pPr>
              <a:defRPr sz="1500">
                <a:solidFill>
                  <a:srgbClr val="8EABA0"/>
                </a:solidFill>
                <a:latin typeface="Calibri"/>
              </a:defRPr>
            </a:pPr>
            <a:r>
              <a:t>Exactly 3 base model calls per case. Weak evidence escalates. Never releases automated refunds.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960120"/>
          </a:xfrm>
          <a:prstGeom prst="roundRect">
            <a:avLst/>
          </a:prstGeom>
          <a:solidFill>
            <a:srgbClr val="152420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Consolas"/>
              </a:defRPr>
            </a:pPr>
            <a:r>
              <a:t>1. Planner</a:t>
            </a:r>
          </a:p>
          <a:p>
            <a:pPr>
              <a:defRPr sz="1100">
                <a:solidFill>
                  <a:srgbClr val="8EABA0"/>
                </a:solidFill>
                <a:latin typeface="Calibri"/>
              </a:defRPr>
            </a:pPr>
            <a:r>
              <a:t>Typed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Consolas"/>
              </a:defRPr>
            </a:pPr>
            <a:r>
              <a:t>2. Tools</a:t>
            </a:r>
          </a:p>
          <a:p>
            <a:pPr>
              <a:defRPr sz="1100">
                <a:solidFill>
                  <a:srgbClr val="8EABA0"/>
                </a:solidFill>
                <a:latin typeface="Calibri"/>
              </a:defRPr>
            </a:pPr>
            <a:r>
              <a:t>FFmpeg +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Consolas"/>
              </a:defRPr>
            </a:pPr>
            <a:r>
              <a:t>3. Policy</a:t>
            </a:r>
          </a:p>
          <a:p>
            <a:pPr>
              <a:defRPr sz="1100">
                <a:solidFill>
                  <a:srgbClr val="8EABA0"/>
                </a:solidFill>
                <a:latin typeface="Calibri"/>
              </a:defRPr>
            </a:pPr>
            <a:r>
              <a:t>Rules P-01–08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Consolas"/>
              </a:defRPr>
            </a:pPr>
            <a:r>
              <a:t>4. Critic</a:t>
            </a:r>
          </a:p>
          <a:p>
            <a:pPr>
              <a:defRPr sz="1100">
                <a:solidFill>
                  <a:srgbClr val="8EABA0"/>
                </a:solidFill>
                <a:latin typeface="Calibri"/>
              </a:defRPr>
            </a:pPr>
            <a:r>
              <a:t>Review cited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1A7"/>
                </a:solidFill>
                <a:latin typeface="Consolas"/>
              </a:defRPr>
            </a:pPr>
            <a:r>
              <a:t>5. Seller Gate</a:t>
            </a:r>
          </a:p>
          <a:p>
            <a:pPr>
              <a:defRPr sz="1100">
                <a:solidFill>
                  <a:srgbClr val="8EABA0"/>
                </a:solidFill>
                <a:latin typeface="Calibri"/>
              </a:defRPr>
            </a:pPr>
            <a:r>
              <a:t>1-Click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Consolas"/>
              </a:defRPr>
            </a:pPr>
            <a:r>
              <a:t>6. Audit Log</a:t>
            </a:r>
          </a:p>
          <a:p>
            <a:pPr>
              <a:defRPr sz="1100">
                <a:solidFill>
                  <a:srgbClr val="8EABA0"/>
                </a:solidFill>
                <a:latin typeface="Calibri"/>
              </a:defRPr>
            </a:pPr>
            <a:r>
              <a:t>Append-only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651760"/>
            <a:ext cx="3611880" cy="2514600"/>
          </a:xfrm>
          <a:prstGeom prst="roundRect">
            <a:avLst/>
          </a:prstGeom>
          <a:solidFill>
            <a:srgbClr val="152420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1A7"/>
                </a:solidFill>
                <a:latin typeface="Consolas"/>
              </a:defRPr>
            </a:pPr>
            <a:r>
              <a:t>CALL BUDGET</a:t>
            </a:r>
          </a:p>
          <a:p>
            <a:pPr>
              <a:spcAft>
                <a:spcPts val="800"/>
              </a:spcAft>
              <a:defRPr sz="1700" b="1">
                <a:solidFill>
                  <a:srgbClr val="F7F5F0"/>
                </a:solidFill>
                <a:latin typeface="Calibri"/>
              </a:defRPr>
            </a:pPr>
            <a:r>
              <a:t>Exactly 3 Model Calls</a:t>
            </a:r>
          </a:p>
          <a:p>
            <a:pPr>
              <a:defRPr sz="1200">
                <a:solidFill>
                  <a:srgbClr val="8EABA0"/>
                </a:solidFill>
                <a:latin typeface="Calibri"/>
              </a:defRPr>
            </a:pPr>
            <a:r>
              <a:t>1. Planner proposes typed tool actions.</a:t>
            </a:r>
            <a:br/>
            <a:r>
              <a:t>2. Vision model inspects server-generated keyframes.</a:t>
            </a:r>
            <a:br/>
            <a:r>
              <a:t>3. Critic evaluates citations against policy.</a:t>
            </a:r>
            <a:br/>
            <a:br/>
            <a:r>
              <a:t>Model never accesses payment APIs directly.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651760"/>
            <a:ext cx="3611880" cy="2514600"/>
          </a:xfrm>
          <a:prstGeom prst="roundRect">
            <a:avLst/>
          </a:prstGeom>
          <a:solidFill>
            <a:srgbClr val="142822"/>
          </a:solidFill>
          <a:ln w="19050">
            <a:solidFill>
              <a:srgbClr val="006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1A7"/>
                </a:solidFill>
                <a:latin typeface="Consolas"/>
              </a:defRPr>
            </a:pPr>
            <a:r>
              <a:t>STATEFUL RESUMPTION</a:t>
            </a:r>
          </a:p>
          <a:p>
            <a:pPr>
              <a:spcAft>
                <a:spcPts val="800"/>
              </a:spcAft>
              <a:defRPr sz="1700" b="1">
                <a:solidFill>
                  <a:srgbClr val="F7F5F0"/>
                </a:solidFill>
                <a:latin typeface="Calibri"/>
              </a:defRPr>
            </a:pPr>
            <a:r>
              <a:t>Case C: Re-Film Loop</a:t>
            </a:r>
          </a:p>
          <a:p>
            <a:pPr>
              <a:defRPr sz="1200">
                <a:solidFill>
                  <a:srgbClr val="8EABA0"/>
                </a:solidFill>
                <a:latin typeface="Calibri"/>
              </a:defRPr>
            </a:pPr>
            <a:r>
              <a:t>When video is too dark (brightness 28, 2 frames), agent calls ask_for_evidence() with a re-film checklist.</a:t>
            </a:r>
            <a:br/>
            <a:br/>
            <a:r>
              <a:t>Case state saved to WAITING_FOR_EVIDENCE and resumes on upload. After 1 retry, escalates to seller with both attempts logged (never auto-denies).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651760"/>
            <a:ext cx="3611880" cy="2514600"/>
          </a:xfrm>
          <a:prstGeom prst="roundRect">
            <a:avLst/>
          </a:prstGeom>
          <a:solidFill>
            <a:srgbClr val="152420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1A7"/>
                </a:solidFill>
                <a:latin typeface="Consolas"/>
              </a:defRPr>
            </a:pPr>
            <a:r>
              <a:t>SECONDARY ROUTE</a:t>
            </a:r>
          </a:p>
          <a:p>
            <a:pPr>
              <a:spcAft>
                <a:spcPts val="800"/>
              </a:spcAft>
              <a:defRPr sz="1700" b="1">
                <a:solidFill>
                  <a:srgbClr val="F7F5F0"/>
                </a:solidFill>
                <a:latin typeface="Calibri"/>
              </a:defRPr>
            </a:pPr>
            <a:r>
              <a:t>Tiny PS-04 Order Route</a:t>
            </a:r>
          </a:p>
          <a:p>
            <a:pPr>
              <a:defRPr sz="1200">
                <a:solidFill>
                  <a:srgbClr val="8EABA0"/>
                </a:solidFill>
                <a:latin typeface="Calibri"/>
              </a:defRPr>
            </a:pPr>
            <a:r>
              <a:t>For routine "Where is my order?" inquiries, agent bypasses vision entirely:</a:t>
            </a:r>
            <a:br/>
            <a:br/>
            <a:r>
              <a:t>Store API → Courier API → Instant status reply.</a:t>
            </a:r>
            <a:br/>
            <a:br/>
            <a:r>
              <a:t>Zero vision token waste.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330952"/>
            <a:ext cx="11347704" cy="713232"/>
          </a:xfrm>
          <a:prstGeom prst="roundRect">
            <a:avLst/>
          </a:prstGeom>
          <a:solidFill>
            <a:srgbClr val="11221D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22392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Consolas"/>
              </a:defRPr>
            </a:pPr>
            <a:r>
              <a:t>FAIL-CLOSED FINANCIAL GATE: requires_seller_approval: true · Approval binds case + evidence hash + policy version.</a:t>
            </a:r>
          </a:p>
          <a:p>
            <a:pPr>
              <a:defRPr sz="1050">
                <a:solidFill>
                  <a:srgbClr val="8EABA0"/>
                </a:solidFill>
                <a:latin typeface="Consolas"/>
              </a:defRPr>
            </a:pPr>
            <a:r>
              <a:t>Server Cap: 0 &lt; amount &lt;= min(₹4,999, remaining_refundable, order_paid) · Revalidation check before draft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2339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EABA0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EABA0"/>
                </a:solidFill>
                <a:latin typeface="Consolas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EVALUATION SUITE · 4 CONTROLLED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Calibri"/>
              </a:defRPr>
            </a:pPr>
            <a:r>
              <a:t>Different evidence. Controlled, predictable action.</a:t>
            </a:r>
          </a:p>
          <a:p>
            <a:pPr>
              <a:defRPr sz="1500">
                <a:solidFill>
                  <a:srgbClr val="5C7066"/>
                </a:solidFill>
                <a:latin typeface="Calibri"/>
              </a:defRPr>
            </a:pPr>
            <a:r>
              <a:t>Every case produces an auditable mock evidence pack. No automatic policy approvals.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49377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498848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392B"/>
                </a:solidFill>
                <a:latin typeface="Consolas"/>
              </a:defRPr>
            </a:pPr>
            <a:r>
              <a:t>CORE BENCHMARK SCENARIO · P-03 CONTRADICTION</a:t>
            </a:r>
          </a:p>
          <a:p>
            <a:pPr>
              <a:defRPr sz="1900" b="1">
                <a:solidFill>
                  <a:srgbClr val="14241E"/>
                </a:solidFill>
                <a:latin typeface="Calibri"/>
              </a:defRPr>
            </a:pPr>
            <a:r>
              <a:t>Case B: Color Contradiction</a:t>
            </a:r>
          </a:p>
          <a:p>
            <a:pPr>
              <a:defRPr sz="1100">
                <a:solidFill>
                  <a:srgbClr val="5C7066"/>
                </a:solidFill>
                <a:latin typeface="Calibri"/>
              </a:defRPr>
            </a:pPr>
            <a:r>
              <a:t>The order says White. Unboxing video frame 00:07 shows Black.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86584"/>
            <a:ext cx="4498848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9736"/>
            <a:ext cx="4279392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Consolas"/>
              </a:defRPr>
            </a:pPr>
            <a:r>
              <a:t>MOCK EVIDENCE PACK · KEYFRAME 00:07 CITATION</a:t>
            </a:r>
          </a:p>
          <a:p>
            <a:pPr>
              <a:defRPr sz="1050">
                <a:solidFill>
                  <a:srgbClr val="14241E"/>
                </a:solidFill>
                <a:latin typeface="Calibri"/>
              </a:defRPr>
            </a:pPr>
            <a:r>
              <a:t>Manifest: HEAD-WHT-02 White · ₹1,499 · Shippo #SH-9012</a:t>
            </a:r>
          </a:p>
          <a:p>
            <a:pPr>
              <a:defRPr sz="1100" b="1">
                <a:solidFill>
                  <a:srgbClr val="962D22"/>
                </a:solidFill>
                <a:latin typeface="Calibri"/>
              </a:defRPr>
            </a:pPr>
            <a:r>
              <a:t>Observed: Black casing · color-consistent HEAD-BLK-09</a:t>
            </a:r>
          </a:p>
          <a:p>
            <a:pPr>
              <a:defRPr sz="850">
                <a:solidFill>
                  <a:srgbClr val="5C7066"/>
                </a:solidFill>
                <a:latin typeface="Consolas"/>
              </a:defRPr>
            </a:pPr>
            <a:r>
              <a:t>Barcode / SKU: Unverified · Optimal Lighting (142/255) · REC 00:07 / 00:24</a:t>
            </a:r>
          </a:p>
          <a:p>
            <a:pPr>
              <a:defRPr sz="1050" b="1">
                <a:solidFill>
                  <a:srgbClr val="962D22"/>
                </a:solidFill>
                <a:latin typeface="Calibri"/>
              </a:defRPr>
            </a:pPr>
            <a:r>
              <a:t>P-03 FAIL → No label, no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31336"/>
            <a:ext cx="4498848" cy="384048"/>
          </a:xfrm>
          <a:prstGeom prst="round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04488"/>
            <a:ext cx="427939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D485"/>
                </a:solidFill>
                <a:latin typeface="Consolas"/>
              </a:defRPr>
            </a:pPr>
            <a:r>
              <a:t>POLICY ACTION: ESCALATE TO SELLER GATE (FAIL-CLOSED)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88536"/>
            <a:ext cx="4498848" cy="1691640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79976"/>
            <a:ext cx="4279392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4D3C"/>
                </a:solidFill>
                <a:latin typeface="Consolas"/>
              </a:defRPr>
            </a:pPr>
            <a:r>
              <a:t>PRESERVED SELLER OPTIONS IN DECISION CONSOLE:</a:t>
            </a:r>
          </a:p>
          <a:p>
            <a:pPr>
              <a:defRPr sz="1050">
                <a:solidFill>
                  <a:srgbClr val="14241E"/>
                </a:solidFill>
                <a:latin typeface="Calibri"/>
              </a:defRPr>
            </a:pPr>
            <a:r>
              <a:t>① Accept warehouse mis-shipment</a:t>
            </a:r>
          </a:p>
          <a:p>
            <a:pPr>
              <a:defRPr sz="1050">
                <a:solidFill>
                  <a:srgbClr val="14241E"/>
                </a:solidFill>
                <a:latin typeface="Calibri"/>
              </a:defRPr>
            </a:pPr>
            <a:r>
              <a:t>② Request outer-box barcode photo</a:t>
            </a:r>
          </a:p>
          <a:p>
            <a:pPr>
              <a:defRPr sz="1050">
                <a:solidFill>
                  <a:srgbClr val="14241E"/>
                </a:solidFill>
                <a:latin typeface="Calibri"/>
              </a:defRPr>
            </a:pPr>
            <a:r>
              <a:t>③ Hold for physical parcel inspection</a:t>
            </a:r>
          </a:p>
          <a:p>
            <a:pPr>
              <a:defRPr sz="850">
                <a:solidFill>
                  <a:srgbClr val="5C7066"/>
                </a:solidFill>
                <a:latin typeface="Consolas"/>
              </a:defRPr>
            </a:pPr>
            <a:r>
              <a:t>Financial Guardrail: 0 &lt; amount ≤ min(₹4,999, rem, paid) · Binds evidence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9552" y="1508760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1618488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4D3C"/>
                </a:solidFill>
                <a:latin typeface="Calibri"/>
              </a:defRPr>
            </a:pPr>
            <a:r>
              <a:t>Case A: Valid Return (ORD-1042)   [PREPARE SELLER REVIEW]</a:t>
            </a:r>
          </a:p>
          <a:p>
            <a:pPr>
              <a:defRPr sz="1150">
                <a:solidFill>
                  <a:srgbClr val="5C7066"/>
                </a:solidFill>
                <a:latin typeface="Calibri"/>
              </a:defRPr>
            </a:pPr>
            <a:r>
              <a:t>Evidence: ORD-1042 · ₹1,499 · SKU matches catalog · Tag clearly present · Within 7-day return window.</a:t>
            </a:r>
          </a:p>
          <a:p>
            <a:pPr>
              <a:defRPr sz="1000" b="1">
                <a:solidFill>
                  <a:srgbClr val="004D3C"/>
                </a:solidFill>
                <a:latin typeface="Consolas"/>
              </a:defRPr>
            </a:pPr>
            <a:r>
              <a:t>Outcome: Mock shipping label created · Refund draft placed in pending_return_receipt (not executed).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9552" y="3118104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3227832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Calibri"/>
              </a:defRPr>
            </a:pPr>
            <a:r>
              <a:t>Case C: Low-Light Video (Re-Film Loop)   [ASK &amp; RESUME]</a:t>
            </a:r>
          </a:p>
          <a:p>
            <a:pPr>
              <a:defRPr sz="1150">
                <a:solidFill>
                  <a:srgbClr val="5C7066"/>
                </a:solidFill>
                <a:latin typeface="Calibri"/>
              </a:defRPr>
            </a:pPr>
            <a:r>
              <a:t>Evidence: 4-second dark unboxing video · Brightness score 28/255 · Only 2 usable keyframes extracted.</a:t>
            </a:r>
          </a:p>
          <a:p>
            <a:pPr>
              <a:defRPr sz="1000" b="1">
                <a:solidFill>
                  <a:srgbClr val="004D3C"/>
                </a:solidFill>
                <a:latin typeface="Consolas"/>
              </a:defRPr>
            </a:pPr>
            <a:r>
              <a:t>Outcome: Agent issues re-film checklist · State saved to WAITING_FOR_EVIDENCE · Resumes on upload (after 1 retry, escalates with both attempts logged; never auto-denies).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4727448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2" y="4837176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41E"/>
                </a:solidFill>
                <a:latin typeface="Calibri"/>
              </a:defRPr>
            </a:pPr>
            <a:r>
              <a:t>Case D: Continuous Unboxing Sequence   [INSPECT SEQUENCE]</a:t>
            </a:r>
          </a:p>
          <a:p>
            <a:pPr>
              <a:defRPr sz="1150">
                <a:solidFill>
                  <a:srgbClr val="5C7066"/>
                </a:solidFill>
                <a:latin typeface="Calibri"/>
              </a:defRPr>
            </a:pPr>
            <a:r>
              <a:t>Evidence: Single continuous take from opening sealed parcel to displaying label in one sequence.</a:t>
            </a:r>
          </a:p>
          <a:p>
            <a:pPr>
              <a:defRPr sz="1000" b="1">
                <a:solidFill>
                  <a:srgbClr val="004D3C"/>
                </a:solidFill>
                <a:latin typeface="Consolas"/>
              </a:defRPr>
            </a:pPr>
            <a:r>
              <a:t>Outcome: Inspects sequence continuity and flags abrupt transitions. Does not claim proof of identical item.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24-HOUR PROTOTYPE PLAN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Calibri"/>
              </a:defRPr>
            </a:pPr>
            <a:r>
              <a:t>A credible, buildable prototype in 24 hours.</a:t>
            </a:r>
          </a:p>
          <a:p>
            <a:pPr>
              <a:defRPr sz="1500">
                <a:solidFill>
                  <a:srgbClr val="5C7066"/>
                </a:solidFill>
                <a:latin typeface="Calibri"/>
              </a:defRPr>
            </a:pPr>
            <a:r>
              <a:t>Strict scope discipline, mock data fixtures, and single-threaded ownership ensure on-time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00 – 06h · Foundation</a:t>
            </a:r>
          </a:p>
          <a:p>
            <a:pPr>
              <a:defRPr sz="1050">
                <a:solidFill>
                  <a:srgbClr val="5C7066"/>
                </a:solidFill>
                <a:latin typeface="Calibri"/>
              </a:defRPr>
            </a:pPr>
            <a:r>
              <a:t>Mock Store/Shippo APIs · LangGraph state schema · Policy P-01 to P-08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0712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06 – 12h · Evidence Pipeline</a:t>
            </a:r>
          </a:p>
          <a:p>
            <a:pPr>
              <a:defRPr sz="1050">
                <a:solidFill>
                  <a:srgbClr val="5C7066"/>
                </a:solidFill>
                <a:latin typeface="Calibri"/>
              </a:defRPr>
            </a:pPr>
            <a:r>
              <a:t>FFmpeg ~1fps extractor · Vision prompt schemas · Seller Console UI mock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12 – 18h · Integration</a:t>
            </a:r>
          </a:p>
          <a:p>
            <a:pPr>
              <a:defRPr sz="1050">
                <a:solidFill>
                  <a:srgbClr val="5C7066"/>
                </a:solidFill>
                <a:latin typeface="Calibri"/>
              </a:defRPr>
            </a:pPr>
            <a:r>
              <a:t>Case C pause/resume loop · 3 core cases (A–C) + Case D sequence test · Critic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3416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Consolas"/>
              </a:defRPr>
            </a:pPr>
            <a:r>
              <a:t>18 – 24h · Validation</a:t>
            </a:r>
          </a:p>
          <a:p>
            <a:pPr>
              <a:defRPr sz="1050">
                <a:solidFill>
                  <a:srgbClr val="5C7066"/>
                </a:solidFill>
                <a:latin typeface="Calibri"/>
              </a:defRPr>
            </a:pPr>
            <a:r>
              <a:t>Fail-closed authorization tests · Boundary QA · Video demo recording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Consolas"/>
              </a:defRPr>
            </a:pPr>
            <a:r>
              <a:t>PERSON A · BACKEND, POLICY &amp; AUDIT</a:t>
            </a:r>
          </a:p>
          <a:p>
            <a:pPr>
              <a:defRPr sz="1400" b="1">
                <a:solidFill>
                  <a:srgbClr val="14241E"/>
                </a:solidFill>
                <a:latin typeface="Calibri"/>
              </a:defRPr>
            </a:pPr>
            <a:r>
              <a:t>State Machine &amp; Policy Engine</a:t>
            </a:r>
          </a:p>
          <a:p>
            <a:pPr>
              <a:spcAft>
                <a:spcPts val="400"/>
              </a:spcAft>
              <a:defRPr sz="850">
                <a:solidFill>
                  <a:srgbClr val="5C7066"/>
                </a:solidFill>
                <a:latin typeface="Consolas"/>
              </a:defRPr>
            </a:pPr>
            <a:r>
              <a:t>Stack: LangGraph · Pydantic · SQLite · SHA256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Policy P-01 to P-08: Deterministic code rules (window, SKU, tag, refund cap)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Critic Agent: Adversarial check against cited keyframe timestamps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Audit Ledger: Append-only JSON log &amp; cryptographic approval binding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Financial Cap: Server calculation min(₹4,999, remaining, paid)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Consolas"/>
              </a:defRPr>
            </a:pPr>
            <a:r>
              <a:t>PERSON B · VISION &amp; CONSOLE</a:t>
            </a:r>
          </a:p>
          <a:p>
            <a:pPr>
              <a:defRPr sz="1400" b="1">
                <a:solidFill>
                  <a:srgbClr val="14241E"/>
                </a:solidFill>
                <a:latin typeface="Calibri"/>
              </a:defRPr>
            </a:pPr>
            <a:r>
              <a:t>Video Pipeline &amp; Seller UI</a:t>
            </a:r>
          </a:p>
          <a:p>
            <a:pPr>
              <a:spcAft>
                <a:spcPts val="400"/>
              </a:spcAft>
              <a:defRPr sz="850">
                <a:solidFill>
                  <a:srgbClr val="5C7066"/>
                </a:solidFill>
                <a:latin typeface="Consolas"/>
              </a:defRPr>
            </a:pPr>
            <a:r>
              <a:t>Stack: FFmpeg · Hosted vision model (unpinned) · HTML/CSS/SVG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Keyframe Pipeline: Uniform ~1fps sampling &amp; brightness scoring (Case C sample: 28/255)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Structured Vision: Observation schema with timestamp citation metadata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Seller Console: 1-click decision console with mock evidence pack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Grounding Guard: Enforces unverified barcode vs color distinction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Consolas"/>
              </a:defRPr>
            </a:pPr>
            <a:r>
              <a:t>PERSON C · INTEGRATION &amp; QA</a:t>
            </a:r>
          </a:p>
          <a:p>
            <a:pPr>
              <a:defRPr sz="1400" b="1">
                <a:solidFill>
                  <a:srgbClr val="14241E"/>
                </a:solidFill>
                <a:latin typeface="Calibri"/>
              </a:defRPr>
            </a:pPr>
            <a:r>
              <a:t>Scenarios, Lifecycle &amp; QA</a:t>
            </a:r>
          </a:p>
          <a:p>
            <a:pPr>
              <a:spcAft>
                <a:spcPts val="400"/>
              </a:spcAft>
              <a:defRPr sz="850">
                <a:solidFill>
                  <a:srgbClr val="5C7066"/>
                </a:solidFill>
                <a:latin typeface="Consolas"/>
              </a:defRPr>
            </a:pPr>
            <a:r>
              <a:t>Stack: Pytest · Mock Fixtures · Automated Smoke QA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Benchmark Cases: Staged data for Cases A–C + Case D sequence test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Case C Lifecycle: Re-film loop in WAITING_FOR_EVIDENCE (1 retry)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Fail-Closed Testing: Verifies zero automated refunds &amp; approval gates</a:t>
            </a:r>
          </a:p>
          <a:p>
            <a:pPr>
              <a:spcAft>
                <a:spcPts val="200"/>
              </a:spcAft>
              <a:defRPr sz="1050">
                <a:solidFill>
                  <a:srgbClr val="243830"/>
                </a:solidFill>
                <a:latin typeface="Calibri"/>
              </a:defRPr>
            </a:pPr>
            <a:r>
              <a:t>• Automated QA: 9-test smoke runner, end-to-end event bus &amp; demo recording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074920"/>
            <a:ext cx="11347704" cy="1143000"/>
          </a:xfrm>
          <a:prstGeom prst="round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184648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Consolas"/>
              </a:defRPr>
            </a:pPr>
            <a:r>
              <a:t>MUST DELIVER (CORE PROTOTYPE)</a:t>
            </a:r>
          </a:p>
          <a:p>
            <a:pPr>
              <a:defRPr sz="1200">
                <a:solidFill>
                  <a:srgbClr val="DFEAE5"/>
                </a:solidFill>
                <a:latin typeface="Calibri"/>
              </a:defRPr>
            </a:pPr>
            <a:r>
              <a:t>Mock APIs · Policy engine · Cases A–C + Case D test · Approval binding · Seller gate · Tiny order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84648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8C69"/>
                </a:solidFill>
                <a:latin typeface="Consolas"/>
              </a:defRPr>
            </a:pPr>
            <a:r>
              <a:t>CUT FIRST IF BEHIND</a:t>
            </a:r>
          </a:p>
          <a:p>
            <a:pPr>
              <a:defRPr sz="1150">
                <a:solidFill>
                  <a:srgbClr val="DFEAE5"/>
                </a:solidFill>
                <a:latin typeface="Calibri"/>
              </a:defRPr>
            </a:pPr>
            <a:r>
              <a:t>Advanced video forensics (Case D stretch) · WhatsApp bot · Exchanges · Multi-seller auth · Audio analysis · Public cloud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18464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D1A7"/>
                </a:solidFill>
                <a:latin typeface="Consolas"/>
              </a:defRPr>
            </a:pPr>
            <a:r>
              <a:t>FINANCIAL CEILING FORMULA</a:t>
            </a:r>
          </a:p>
          <a:p>
            <a:pPr>
              <a:defRPr sz="1150">
                <a:solidFill>
                  <a:srgbClr val="FFFFFF"/>
                </a:solidFill>
                <a:latin typeface="Consolas"/>
              </a:defRPr>
            </a:pPr>
            <a:r>
              <a:t>0 &lt; amt &lt;= min(₹4,999, rem_ref, paid)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