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5A6661"/>
                </a:solidFill>
                <a:latin typeface="Arial"/>
              </a:defRPr>
            </a:pPr>
            <a:r>
              <a:t>ReturnLens · Evidence-Backed Return Triage  ·  Slide 1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Arial"/>
              </a:defRPr>
            </a:pPr>
            <a:r>
              <a:t>AGENTX HACKATHON 2026 · PS-04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172621"/>
                </a:solidFill>
                <a:latin typeface="Arial"/>
              </a:defRPr>
            </a:pPr>
            <a:r>
              <a:t>ReturnLens</a:t>
            </a:r>
          </a:p>
          <a:p>
            <a:pPr>
              <a:spcBef>
                <a:spcPts val="1200"/>
              </a:spcBef>
              <a:defRPr sz="2200" b="1">
                <a:solidFill>
                  <a:srgbClr val="006B55"/>
                </a:solidFill>
                <a:latin typeface="Arial"/>
              </a:defRPr>
            </a:pPr>
            <a:r>
              <a:t>Evidence-backed return triage for small online sellers.</a:t>
            </a:r>
          </a:p>
          <a:p>
            <a:pPr>
              <a:spcBef>
                <a:spcPts val="1600"/>
              </a:spcBef>
              <a:defRPr sz="1500">
                <a:solidFill>
                  <a:srgbClr val="5A6661"/>
                </a:solidFill>
                <a:latin typeface="Arial"/>
              </a:defRPr>
            </a:pPr>
            <a:r>
              <a:t>Verifying buyer unboxing videos against mock store truth before any return label or refund draft is prepared for one-click seller sign-off.</a:t>
            </a:r>
          </a:p>
          <a:p>
            <a:pPr>
              <a:spcBef>
                <a:spcPts val="2400"/>
              </a:spcBef>
              <a:defRPr sz="1200" b="1">
                <a:solidFill>
                  <a:srgbClr val="172621"/>
                </a:solidFill>
                <a:latin typeface="Arial"/>
              </a:defRPr>
            </a:pPr>
            <a:r>
              <a:t>Team Rookie  ·  3 Members  ·  24-Hour Prototype  ·  Mock Data &amp; Staged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005840"/>
            <a:ext cx="4846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234440"/>
            <a:ext cx="42976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D88C31"/>
                </a:solidFill>
                <a:latin typeface="Arial"/>
              </a:defRPr>
            </a:pPr>
            <a:r>
              <a:t>CASE #RET-2026-084  [PENDING SELLER REVIEW]</a:t>
            </a:r>
          </a:p>
          <a:p>
            <a:pPr>
              <a:spcBef>
                <a:spcPts val="400"/>
              </a:spcBef>
              <a:defRPr sz="1100">
                <a:solidFill>
                  <a:srgbClr val="5A6661"/>
                </a:solidFill>
                <a:latin typeface="Arial"/>
              </a:defRPr>
            </a:pPr>
            <a:r>
              <a:t>Order #ORD-1042  ·  Customer: Anita S.</a:t>
            </a:r>
          </a:p>
          <a:p>
            <a:pPr>
              <a:spcBef>
                <a:spcPts val="1200"/>
              </a:spcBef>
              <a:defRPr sz="1300" b="1">
                <a:solidFill>
                  <a:srgbClr val="172621"/>
                </a:solidFill>
                <a:latin typeface="Arial"/>
              </a:defRPr>
            </a:pPr>
            <a:r>
              <a:t>ITEM: Wireless Over-Ear Headphones (White)</a:t>
            </a:r>
          </a:p>
          <a:p>
            <a:pPr>
              <a:defRPr sz="1150">
                <a:solidFill>
                  <a:srgbClr val="006B55"/>
                </a:solidFill>
                <a:latin typeface="Arial"/>
              </a:defRPr>
            </a:pPr>
            <a:r>
              <a:t>SKU: HEAD-WHT-02  ·  Paid: ₹1,499  ·  Delivered 4d ago (In 7d window)</a:t>
            </a:r>
          </a:p>
          <a:p>
            <a:pPr>
              <a:spcBef>
                <a:spcPts val="1400"/>
              </a:spcBef>
              <a:defRPr sz="1100" b="1">
                <a:solidFill>
                  <a:srgbClr val="172621"/>
                </a:solidFill>
                <a:latin typeface="Arial"/>
              </a:defRPr>
            </a:pPr>
            <a:r>
              <a:t>VIDEO PROOF [CITED: FRAME 00:14 / 00:45]:</a:t>
            </a:r>
          </a:p>
          <a:p>
            <a:pPr>
              <a:defRPr sz="1200">
                <a:solidFill>
                  <a:srgbClr val="5A6661"/>
                </a:solidFill>
                <a:latin typeface="Arial"/>
              </a:defRPr>
            </a:pPr>
            <a:r>
              <a:t>"Seam tear clearly visible on left casing; brand tag matches."</a:t>
            </a:r>
          </a:p>
          <a:p>
            <a:pPr>
              <a:spcBef>
                <a:spcPts val="1400"/>
              </a:spcBef>
              <a:defRPr sz="1150">
                <a:solidFill>
                  <a:srgbClr val="006B55"/>
                </a:solidFill>
                <a:latin typeface="Arial"/>
              </a:defRPr>
            </a:pPr>
            <a:r>
              <a:t>✔ P-01: Confirmed delivery via Mock Courier API</a:t>
            </a:r>
            <a:br/>
            <a:r>
              <a:t>✔ P-02: Inside 7-day return window (Day 4)</a:t>
            </a:r>
            <a:br/>
            <a:r>
              <a:t>✔ P-03: Exact SKU and color verified</a:t>
            </a:r>
          </a:p>
          <a:p>
            <a:pPr>
              <a:spcBef>
                <a:spcPts val="1600"/>
              </a:spcBef>
              <a:defRPr sz="1250" b="1">
                <a:solidFill>
                  <a:srgbClr val="006B55"/>
                </a:solidFill>
                <a:latin typeface="Arial"/>
              </a:defRPr>
            </a:pPr>
            <a:r>
              <a:t>NEXT ACTION:  [ Approve Return &amp; Draft Refund (1-Click) ]</a:t>
            </a:r>
          </a:p>
          <a:p>
            <a:pPr>
              <a:spcBef>
                <a:spcPts val="400"/>
              </a:spcBef>
              <a:defRPr sz="1100">
                <a:solidFill>
                  <a:srgbClr val="5A6661"/>
                </a:solidFill>
                <a:latin typeface="Arial"/>
              </a:defRPr>
            </a:pPr>
            <a:r>
              <a:t>Status: pending_return_receipt  ·  Seller approval mandatory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Arial"/>
              </a:defRPr>
            </a:pPr>
            <a:r>
              <a:t>THE PROBLEM  ·  SOLO SELLER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2621"/>
                </a:solidFill>
                <a:latin typeface="Arial"/>
              </a:defRPr>
            </a:pPr>
            <a:r>
              <a:t>The return decision is made from memory, before the evidence is checked.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5A6661"/>
                </a:solidFill>
                <a:latin typeface="Arial"/>
              </a:defRPr>
            </a:pPr>
            <a:r>
              <a:t>ReturnLens · Problem Context  ·  Slide 2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103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A6661"/>
                </a:solidFill>
                <a:latin typeface="Arial"/>
              </a:defRPr>
            </a:pPr>
            <a:r>
              <a:t>TAB 1: BUYER CHAT</a:t>
            </a:r>
          </a:p>
          <a:p>
            <a:pPr>
              <a:spcBef>
                <a:spcPts val="800"/>
              </a:spcBef>
              <a:defRPr sz="1150">
                <a:solidFill>
                  <a:srgbClr val="172621"/>
                </a:solidFill>
                <a:latin typeface="Arial"/>
              </a:defRPr>
            </a:pPr>
            <a:r>
              <a:t>"Received damaged item. Need urgent refund."</a:t>
            </a:r>
            <a:br/>
            <a:r>
              <a:t>📎 unboxing_clip_34s.mp4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39" y="1828800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8999" y="1965960"/>
            <a:ext cx="2103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A6661"/>
                </a:solidFill>
                <a:latin typeface="Arial"/>
              </a:defRPr>
            </a:pPr>
            <a:r>
              <a:t>TAB 2: STORE ADMIN</a:t>
            </a:r>
          </a:p>
          <a:p>
            <a:pPr>
              <a:spcBef>
                <a:spcPts val="800"/>
              </a:spcBef>
              <a:defRPr sz="1150">
                <a:solidFill>
                  <a:srgbClr val="172621"/>
                </a:solidFill>
                <a:latin typeface="Arial"/>
              </a:defRPr>
            </a:pPr>
            <a:r>
              <a:t>ORD-8492  ·  ₹1,499</a:t>
            </a:r>
            <a:br/>
            <a:r>
              <a:t>SKU: HEAD-WHT-02</a:t>
            </a:r>
            <a:br/>
            <a:r>
              <a:t>Customer: Rohit 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77640"/>
            <a:ext cx="2103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A6661"/>
                </a:solidFill>
                <a:latin typeface="Arial"/>
              </a:defRPr>
            </a:pPr>
            <a:r>
              <a:t>TAB 3: SHIPPING PORTAL</a:t>
            </a:r>
          </a:p>
          <a:p>
            <a:pPr>
              <a:spcBef>
                <a:spcPts val="800"/>
              </a:spcBef>
              <a:defRPr sz="1150">
                <a:solidFill>
                  <a:srgbClr val="172621"/>
                </a:solidFill>
                <a:latin typeface="Arial"/>
              </a:defRPr>
            </a:pPr>
            <a:r>
              <a:t>Delivered: 26 Oct (4d ago)</a:t>
            </a:r>
            <a:br/>
            <a:r>
              <a:t>Tracking: TRK-98214-DEL</a:t>
            </a:r>
            <a:br/>
            <a:r>
              <a:t>Carrier: MockPost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39" y="3840480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8999" y="3977640"/>
            <a:ext cx="2103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A6661"/>
                </a:solidFill>
                <a:latin typeface="Arial"/>
              </a:defRPr>
            </a:pPr>
            <a:r>
              <a:t>TAB 4: POLICY PDF</a:t>
            </a:r>
          </a:p>
          <a:p>
            <a:pPr>
              <a:spcBef>
                <a:spcPts val="800"/>
              </a:spcBef>
              <a:defRPr sz="1150">
                <a:solidFill>
                  <a:srgbClr val="172621"/>
                </a:solidFill>
                <a:latin typeface="Arial"/>
              </a:defRPr>
            </a:pPr>
            <a:r>
              <a:t>7-day limit from delivery.</a:t>
            </a:r>
            <a:br/>
            <a:r>
              <a:t>Tags intact. Original box.</a:t>
            </a:r>
            <a:br/>
            <a:r>
              <a:t>Refund cap: ₹4,999.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88C31"/>
                </a:solidFill>
                <a:latin typeface="Arial"/>
              </a:defRPr>
            </a:pPr>
            <a:r>
              <a:t>A WRONG DECISION COSTS BOTH WAYS</a:t>
            </a:r>
          </a:p>
          <a:p>
            <a:pPr>
              <a:spcBef>
                <a:spcPts val="600"/>
              </a:spcBef>
              <a:defRPr sz="1200">
                <a:solidFill>
                  <a:srgbClr val="172621"/>
                </a:solidFill>
                <a:latin typeface="Arial"/>
              </a:defRPr>
            </a:pPr>
            <a:r>
              <a:t>• Unjust Approval: Loses product value, shipping fees, and inventory to wardrobing, used items, or swapped goods.</a:t>
            </a:r>
            <a:br/>
            <a:r>
              <a:t>• Unfair Denial: Destroys customer retention, damages reputation, and triggers marketplace dispute penalties.</a:t>
            </a:r>
          </a:p>
          <a:p>
            <a:pPr>
              <a:spcBef>
                <a:spcPts val="1600"/>
              </a:spcBef>
              <a:defRPr sz="1200" b="1">
                <a:solidFill>
                  <a:srgbClr val="006B55"/>
                </a:solidFill>
                <a:latin typeface="Arial"/>
              </a:defRPr>
            </a:pPr>
            <a:r>
              <a:t>SOURCED INDUSTRY BENCHMARK:</a:t>
            </a:r>
          </a:p>
          <a:p>
            <a:pPr>
              <a:spcBef>
                <a:spcPts val="400"/>
              </a:spcBef>
              <a:defRPr sz="1200">
                <a:solidFill>
                  <a:srgbClr val="172621"/>
                </a:solidFill>
                <a:latin typeface="Arial"/>
              </a:defRPr>
            </a:pPr>
            <a:r>
              <a:t>Fraud estimates differ by definition: 9% (NRF / Happy Returns 2025, fraud only) vs 15.14% (Appriss / Deloitte 2024, fraudulent &amp; abusive claims rate).</a:t>
            </a:r>
          </a:p>
          <a:p>
            <a:pPr>
              <a:spcBef>
                <a:spcPts val="200"/>
              </a:spcBef>
              <a:defRPr sz="1050">
                <a:solidFill>
                  <a:srgbClr val="5A6661"/>
                </a:solidFill>
                <a:latin typeface="Arial"/>
              </a:defRPr>
            </a:pPr>
            <a:r>
              <a:t>*U.S. retail estimates; not measured on our target sellers.</a:t>
            </a:r>
          </a:p>
          <a:p>
            <a:pPr>
              <a:spcBef>
                <a:spcPts val="1600"/>
              </a:spcBef>
              <a:defRPr sz="1200" b="1">
                <a:solidFill>
                  <a:srgbClr val="5A6661"/>
                </a:solidFill>
                <a:latin typeface="Arial"/>
              </a:defRPr>
            </a:pPr>
            <a:r>
              <a:t>THE ARCHITECTURAL GAP:</a:t>
            </a:r>
            <a:br/>
            <a:r>
              <a:t>The gap is not a missing returns portal. It is that no single record ties order data, video frame, policy clause, and decision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Arial"/>
              </a:defRPr>
            </a:pPr>
            <a:r>
              <a:t>SOLUTION ARCHITECTURE  · 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2621"/>
                </a:solidFill>
                <a:latin typeface="Arial"/>
              </a:defRPr>
            </a:pPr>
            <a:r>
              <a:t>Verify the video first. Act only after the seller approves.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5A6661"/>
                </a:solidFill>
                <a:latin typeface="Arial"/>
              </a:defRPr>
            </a:pPr>
            <a:r>
              <a:t>Returns only in 24h prototype · Shared order-status route on same mock APIs  ·  Slide 3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7373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6B55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350" b="1">
                <a:solidFill>
                  <a:srgbClr val="172621"/>
                </a:solidFill>
                <a:latin typeface="Arial"/>
              </a:defRPr>
            </a:pPr>
            <a:r>
              <a:t>Receive Request</a:t>
            </a:r>
          </a:p>
          <a:p>
            <a:pPr>
              <a:spcBef>
                <a:spcPts val="600"/>
              </a:spcBef>
              <a:defRPr sz="1100">
                <a:solidFill>
                  <a:srgbClr val="5A6661"/>
                </a:solidFill>
                <a:latin typeface="Arial"/>
              </a:defRPr>
            </a:pPr>
            <a:r>
              <a:t>Buyer video, 30-60s via mock web chat</a:t>
            </a:r>
          </a:p>
          <a:p>
            <a:pPr>
              <a:spcBef>
                <a:spcPts val="1000"/>
              </a:spcBef>
              <a:defRPr sz="1050" b="1">
                <a:solidFill>
                  <a:srgbClr val="006B55"/>
                </a:solidFill>
                <a:latin typeface="Arial"/>
              </a:defRPr>
            </a:pPr>
            <a:r>
              <a:t>video + order_id + claim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82880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965960"/>
            <a:ext cx="17373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6B55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350" b="1">
                <a:solidFill>
                  <a:srgbClr val="172621"/>
                </a:solidFill>
                <a:latin typeface="Arial"/>
              </a:defRPr>
            </a:pPr>
            <a:r>
              <a:t>Retrieve Data</a:t>
            </a:r>
          </a:p>
          <a:p>
            <a:pPr>
              <a:spcBef>
                <a:spcPts val="600"/>
              </a:spcBef>
              <a:defRPr sz="1100">
                <a:solidFill>
                  <a:srgbClr val="5A6661"/>
                </a:solidFill>
                <a:latin typeface="Arial"/>
              </a:defRPr>
            </a:pPr>
            <a:r>
              <a:t>Mock store &amp; courier APIs fetch order truth</a:t>
            </a:r>
          </a:p>
          <a:p>
            <a:pPr>
              <a:spcBef>
                <a:spcPts val="1000"/>
              </a:spcBef>
              <a:defRPr sz="1050" b="1">
                <a:solidFill>
                  <a:srgbClr val="006B55"/>
                </a:solidFill>
                <a:latin typeface="Arial"/>
              </a:defRPr>
            </a:pPr>
            <a:r>
              <a:t>mock order &amp; tracking APIs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82880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965960"/>
            <a:ext cx="17373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6B55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350" b="1">
                <a:solidFill>
                  <a:srgbClr val="172621"/>
                </a:solidFill>
                <a:latin typeface="Arial"/>
              </a:defRPr>
            </a:pPr>
            <a:r>
              <a:t>Build Evidence</a:t>
            </a:r>
          </a:p>
          <a:p>
            <a:pPr>
              <a:spcBef>
                <a:spcPts val="600"/>
              </a:spcBef>
              <a:defRPr sz="1100">
                <a:solidFill>
                  <a:srgbClr val="5A6661"/>
                </a:solidFill>
                <a:latin typeface="Arial"/>
              </a:defRPr>
            </a:pPr>
            <a:r>
              <a:t>CPU ffmpeg extracts frames &amp; anchors claims</a:t>
            </a:r>
          </a:p>
          <a:p>
            <a:pPr>
              <a:spcBef>
                <a:spcPts val="1000"/>
              </a:spcBef>
              <a:defRPr sz="1050" b="1">
                <a:solidFill>
                  <a:srgbClr val="006B55"/>
                </a:solidFill>
                <a:latin typeface="Arial"/>
              </a:defRPr>
            </a:pPr>
            <a:r>
              <a:t>server frame manifest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199" y="1828800"/>
            <a:ext cx="201168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59" y="1965960"/>
            <a:ext cx="17373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6B55"/>
                </a:solidFill>
                <a:latin typeface="Arial"/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350" b="1">
                <a:solidFill>
                  <a:srgbClr val="172621"/>
                </a:solidFill>
                <a:latin typeface="Arial"/>
              </a:defRPr>
            </a:pPr>
            <a:r>
              <a:t>Check Policy</a:t>
            </a:r>
          </a:p>
          <a:p>
            <a:pPr>
              <a:spcBef>
                <a:spcPts val="600"/>
              </a:spcBef>
              <a:defRPr sz="1100">
                <a:solidFill>
                  <a:srgbClr val="5A6661"/>
                </a:solidFill>
                <a:latin typeface="Arial"/>
              </a:defRPr>
            </a:pPr>
            <a:r>
              <a:t>Code evaluates rules; critic checks cited frames</a:t>
            </a:r>
          </a:p>
          <a:p>
            <a:pPr>
              <a:spcBef>
                <a:spcPts val="1000"/>
              </a:spcBef>
              <a:defRPr sz="1050" b="1">
                <a:solidFill>
                  <a:srgbClr val="006B55"/>
                </a:solidFill>
                <a:latin typeface="Arial"/>
              </a:defRPr>
            </a:pPr>
            <a:r>
              <a:t>P-01 to P-08 in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182880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1965960"/>
            <a:ext cx="17373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6B55"/>
                </a:solidFill>
                <a:latin typeface="Arial"/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1350" b="1">
                <a:solidFill>
                  <a:srgbClr val="172621"/>
                </a:solidFill>
                <a:latin typeface="Arial"/>
              </a:defRPr>
            </a:pPr>
            <a:r>
              <a:t>Seller Approval</a:t>
            </a:r>
          </a:p>
          <a:p>
            <a:pPr>
              <a:spcBef>
                <a:spcPts val="600"/>
              </a:spcBef>
              <a:defRPr sz="1100">
                <a:solidFill>
                  <a:srgbClr val="5A6661"/>
                </a:solidFill>
                <a:latin typeface="Arial"/>
              </a:defRPr>
            </a:pPr>
            <a:r>
              <a:t>Seller approves in 1 click; creates mock label</a:t>
            </a:r>
          </a:p>
          <a:p>
            <a:pPr>
              <a:spcBef>
                <a:spcPts val="1000"/>
              </a:spcBef>
              <a:defRPr sz="1050" b="1">
                <a:solidFill>
                  <a:srgbClr val="006B55"/>
                </a:solidFill>
                <a:latin typeface="Arial"/>
              </a:defRPr>
            </a:pPr>
            <a:r>
              <a:t>label + draft pending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63440"/>
            <a:ext cx="62179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8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5852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88C31"/>
                </a:solidFill>
                <a:latin typeface="Arial"/>
              </a:defRPr>
            </a:pPr>
            <a:r>
              <a:t>FALLBACK BRANCH: Request specific evidence → resume same case</a:t>
            </a:r>
          </a:p>
          <a:p>
            <a:pPr>
              <a:spcBef>
                <a:spcPts val="400"/>
              </a:spcBef>
              <a:defRPr sz="1150">
                <a:solidFill>
                  <a:srgbClr val="172621"/>
                </a:solidFill>
                <a:latin typeface="Arial"/>
              </a:defRPr>
            </a:pPr>
            <a:r>
              <a:t>If evidence is unclear (dark video, missing tag), the agent prompts for a specific photo. The system preserves case continuity without auto-denying the customer.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46634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4846320"/>
            <a:ext cx="3749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6B55"/>
                </a:solidFill>
                <a:latin typeface="Arial"/>
              </a:defRPr>
            </a:pPr>
            <a:r>
              <a:t>MOCK RETURN SHIPPING LABEL</a:t>
            </a:r>
          </a:p>
          <a:p>
            <a:pPr>
              <a:spcBef>
                <a:spcPts val="200"/>
              </a:spcBef>
              <a:defRPr sz="1050">
                <a:solidFill>
                  <a:srgbClr val="172621"/>
                </a:solidFill>
                <a:latin typeface="Arial"/>
              </a:defRPr>
            </a:pPr>
            <a:r>
              <a:t>CARRIER: MOCK-EXPRESS  ·  PARCEL ID: #RL-9021</a:t>
            </a:r>
            <a:br/>
            <a:r>
              <a:t>REFUND DRAFT: pending_return_receipt (not executed refund)</a:t>
            </a:r>
            <a:br/>
            <a:r>
              <a:t>Seller approval mandatory before label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3EC9B6"/>
                </a:solidFill>
                <a:latin typeface="Arial"/>
              </a:defRPr>
            </a:pPr>
            <a:r>
              <a:t>ARCHITECTURE &amp; SAFETY  ·  DETERMINISTIC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Policy checks and seller approval control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1F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95A39D"/>
                </a:solidFill>
                <a:latin typeface="Arial"/>
              </a:defRPr>
            </a:pPr>
            <a:r>
              <a:t>ReturnLens · System Architecture &amp; Policy Enforcement  ·  Slide 4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3657600"/>
          </a:xfrm>
          <a:prstGeom prst="rect">
            <a:avLst/>
          </a:prstGeom>
          <a:solidFill>
            <a:srgbClr val="14221D"/>
          </a:solidFill>
          <a:ln w="12700">
            <a:solidFill>
              <a:srgbClr val="1F3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17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EC9B6"/>
                </a:solidFill>
                <a:latin typeface="Arial"/>
              </a:defRPr>
            </a:pPr>
            <a:r>
              <a:t>01 · OBSERVE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Models Inspect Evidence</a:t>
            </a:r>
          </a:p>
          <a:p>
            <a:pPr>
              <a:spcBef>
                <a:spcPts val="400"/>
              </a:spcBef>
              <a:defRPr sz="1150">
                <a:solidFill>
                  <a:srgbClr val="95A39D"/>
                </a:solidFill>
                <a:latin typeface="Arial"/>
              </a:defRPr>
            </a:pPr>
            <a:r>
              <a:t>Models process messages and video frames.</a:t>
            </a:r>
          </a:p>
          <a:p>
            <a:pPr>
              <a:spcBef>
                <a:spcPts val="800"/>
              </a:spcBef>
              <a:defRPr sz="1100">
                <a:solidFill>
                  <a:srgbClr val="EDEBE6"/>
                </a:solidFill>
                <a:latin typeface="Arial"/>
              </a:defRPr>
            </a:pPr>
            <a:r>
              <a:t>• Outputs structured visual observations</a:t>
            </a:r>
          </a:p>
          <a:p>
            <a:pPr>
              <a:spcBef>
                <a:spcPts val="800"/>
              </a:spcBef>
              <a:defRPr sz="1100">
                <a:solidFill>
                  <a:srgbClr val="EDEBE6"/>
                </a:solidFill>
                <a:latin typeface="Arial"/>
              </a:defRPr>
            </a:pPr>
            <a:r>
              <a:t>• Identifies damage timestamps and tags</a:t>
            </a:r>
          </a:p>
          <a:p>
            <a:pPr>
              <a:spcBef>
                <a:spcPts val="800"/>
              </a:spcBef>
              <a:defRPr sz="1100">
                <a:solidFill>
                  <a:srgbClr val="EDEBE6"/>
                </a:solidFill>
                <a:latin typeface="Arial"/>
              </a:defRPr>
            </a:pPr>
            <a:r>
              <a:t>• Constraint: Observations can be imperfect and are never final verdicts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3383280" cy="3657600"/>
          </a:xfrm>
          <a:prstGeom prst="rect">
            <a:avLst/>
          </a:prstGeom>
          <a:solidFill>
            <a:srgbClr val="14221D"/>
          </a:solidFill>
          <a:ln w="25400">
            <a:solidFill>
              <a:srgbClr val="3EC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17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EC9B6"/>
                </a:solidFill>
                <a:latin typeface="Arial"/>
              </a:defRPr>
            </a:pPr>
            <a:r>
              <a:t>02 · CHECK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Deterministic Policy &amp; Critic</a:t>
            </a:r>
          </a:p>
          <a:p>
            <a:pPr>
              <a:spcBef>
                <a:spcPts val="400"/>
              </a:spcBef>
              <a:defRPr sz="1150">
                <a:solidFill>
                  <a:srgbClr val="95A39D"/>
                </a:solidFill>
                <a:latin typeface="Arial"/>
              </a:defRPr>
            </a:pPr>
            <a:r>
              <a:t>Pure code evaluates rules; LLMs cannot override.</a:t>
            </a:r>
          </a:p>
          <a:p>
            <a:pPr>
              <a:spcBef>
                <a:spcPts val="800"/>
              </a:spcBef>
              <a:defRPr sz="1100">
                <a:solidFill>
                  <a:srgbClr val="EDEBE6"/>
                </a:solidFill>
                <a:latin typeface="Arial"/>
              </a:defRPr>
            </a:pPr>
            <a:r>
              <a:t>• Code Policy Engine: 7d window, delivery date, SKU match, refund ceiling</a:t>
            </a:r>
          </a:p>
          <a:p>
            <a:pPr>
              <a:spcBef>
                <a:spcPts val="800"/>
              </a:spcBef>
              <a:defRPr sz="1100">
                <a:solidFill>
                  <a:srgbClr val="EDEBE6"/>
                </a:solidFill>
                <a:latin typeface="Arial"/>
              </a:defRPr>
            </a:pPr>
            <a:r>
              <a:t>• Independent Critic: Reviews cited frames and flags unsupported observations</a:t>
            </a:r>
          </a:p>
          <a:p>
            <a:pPr>
              <a:spcBef>
                <a:spcPts val="800"/>
              </a:spcBef>
              <a:defRPr sz="1100">
                <a:solidFill>
                  <a:srgbClr val="EDEBE6"/>
                </a:solidFill>
                <a:latin typeface="Arial"/>
              </a:defRPr>
            </a:pPr>
            <a:r>
              <a:t>• Fail-Closed Rule: Discrepancies trigger escalation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383280" cy="3657600"/>
          </a:xfrm>
          <a:prstGeom prst="rect">
            <a:avLst/>
          </a:prstGeom>
          <a:solidFill>
            <a:srgbClr val="14221D"/>
          </a:solidFill>
          <a:ln w="12700">
            <a:solidFill>
              <a:srgbClr val="1F3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017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EC9B6"/>
                </a:solidFill>
                <a:latin typeface="Arial"/>
              </a:defRPr>
            </a:pPr>
            <a:r>
              <a:t>03 · AUTHORIZE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Mandatory Seller Gate</a:t>
            </a:r>
          </a:p>
          <a:p>
            <a:pPr>
              <a:spcBef>
                <a:spcPts val="400"/>
              </a:spcBef>
              <a:defRPr sz="1150">
                <a:solidFill>
                  <a:srgbClr val="95A39D"/>
                </a:solidFill>
                <a:latin typeface="Arial"/>
              </a:defRPr>
            </a:pPr>
            <a:r>
              <a:t>Human sign-off required for irreversible steps.</a:t>
            </a:r>
          </a:p>
          <a:p>
            <a:pPr>
              <a:spcBef>
                <a:spcPts val="800"/>
              </a:spcBef>
              <a:defRPr sz="1100">
                <a:solidFill>
                  <a:srgbClr val="EDEBE6"/>
                </a:solidFill>
                <a:latin typeface="Arial"/>
              </a:defRPr>
            </a:pPr>
            <a:r>
              <a:t>• No automated refunds or labels</a:t>
            </a:r>
          </a:p>
          <a:p>
            <a:pPr>
              <a:spcBef>
                <a:spcPts val="800"/>
              </a:spcBef>
              <a:defRPr sz="1100">
                <a:solidFill>
                  <a:srgbClr val="EDEBE6"/>
                </a:solidFill>
                <a:latin typeface="Arial"/>
              </a:defRPr>
            </a:pPr>
            <a:r>
              <a:t>• Presents 10-second proof package</a:t>
            </a:r>
          </a:p>
          <a:p>
            <a:pPr>
              <a:spcBef>
                <a:spcPts val="800"/>
              </a:spcBef>
              <a:defRPr sz="1100">
                <a:solidFill>
                  <a:srgbClr val="EDEBE6"/>
                </a:solidFill>
                <a:latin typeface="Arial"/>
              </a:defRPr>
            </a:pPr>
            <a:r>
              <a:t>• Draft placed in pending_return_receipt</a:t>
            </a:r>
          </a:p>
          <a:p>
            <a:pPr>
              <a:spcBef>
                <a:spcPts val="800"/>
              </a:spcBef>
              <a:defRPr sz="1100">
                <a:solidFill>
                  <a:srgbClr val="EDEBE6"/>
                </a:solidFill>
                <a:latin typeface="Arial"/>
              </a:defRPr>
            </a:pPr>
            <a:r>
              <a:t>• Immutable JSONL audit trail of all steps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solidFill>
            <a:srgbClr val="14221D"/>
          </a:solidFill>
          <a:ln w="12700">
            <a:solidFill>
              <a:srgbClr val="1F3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87568"/>
            <a:ext cx="10362895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3EC9B6"/>
                </a:solidFill>
                <a:latin typeface="Arial"/>
              </a:defRPr>
            </a:pPr>
            <a:r>
              <a:t>DECISION FUNCTION: Contradiction → Escalate  |  Hard Fail → Escalate  |  Unclear Evidence → Ask for Photo  |  All Pass → Seller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Arial"/>
              </a:defRPr>
            </a:pPr>
            <a:r>
              <a:t>EVIDENCE BENCHMARK  ·  VISUAL AUDIT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2621"/>
                </a:solidFill>
                <a:latin typeface="Arial"/>
              </a:defRPr>
            </a:pPr>
            <a:r>
              <a:t>Case B: A mismatch that needs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5A6661"/>
                </a:solidFill>
                <a:latin typeface="Arial"/>
              </a:defRPr>
            </a:pPr>
            <a:r>
              <a:t>Illustrative Demo Case · Staged mock evidence · No real customer PII  ·  Slide 5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175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Arial"/>
              </a:defRPr>
            </a:pPr>
            <a:r>
              <a:t>STORE API RECORD [ORDER TRUTH]</a:t>
            </a:r>
          </a:p>
          <a:p>
            <a:pPr>
              <a:spcBef>
                <a:spcPts val="800"/>
              </a:spcBef>
              <a:defRPr sz="1300" b="1">
                <a:solidFill>
                  <a:srgbClr val="172621"/>
                </a:solidFill>
                <a:latin typeface="Arial"/>
              </a:defRPr>
            </a:pPr>
            <a:r>
              <a:t>SKU: HEAD-WHT-02</a:t>
            </a:r>
            <a:br/>
            <a:r>
              <a:t>Product: Wireless Headset</a:t>
            </a:r>
            <a:br/>
            <a:r>
              <a:t>Color: White</a:t>
            </a:r>
            <a:br/>
            <a:r>
              <a:t>Price: ₹1,499</a:t>
            </a:r>
          </a:p>
          <a:p>
            <a:pPr>
              <a:spcBef>
                <a:spcPts val="1200"/>
              </a:spcBef>
              <a:defRPr sz="1150">
                <a:solidFill>
                  <a:srgbClr val="5A6661"/>
                </a:solidFill>
                <a:latin typeface="Arial"/>
              </a:defRPr>
            </a:pPr>
            <a:r>
              <a:t>Order status: Delivered 4d ago</a:t>
            </a:r>
            <a:br/>
            <a:r>
              <a:t>Customer: Rohit K.</a:t>
            </a:r>
            <a:br/>
            <a:r>
              <a:t>Eligible for return: Yes (within 7d)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3383280" cy="3291840"/>
          </a:xfrm>
          <a:prstGeom prst="rect">
            <a:avLst/>
          </a:prstGeom>
          <a:solidFill>
            <a:srgbClr val="FFFFFF"/>
          </a:solidFill>
          <a:ln w="31750">
            <a:solidFill>
              <a:srgbClr val="D88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175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88C31"/>
                </a:solidFill>
                <a:latin typeface="Arial"/>
              </a:defRPr>
            </a:pPr>
            <a:r>
              <a:t>VIDEO EVIDENCE [FRAME 00:07]</a:t>
            </a:r>
          </a:p>
          <a:p>
            <a:pPr>
              <a:spcBef>
                <a:spcPts val="800"/>
              </a:spcBef>
              <a:defRPr sz="1300" b="1">
                <a:solidFill>
                  <a:srgbClr val="172621"/>
                </a:solidFill>
                <a:latin typeface="Arial"/>
              </a:defRPr>
            </a:pPr>
            <a:r>
              <a:t>Observed: HEAD-BLK-09</a:t>
            </a:r>
            <a:br/>
            <a:r>
              <a:t>Color: Black (Mismatched!)</a:t>
            </a:r>
            <a:br/>
            <a:r>
              <a:t>Status: Brand tag missing</a:t>
            </a:r>
          </a:p>
          <a:p>
            <a:pPr>
              <a:spcBef>
                <a:spcPts val="1200"/>
              </a:spcBef>
              <a:defRPr sz="1150">
                <a:solidFill>
                  <a:srgbClr val="5A6661"/>
                </a:solidFill>
                <a:latin typeface="Arial"/>
              </a:defRPr>
            </a:pPr>
            <a:r>
              <a:t>Video Length: 32 seconds</a:t>
            </a:r>
            <a:br/>
            <a:r>
              <a:t>Resolution: 1080p</a:t>
            </a:r>
            <a:br/>
            <a:r>
              <a:t>Brand tag absent in all sampled frames.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383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0175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C53929"/>
                </a:solidFill>
                <a:latin typeface="Arial"/>
              </a:defRPr>
            </a:pPr>
            <a:r>
              <a:t>POLICY P-03: FAIL (SKU MISMATCH)</a:t>
            </a:r>
          </a:p>
          <a:p>
            <a:pPr>
              <a:spcBef>
                <a:spcPts val="400"/>
              </a:spcBef>
              <a:defRPr sz="1100" b="1">
                <a:solidFill>
                  <a:srgbClr val="D88C31"/>
                </a:solidFill>
                <a:latin typeface="Arial"/>
              </a:defRPr>
            </a:pPr>
            <a:r>
              <a:t>STATUS: NEEDS SELLER REVIEW (ESCALATED)</a:t>
            </a:r>
            <a:br/>
            <a:r>
              <a:t>No auto-denial. No label/refund created.</a:t>
            </a:r>
          </a:p>
          <a:p>
            <a:pPr>
              <a:spcBef>
                <a:spcPts val="800"/>
              </a:spcBef>
              <a:defRPr sz="1100">
                <a:solidFill>
                  <a:srgbClr val="172621"/>
                </a:solidFill>
                <a:latin typeface="Arial"/>
              </a:defRPr>
            </a:pPr>
            <a:r>
              <a:t>Seller Action Options:</a:t>
            </a:r>
            <a:br/>
            <a:r>
              <a:t>1. Review possible warehouse mis-shipment</a:t>
            </a:r>
            <a:br/>
            <a:r>
              <a:t>2. Request outside-box shipping label photo</a:t>
            </a:r>
            <a:br/>
            <a:r>
              <a:t>3. Hold for physical inspection upon return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212080"/>
            <a:ext cx="1072865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36289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Arial"/>
              </a:defRPr>
            </a:pPr>
            <a:r>
              <a:t>CONSISTENT DEMO BENCHMARK SUITE:</a:t>
            </a:r>
          </a:p>
          <a:p>
            <a:pPr>
              <a:spcBef>
                <a:spcPts val="200"/>
              </a:spcBef>
              <a:defRPr sz="1050">
                <a:solidFill>
                  <a:srgbClr val="172621"/>
                </a:solidFill>
                <a:latin typeface="Arial"/>
              </a:defRPr>
            </a:pPr>
            <a:r>
              <a:t>• Case A (Ready): ORD-1042 (₹1,499) match → 1-click label &amp; draft  |  • Case B (Mismatch): SKU/color divergence → Escalated without auto-denial</a:t>
            </a:r>
            <a:br/>
            <a:r>
              <a:t>• Case C (Unclear): Dark 4s video (br: 28) → Requests specific re-film photo, resumes case  |  • Case D (Context): Continuous take showing parcel label to item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Arial"/>
              </a:defRPr>
            </a:pPr>
            <a:r>
              <a:t>DELIVERY PLAN  ·  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2621"/>
                </a:solidFill>
                <a:latin typeface="Arial"/>
              </a:defRPr>
            </a:pPr>
            <a:r>
              <a:t>Buildable in 24 hours by 3 people, if the scope stays narrow.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5A6661"/>
                </a:solidFill>
                <a:latin typeface="Arial"/>
              </a:defRPr>
            </a:pPr>
            <a:r>
              <a:t>Project-specific logic written inside the 24 hours · Checkable, buildable agent prototype  ·  Slide 6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8521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53949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6B55"/>
                </a:solidFill>
                <a:latin typeface="Arial"/>
              </a:defRPr>
            </a:pPr>
            <a:r>
              <a:t>24-HOUR SPRINT TIMELINE</a:t>
            </a:r>
          </a:p>
          <a:p>
            <a:pPr>
              <a:spcBef>
                <a:spcPts val="800"/>
              </a:spcBef>
              <a:defRPr sz="1200" b="1">
                <a:solidFill>
                  <a:srgbClr val="172621"/>
                </a:solidFill>
                <a:latin typeface="Arial"/>
              </a:defRPr>
            </a:pPr>
            <a:r>
              <a:t>00h – 06h: Mock APIs &amp; Core Flow</a:t>
            </a:r>
          </a:p>
          <a:p>
            <a:pPr>
              <a:defRPr sz="1100">
                <a:solidFill>
                  <a:srgbClr val="5A6661"/>
                </a:solidFill>
                <a:latin typeface="Arial"/>
              </a:defRPr>
            </a:pPr>
            <a:r>
              <a:t>FastAPI mock store &amp; shipping services, SQLite seed data, core LangGraph state graph.</a:t>
            </a:r>
          </a:p>
          <a:p>
            <a:pPr>
              <a:spcBef>
                <a:spcPts val="800"/>
              </a:spcBef>
              <a:defRPr sz="1200" b="1">
                <a:solidFill>
                  <a:srgbClr val="172621"/>
                </a:solidFill>
                <a:latin typeface="Arial"/>
              </a:defRPr>
            </a:pPr>
            <a:r>
              <a:t>06h – 12h: Evidence Pipeline &amp; Policy</a:t>
            </a:r>
          </a:p>
          <a:p>
            <a:pPr>
              <a:defRPr sz="1100">
                <a:solidFill>
                  <a:srgbClr val="5A6661"/>
                </a:solidFill>
                <a:latin typeface="Arial"/>
              </a:defRPr>
            </a:pPr>
            <a:r>
              <a:t>ffmpeg CPU frame extraction (~1 fps), multimodal prompt grounding, deterministic code policy rules.</a:t>
            </a:r>
          </a:p>
          <a:p>
            <a:pPr>
              <a:spcBef>
                <a:spcPts val="800"/>
              </a:spcBef>
              <a:defRPr sz="1200" b="1">
                <a:solidFill>
                  <a:srgbClr val="172621"/>
                </a:solidFill>
                <a:latin typeface="Arial"/>
              </a:defRPr>
            </a:pPr>
            <a:r>
              <a:t>12h – 18h: Integration &amp; 4 Demo Cases</a:t>
            </a:r>
          </a:p>
          <a:p>
            <a:pPr>
              <a:defRPr sz="1100">
                <a:solidFill>
                  <a:srgbClr val="5A6661"/>
                </a:solidFill>
                <a:latin typeface="Arial"/>
              </a:defRPr>
            </a:pPr>
            <a:r>
              <a:t>End-to-end testing of Cases A, B, C, and D, independent critic validation, fallback error handling.</a:t>
            </a:r>
          </a:p>
          <a:p>
            <a:pPr>
              <a:spcBef>
                <a:spcPts val="800"/>
              </a:spcBef>
              <a:defRPr sz="1200" b="1">
                <a:solidFill>
                  <a:srgbClr val="172621"/>
                </a:solidFill>
                <a:latin typeface="Arial"/>
              </a:defRPr>
            </a:pPr>
            <a:r>
              <a:t>18h – 24h: Demo Recording &amp; Packaging</a:t>
            </a:r>
          </a:p>
          <a:p>
            <a:pPr>
              <a:defRPr sz="1100">
                <a:solidFill>
                  <a:srgbClr val="5A6661"/>
                </a:solidFill>
                <a:latin typeface="Arial"/>
              </a:defRPr>
            </a:pPr>
            <a:r>
              <a:t>Seller review console polish, 3-minute video walk-through, GitHub README, submission package.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737360"/>
            <a:ext cx="45720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920240"/>
            <a:ext cx="4114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6B55"/>
                </a:solidFill>
                <a:latin typeface="Arial"/>
              </a:defRPr>
            </a:pPr>
            <a:r>
              <a:t>TEAM ROLES (3 MEMBERS)</a:t>
            </a:r>
          </a:p>
          <a:p>
            <a:pPr>
              <a:spcBef>
                <a:spcPts val="600"/>
              </a:spcBef>
              <a:defRPr sz="1100">
                <a:solidFill>
                  <a:srgbClr val="172621"/>
                </a:solidFill>
                <a:latin typeface="Arial"/>
              </a:defRPr>
            </a:pPr>
            <a:r>
              <a:t>• Person A: Backend, agent graph, policy engine, critic, audit log.</a:t>
            </a:r>
            <a:br/>
            <a:r>
              <a:t>• Person B: Video pipeline, frame indexer, seller console, evidence pack view.</a:t>
            </a:r>
            <a:br/>
            <a:r>
              <a:t>• Person C: Integration, mock data, 4 demo cases, fallback testing, demo video.</a:t>
            </a:r>
          </a:p>
          <a:p>
            <a:pPr>
              <a:spcBef>
                <a:spcPts val="1400"/>
              </a:spcBef>
              <a:defRPr sz="1150" b="1">
                <a:solidFill>
                  <a:srgbClr val="D88C31"/>
                </a:solidFill>
                <a:latin typeface="Arial"/>
              </a:defRPr>
            </a:pPr>
            <a:r>
              <a:t>STRICT SCOPE GUARDRAILS:</a:t>
            </a:r>
          </a:p>
          <a:p>
            <a:pPr>
              <a:spcBef>
                <a:spcPts val="400"/>
              </a:spcBef>
              <a:defRPr sz="1100">
                <a:solidFill>
                  <a:srgbClr val="5A6661"/>
                </a:solidFill>
                <a:latin typeface="Arial"/>
              </a:defRPr>
            </a:pPr>
            <a:r>
              <a:t>• Cut first: WhatsApp direct, multi-seller, audio, real payment gateway.</a:t>
            </a:r>
            <a:br/>
            <a:r>
              <a:t>• Never cut: Code policy engine, critic check, seller gate, 4 demo cases.</a:t>
            </a:r>
            <a:br/>
            <a:r>
              <a:t>• Refund Cap: 0 &lt; amount ≤ min(₹4,999, remaining refundable, order paid)</a:t>
            </a:r>
            <a:br/>
            <a:r>
              <a:t>• Deliverable: Checkable, reproducible agent workflows with transparent action trail.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