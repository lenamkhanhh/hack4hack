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914400"/>
            <a:ext cx="4572000" cy="411480"/>
          </a:xfrm>
          <a:prstGeom prst="roundRect">
            <a:avLst/>
          </a:prstGeom>
          <a:solidFill>
            <a:srgbClr val="1E3A8A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8BDF8"/>
                </a:solidFill>
                <a:latin typeface="Arial"/>
              </a:defRPr>
            </a:pPr>
            <a:r>
              <a:t>AGENTX HACKATHON 2026 · PS-05 SUBMISSION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332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Arial"/>
              </a:defRPr>
            </a:pPr>
            <a:r>
              <a:t>PatchPilot: Autonomous Sandboxed Bug-Fix Agent</a:t>
            </a:r>
          </a:p>
          <a:p>
            <a:pPr>
              <a:spcBef>
                <a:spcPts val="1200"/>
              </a:spcBef>
              <a:defRPr sz="1800">
                <a:solidFill>
                  <a:srgbClr val="38BDF8"/>
                </a:solidFill>
                <a:latin typeface="Arial"/>
              </a:defRPr>
            </a:pPr>
            <a:r>
              <a:t>From GitHub Issue to Verifiable Pull Request: Closed-Loop Sandbox Reproduction, AST Localization &amp; Test-Driven Patching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931920"/>
            <a:ext cx="329184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4114800"/>
            <a:ext cx="2926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B923C"/>
                </a:solidFill>
                <a:latin typeface="Arial"/>
              </a:defRPr>
            </a:pPr>
            <a:r>
              <a:t>Problem Statement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t>PS-05 · Bug-fix agent for code repositories</a:t>
            </a:r>
            <a:br/>
            <a:r>
              <a:t>Automated issue reproduction, repair &amp; PR synthesis with sandboxing.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3931920"/>
            <a:ext cx="329184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4114800"/>
            <a:ext cx="2926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  <a:latin typeface="Arial"/>
              </a:defRPr>
            </a:pPr>
            <a:r>
              <a:t>Team Information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t>Team: Team Rookie</a:t>
            </a:r>
            <a:br/>
            <a:r>
              <a:t>Members: Nam Khánh Lê &amp; Khiêm</a:t>
            </a:r>
            <a:br/>
            <a:r>
              <a:t>Institution: University of Science (HCMUS)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3931920"/>
            <a:ext cx="329184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4114800"/>
            <a:ext cx="2926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4D399"/>
                </a:solidFill>
                <a:latin typeface="Arial"/>
              </a:defRPr>
            </a:pPr>
            <a:r>
              <a:t>Core Value Proposition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t>Zero Hallucination Fixes: Every patch is verified in an isolated Docker sandbox before PR generation.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Arial"/>
              </a:defRPr>
            </a:pPr>
            <a:r>
              <a:t>01 · Problem Fit &amp; Real-World Impact</a:t>
            </a:r>
          </a:p>
          <a:p>
            <a:pPr>
              <a:defRPr sz="2800" b="1">
                <a:solidFill>
                  <a:srgbClr val="F8FAFC"/>
                </a:solidFill>
                <a:latin typeface="Arial"/>
              </a:defRPr>
            </a:pPr>
            <a:r>
              <a:t>Why Developers Need an Agentic System, Not a Chatbot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493776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Arial"/>
              </a:defRPr>
            </a:pPr>
            <a:r>
              <a:t>The Core Bottleneck &amp; Chatbot Limits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28600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300">
                <a:solidFill>
                  <a:srgbClr val="FB923C"/>
                </a:solidFill>
              </a:defRPr>
            </a:pPr>
            <a:r>
              <a:t>• 40%+ Developer Time Lost: 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Engineers spend excessive hours manually reproducing reported issues, deciphering stack traces, and writing edge-case regression tests.</a:t>
            </a:r>
          </a:p>
          <a:p>
            <a:pPr>
              <a:defRPr b="1" sz="1300">
                <a:solidFill>
                  <a:srgbClr val="FB923C"/>
                </a:solidFill>
              </a:defRPr>
            </a:pPr>
            <a:r>
              <a:t>• Chatbots Hallucinate Code: 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LLM chatbots guess solutions based solely on text context. They cannot run code, inspect runtime errors, or check whether the fix breaks dependencies.</a:t>
            </a:r>
          </a:p>
          <a:p>
            <a:pPr>
              <a:defRPr b="1" sz="1300">
                <a:solidFill>
                  <a:srgbClr val="FB923C"/>
                </a:solidFill>
              </a:defRPr>
            </a:pPr>
            <a:r>
              <a:t>• No Execution Feedback: 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Without an interactive runtime environment, static AI models propose syntactically valid but logically broken patches.</a:t>
            </a:r>
          </a:p>
          <a:p>
            <a:pPr>
              <a:defRPr b="1" sz="1300">
                <a:solidFill>
                  <a:srgbClr val="FB923C"/>
                </a:solidFill>
              </a:defRPr>
            </a:pPr>
            <a:r>
              <a:t>• Context Window Limits: 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Real-world repositories contain millions of lines. Feeding entire codebases into prompts is cost-prohibitive and imprecise.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02920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78308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Arial"/>
              </a:defRPr>
            </a:pPr>
            <a:r>
              <a:t>The PatchPilot Autonomous 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28600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300">
                <a:solidFill>
                  <a:srgbClr val="34D399"/>
                </a:solidFill>
              </a:defRPr>
            </a:pPr>
            <a:r>
              <a:t>✔ Closed-Loop Sandboxed Execution: 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PatchPilot executes candidate patches in isolated Docker containers, guaranteeing that fixes are mathematically verified against test suites.</a:t>
            </a:r>
          </a:p>
          <a:p>
            <a:pPr>
              <a:defRPr b="1" sz="1300">
                <a:solidFill>
                  <a:srgbClr val="34D399"/>
                </a:solidFill>
              </a:defRPr>
            </a:pPr>
            <a:r>
              <a:t>✔ Test-Driven Reproduction: 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Before attempting any fix, the agent first synthesizes a minimal failing test (`repro_test.py`) proving the bug exists.</a:t>
            </a:r>
          </a:p>
          <a:p>
            <a:pPr>
              <a:defRPr b="1" sz="1300">
                <a:solidFill>
                  <a:srgbClr val="34D399"/>
                </a:solidFill>
              </a:defRPr>
            </a:pPr>
            <a:r>
              <a:t>✔ AST &amp; Call-Graph Navigation: 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Uses Tree-Sitter parsing to navigate symbol references, imports, and caller-callee trees without prompt bloat.</a:t>
            </a:r>
          </a:p>
          <a:p>
            <a:pPr>
              <a:defRPr b="1" sz="1300">
                <a:solidFill>
                  <a:srgbClr val="34D399"/>
                </a:solidFill>
              </a:defRPr>
            </a:pPr>
            <a:r>
              <a:t>✔ Measurable Engineering ROI: 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Cuts mean-time-to-resolution (MTTR) by 70%, liberating senior engineers from triaging mundane regression bugs.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Arial"/>
              </a:defRPr>
            </a:pPr>
            <a:r>
              <a:t>02 · Agent Architecture &amp; Reasoning Pipeline</a:t>
            </a:r>
          </a:p>
          <a:p>
            <a:pPr>
              <a:defRPr sz="2800" b="1">
                <a:solidFill>
                  <a:srgbClr val="F8FAFC"/>
                </a:solidFill>
                <a:latin typeface="Arial"/>
              </a:defRPr>
            </a:pPr>
            <a:r>
              <a:t>Autonomous 4-Stage ReAct Loop with Verification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24688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Arial"/>
              </a:defRPr>
            </a:pPr>
            <a:r>
              <a:t>Step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286000"/>
            <a:ext cx="219456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Arial"/>
              </a:defRPr>
            </a:pPr>
            <a:r>
              <a:t>Stage 1: Issue Ingestion &amp; Triage</a:t>
            </a:r>
          </a:p>
          <a:p>
            <a:pPr>
              <a:spcBef>
                <a:spcPts val="12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Fetches GitHub issue description, logs &amp; stack trace</a:t>
            </a:r>
            <a:br/>
            <a:r>
              <a:t>• Extracts keywords, target filenames &amp; reproduction commands</a:t>
            </a:r>
            <a:br/>
            <a:r>
              <a:t>• Tree-sitter AST queries identify candidate functions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66160" y="1645920"/>
            <a:ext cx="24688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49040" y="17830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Arial"/>
              </a:defRPr>
            </a:pPr>
            <a:r>
              <a:t>Step 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03320" y="2286000"/>
            <a:ext cx="219456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Arial"/>
              </a:defRPr>
            </a:pPr>
            <a:r>
              <a:t>Stage 2: Sandboxed Reproduction</a:t>
            </a:r>
          </a:p>
          <a:p>
            <a:pPr>
              <a:spcBef>
                <a:spcPts val="12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Spins up disposable Docker container</a:t>
            </a:r>
            <a:br/>
            <a:r>
              <a:t>• Synthesizes reproduction script `repro_test.py`</a:t>
            </a:r>
            <a:br/>
            <a:r>
              <a:t>• Verifies that `repro_test.py` fails (Asserts bug reproduction)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24688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7830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Arial"/>
              </a:defRPr>
            </a:pPr>
            <a:r>
              <a:t>Step 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286000"/>
            <a:ext cx="219456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Arial"/>
              </a:defRPr>
            </a:pPr>
            <a:r>
              <a:t>Stage 3: Iterative Patch &amp; Verify Loop</a:t>
            </a:r>
          </a:p>
          <a:p>
            <a:pPr>
              <a:spcBef>
                <a:spcPts val="12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Plans code edits and generates unified git diff</a:t>
            </a:r>
            <a:br/>
            <a:r>
              <a:t>• Applies diff inside sandbox container</a:t>
            </a:r>
            <a:br/>
            <a:r>
              <a:t>• Executes test suite: Repro test PASS + Existing tests PASS</a:t>
            </a:r>
            <a:br/>
            <a:r>
              <a:t>• Self-corrects on test failures (max 4 iterations)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69680" y="1645920"/>
            <a:ext cx="24688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0" y="17830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Arial"/>
              </a:defRPr>
            </a:pPr>
            <a:r>
              <a:t>Step 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06840" y="2286000"/>
            <a:ext cx="219456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Arial"/>
              </a:defRPr>
            </a:pPr>
            <a:r>
              <a:t>Stage 4: PR Synthesis &amp; Safety Gate</a:t>
            </a:r>
          </a:p>
          <a:p>
            <a:pPr>
              <a:spcBef>
                <a:spcPts val="12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Formulates detailed PR description: Root cause + Fix rationale</a:t>
            </a:r>
            <a:br/>
            <a:r>
              <a:t>• Generates new regression test commits</a:t>
            </a:r>
            <a:br/>
            <a:r>
              <a:t>• Human-in-the-Loop review gate before PR merge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Arial"/>
              </a:defRPr>
            </a:pPr>
            <a:r>
              <a:t>03 · Tool Ecosystem &amp; Memory Design</a:t>
            </a:r>
          </a:p>
          <a:p>
            <a:pPr>
              <a:defRPr sz="2800" b="1">
                <a:solidFill>
                  <a:srgbClr val="F8FAFC"/>
                </a:solidFill>
                <a:latin typeface="Arial"/>
              </a:defRPr>
            </a:pPr>
            <a:r>
              <a:t>Deterministic Tool Calling &amp; Multi-Tier Memory Hierarchy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493776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Arial"/>
              </a:defRPr>
            </a:pPr>
            <a:r>
              <a:t>Deterministic Tool Execution Layer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28600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300">
                <a:solidFill>
                  <a:srgbClr val="38BDF8"/>
                </a:solidFill>
              </a:defRPr>
            </a:pPr>
            <a:r>
              <a:t>🔧 Docker Sandbox Engine: 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Spins up ephemeral containers. Runs commands with strict timeouts (30s) and memory limits (2GB). Returns exit code, stdout, stderr.</a:t>
            </a:r>
          </a:p>
          <a:p>
            <a:pPr>
              <a:defRPr b="1" sz="1300">
                <a:solidFill>
                  <a:srgbClr val="38BDF8"/>
                </a:solidFill>
              </a:defRPr>
            </a:pPr>
            <a:r>
              <a:t>🔧 Tree-Sitter / AST Parser: 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Parses Python/JS/TS code into concrete syntax trees. Extracts exact line numbers, function bodies, and dependency graphs.</a:t>
            </a:r>
          </a:p>
          <a:p>
            <a:pPr>
              <a:defRPr b="1" sz="1300">
                <a:solidFill>
                  <a:srgbClr val="38BDF8"/>
                </a:solidFill>
              </a:defRPr>
            </a:pPr>
            <a:r>
              <a:t>🔧 Git Diff &amp; Patch Tool: 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Applies unified diffs cleanly, validates syntax, and stages incremental commits on isolated branches.</a:t>
            </a:r>
          </a:p>
          <a:p>
            <a:pPr>
              <a:defRPr b="1" sz="1300">
                <a:solidFill>
                  <a:srgbClr val="38BDF8"/>
                </a:solidFill>
              </a:defRPr>
            </a:pPr>
            <a:r>
              <a:t>🔧 GitHub GraphQL/REST API: 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Watches issue triggers, posts execution status comments, and creates structured pull requests.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02920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78308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Arial"/>
              </a:defRPr>
            </a:pPr>
            <a:r>
              <a:t>Multi-Tier Memory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28600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300">
                <a:solidFill>
                  <a:srgbClr val="34D399"/>
                </a:solidFill>
              </a:defRPr>
            </a:pPr>
            <a:r>
              <a:t>🧠 Working / Execution Memory: 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Maintains the current ReAct trace, candidate patch diffs, failed compiler outputs, and execution logs across iterative loops.</a:t>
            </a:r>
          </a:p>
          <a:p>
            <a:pPr>
              <a:defRPr b="1" sz="1300">
                <a:solidFill>
                  <a:srgbClr val="34D399"/>
                </a:solidFill>
              </a:defRPr>
            </a:pPr>
            <a:r>
              <a:t>🧠 Repo Structural Index (Vector/AST): 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ChromaDB/FAISS vector embeddings paired with AST symbol tables to retrieve relevant modules without overloading the context window.</a:t>
            </a:r>
          </a:p>
          <a:p>
            <a:pPr>
              <a:defRPr b="1" sz="1300">
                <a:solidFill>
                  <a:srgbClr val="34D399"/>
                </a:solidFill>
              </a:defRPr>
            </a:pPr>
            <a:r>
              <a:t>🧠 Cross-Session Feedback Memory: 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Logs past resolved issues and reviewer comments to adapt to repository-specific coding standards and linting styles.</a:t>
            </a:r>
          </a:p>
          <a:p>
            <a:pPr>
              <a:defRPr b="1" sz="1300">
                <a:solidFill>
                  <a:srgbClr val="34D399"/>
                </a:solidFill>
              </a:defRPr>
            </a:pPr>
            <a:r>
              <a:t>🧠 Safety &amp; Gate State: 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Immutable log recording container hashes, command execution timestamps, and human confirmation tokens.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Arial"/>
              </a:defRPr>
            </a:pPr>
            <a:r>
              <a:t>04 · Safety, Guardrails &amp; Human-in-the-Loop</a:t>
            </a:r>
          </a:p>
          <a:p>
            <a:pPr>
              <a:defRPr sz="2800" b="1">
                <a:solidFill>
                  <a:srgbClr val="F8FAFC"/>
                </a:solidFill>
                <a:latin typeface="Arial"/>
              </a:defRPr>
            </a:pPr>
            <a:r>
              <a:t>Zero Unverified Actions &amp; Fail-Safe Engineering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329184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Arial"/>
              </a:defRPr>
            </a:pPr>
            <a:r>
              <a:t>1. Strict Sandbox Isolation</a:t>
            </a:r>
          </a:p>
          <a:p>
            <a:pPr>
              <a:spcBef>
                <a:spcPts val="14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t>• All code runs inside restricted Docker containers with non-root user</a:t>
            </a:r>
            <a:br/>
            <a:r>
              <a:t>• Network isolation (`--network none`) prevents credential leakage</a:t>
            </a:r>
            <a:br/>
            <a:r>
              <a:t>• Read-only volume mounts protect original codebase from corruption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1645920"/>
            <a:ext cx="329184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182880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4D399"/>
                </a:solidFill>
                <a:latin typeface="Arial"/>
              </a:defRPr>
            </a:pPr>
            <a:r>
              <a:t>2. Dual-Verification Testing Gate</a:t>
            </a:r>
          </a:p>
          <a:p>
            <a:pPr>
              <a:spcBef>
                <a:spcPts val="14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t>• Rule 1: The synthesized bug-reproduction test MUST pass</a:t>
            </a:r>
            <a:br/>
            <a:r>
              <a:t>• Rule 2: Zero regressions — 100% of existing test suite must pass</a:t>
            </a:r>
            <a:br/>
            <a:r>
              <a:t>• Any patch causing syntax errors or test regressions is discarded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29184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82880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B923C"/>
                </a:solidFill>
                <a:latin typeface="Arial"/>
              </a:defRPr>
            </a:pPr>
            <a:r>
              <a:t>3. Human Approval Gate (Mandatory)</a:t>
            </a:r>
          </a:p>
          <a:p>
            <a:pPr>
              <a:spcBef>
                <a:spcPts val="14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t>• The agent NEVER pushes directly to `main` or auto-merges PRs</a:t>
            </a:r>
            <a:br/>
            <a:r>
              <a:t>• Posts an interactive PR with side-by-side diff &amp; test evidence</a:t>
            </a:r>
            <a:br/>
            <a:r>
              <a:t>• Requires explicit developer review and sign-off before merge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Arial"/>
              </a:defRPr>
            </a:pPr>
            <a:r>
              <a:t>05 · 24-Hour Build Plan &amp; Technology Stack</a:t>
            </a:r>
          </a:p>
          <a:p>
            <a:pPr>
              <a:defRPr sz="2800" b="1">
                <a:solidFill>
                  <a:srgbClr val="F8FAFC"/>
                </a:solidFill>
                <a:latin typeface="Arial"/>
              </a:defRPr>
            </a:pPr>
            <a:r>
              <a:t>Realistic Sprint Milestones &amp; Technical Feasibility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594360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Arial"/>
              </a:defRPr>
            </a:pPr>
            <a:r>
              <a:t>24-Hour Build Sprint Roadmap (11-12 Nov)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286000"/>
            <a:ext cx="5577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300">
                <a:solidFill>
                  <a:srgbClr val="38BDF8"/>
                </a:solidFill>
              </a:defRPr>
            </a:pPr>
            <a:r>
              <a:t>⏱ Hours 00 – 06: Core Infrastructure &amp; Sandbox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  <a:r>
              <a:t>Docker execution wrapper, timeout/resource limits, and GitHub webhook issue ingestion.</a:t>
            </a:r>
          </a:p>
          <a:p>
            <a:pPr>
              <a:defRPr b="1" sz="1300">
                <a:solidFill>
                  <a:srgbClr val="38BDF8"/>
                </a:solidFill>
              </a:defRPr>
            </a:pPr>
            <a:r>
              <a:t>⏱ Hours 06 – 12: Localization &amp; Test Synthesis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  <a:r>
              <a:t>Tree-Sitter AST code indexing and automated `repro_test.py` generation module.</a:t>
            </a:r>
          </a:p>
          <a:p>
            <a:pPr>
              <a:defRPr b="1" sz="1300">
                <a:solidFill>
                  <a:srgbClr val="38BDF8"/>
                </a:solidFill>
              </a:defRPr>
            </a:pPr>
            <a:r>
              <a:t>⏱ Hours 12 – 18: ReAct Patching &amp; Iterative Repair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  <a:r>
              <a:t>LLM-guided patch generation, diff application, and test-feedback self-healing loop.</a:t>
            </a:r>
          </a:p>
          <a:p>
            <a:pPr>
              <a:defRPr b="1" sz="1300">
                <a:solidFill>
                  <a:srgbClr val="38BDF8"/>
                </a:solidFill>
              </a:defRPr>
            </a:pPr>
            <a:r>
              <a:t>⏱ Hours 18 – 22: PR Bot, Dashboard &amp; Human Review UI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  <a:r>
              <a:t>FastAPI web dashboard showing live agent execution logs, diff viewer, and PR generation.</a:t>
            </a:r>
          </a:p>
          <a:p>
            <a:pPr>
              <a:defRPr b="1" sz="1300">
                <a:solidFill>
                  <a:srgbClr val="38BDF8"/>
                </a:solidFill>
              </a:defRPr>
            </a:pPr>
            <a:r>
              <a:t>⏱ Hours 22 – 24: Benchmark Verification &amp; Demo Video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  <a:r>
              <a:t>Evaluate on SWE-bench Lite issues, measure pass@1 rate, and produce 3-min demo video.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45920"/>
            <a:ext cx="411480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783080"/>
            <a:ext cx="3749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Arial"/>
              </a:defRPr>
            </a:pPr>
            <a:r>
              <a:t>Proven Production Tech Stack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2286000"/>
            <a:ext cx="3749039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300">
                <a:solidFill>
                  <a:srgbClr val="34D399"/>
                </a:solidFill>
              </a:defRPr>
            </a:pPr>
            <a:r>
              <a:t>⚡ Orchestrator: 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Python 3.12 · LangGraph / LangChain StateGraph</a:t>
            </a:r>
          </a:p>
          <a:p>
            <a:pPr>
              <a:defRPr b="1" sz="1300">
                <a:solidFill>
                  <a:srgbClr val="34D399"/>
                </a:solidFill>
              </a:defRPr>
            </a:pPr>
            <a:r>
              <a:t>⚡ Reasoning LLM: 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Gemini 2.5 Pro / Flash &amp; Claude 3.5 Sonnet</a:t>
            </a:r>
          </a:p>
          <a:p>
            <a:pPr>
              <a:defRPr b="1" sz="1300">
                <a:solidFill>
                  <a:srgbClr val="34D399"/>
                </a:solidFill>
              </a:defRPr>
            </a:pPr>
            <a:r>
              <a:t>⚡ Sandboxing: 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Docker SDK for Python (isolated containers)</a:t>
            </a:r>
          </a:p>
          <a:p>
            <a:pPr>
              <a:defRPr b="1" sz="1300">
                <a:solidFill>
                  <a:srgbClr val="34D399"/>
                </a:solidFill>
              </a:defRPr>
            </a:pPr>
            <a:r>
              <a:t>⚡ Code Intelligence: 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Tree-sitter (AST parser) + ChromaDB</a:t>
            </a:r>
          </a:p>
          <a:p>
            <a:pPr>
              <a:defRPr b="1" sz="1300">
                <a:solidFill>
                  <a:srgbClr val="34D399"/>
                </a:solidFill>
              </a:defRPr>
            </a:pPr>
            <a:r>
              <a:t>⚡ Testing Engine: 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Pytest / Coverage.py / Jest</a:t>
            </a:r>
          </a:p>
          <a:p>
            <a:pPr>
              <a:defRPr b="1" sz="1300">
                <a:solidFill>
                  <a:srgbClr val="34D399"/>
                </a:solidFill>
              </a:defRPr>
            </a:pPr>
            <a:r>
              <a:t>⚡ Integration: 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PyGithub &amp; GitHub GraphQL API</a:t>
            </a:r>
          </a:p>
          <a:p>
            <a:pPr>
              <a:defRPr b="1" sz="1300">
                <a:solidFill>
                  <a:srgbClr val="34D399"/>
                </a:solidFill>
              </a:defRPr>
            </a:pPr>
            <a:r>
              <a:t>⚡ Dashboard: 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FastAPI + Streamlit / Next.js live console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