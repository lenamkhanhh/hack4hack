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4754880" cy="411480"/>
          </a:xfrm>
          <a:prstGeom prst="roundRect">
            <a:avLst/>
          </a:prstGeom>
          <a:solidFill>
            <a:srgbClr val="3D2718"/>
          </a:solidFill>
          <a:ln>
            <a:solidFill>
              <a:srgbClr val="F07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07F4F"/>
                </a:solidFill>
                <a:latin typeface="Arial"/>
              </a:defRPr>
            </a:pPr>
            <a:r>
              <a:t>AGENTX HACKATHON 2026 · PS-04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DEEF0"/>
                </a:solidFill>
                <a:latin typeface="Arial"/>
              </a:defRPr>
            </a:pPr>
            <a:r>
              <a:t>ReturnLens: Evidence-Verifiable Return &amp; Refund Agent</a:t>
            </a:r>
          </a:p>
          <a:p>
            <a:pPr>
              <a:spcBef>
                <a:spcPts val="1000"/>
              </a:spcBef>
              <a:defRPr sz="1800">
                <a:solidFill>
                  <a:srgbClr val="3EC9B6"/>
                </a:solidFill>
                <a:latin typeface="Arial"/>
              </a:defRPr>
            </a:pPr>
            <a:r>
              <a:t>Verifying customer video evidence against mock store truth before any refund or label is issued.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91840" cy="219456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300">
                <a:solidFill>
                  <a:srgbClr val="EDEEF0"/>
                </a:solidFill>
                <a:latin typeface="Arial"/>
              </a:defRPr>
            </a:pPr>
            <a:r>
              <a:t>PS-04 · Autonomous support agent for online sellers</a:t>
            </a:r>
            <a:br/>
            <a:r>
              <a:t>Narrowed Wedge: Evidence-verified return &amp; refund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840480"/>
            <a:ext cx="3291840" cy="219456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C9B6"/>
                </a:solidFill>
                <a:latin typeface="Arial"/>
              </a:defRPr>
            </a:pPr>
            <a:r>
              <a:t>Team Information</a:t>
            </a:r>
          </a:p>
          <a:p>
            <a:pPr>
              <a:spcBef>
                <a:spcPts val="800"/>
              </a:spcBef>
              <a:defRPr sz="1300">
                <a:solidFill>
                  <a:srgbClr val="EDEEF0"/>
                </a:solidFill>
                <a:latin typeface="Arial"/>
              </a:defRPr>
            </a:pPr>
            <a:r>
              <a:t>Team: Team Rookie</a:t>
            </a:r>
            <a:br/>
            <a:r>
              <a:t>Members: Nam Khánh Lê &amp; Khiêm</a:t>
            </a:r>
            <a:br/>
            <a:r>
              <a:t>Institution: University of Science (HCMUS)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291840" cy="219456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3B341"/>
                </a:solidFill>
                <a:latin typeface="Arial"/>
              </a:defRPr>
            </a:pPr>
            <a:r>
              <a:t>Core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EDEEF0"/>
                </a:solidFill>
                <a:latin typeface="Arial"/>
              </a:defRPr>
            </a:pPr>
            <a:r>
              <a:t>Fail-Closed Verification: Deterministic policy engine + timestamped video grounding + 1-click human gate. Zero GPU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7F4F"/>
                </a:solidFill>
                <a:latin typeface="Arial"/>
              </a:defRPr>
            </a:pPr>
            <a:r>
              <a:t>01 · Problem Fit &amp; Real-World Impact</a:t>
            </a:r>
          </a:p>
          <a:p>
            <a:pPr>
              <a:defRPr sz="2800" b="1">
                <a:solidFill>
                  <a:srgbClr val="EDEEF0"/>
                </a:solidFill>
                <a:latin typeface="Arial"/>
              </a:defRPr>
            </a:pPr>
            <a:r>
              <a:t>The High-Cost Blindspot of E-Commerce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48056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8A7A"/>
                </a:solidFill>
                <a:latin typeface="Arial"/>
              </a:defRPr>
            </a:pPr>
            <a:r>
              <a:t>The Solo Seller Bottleneck &amp; Double-Sided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FF8A7A"/>
                </a:solidFill>
              </a:defRPr>
            </a:pPr>
            <a:r>
              <a:t>• Overwhelmed Solo Sellers: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Sellers managing 50–500 orders/month handle returns alone: watching 30–60s unboxing clips, cross-referencing order tabs, and calculating policy dates manually.</a:t>
            </a:r>
          </a:p>
          <a:p>
            <a:pPr>
              <a:defRPr b="1" sz="1300">
                <a:solidFill>
                  <a:srgbClr val="FF8A7A"/>
                </a:solidFill>
              </a:defRPr>
            </a:pPr>
            <a:r>
              <a:t>• Double-Sided Financial Risk: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Wrongly approving fraudulent returns ('wardrobing', worn items, swapped goods, stripped tags) destroys profit margins; wrongly rejecting buyers triggers marketplace penalties &amp; disputes.</a:t>
            </a:r>
          </a:p>
          <a:p>
            <a:pPr>
              <a:defRPr b="1" sz="1300">
                <a:solidFill>
                  <a:srgbClr val="FF8A7A"/>
                </a:solidFill>
              </a:defRPr>
            </a:pPr>
            <a:r>
              <a:t>• Lack of Dispute Evidence: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UniCommerce reports that sellers routinely lose return claims due to 'lack of concrete evidence' to contest invalid claims.</a:t>
            </a:r>
          </a:p>
          <a:p>
            <a:pPr>
              <a:defRPr b="1" sz="1300">
                <a:solidFill>
                  <a:srgbClr val="FF8A7A"/>
                </a:solidFill>
              </a:defRPr>
            </a:pPr>
            <a:r>
              <a:t>• What Is NOT the Problem: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Not another WISMO ('Where Is My Order') chatbot. Commercial bots (Robylon, Robofy) already handle basic tracking. The real unresolved pain is verifying return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48056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C9B6"/>
                </a:solidFill>
                <a:latin typeface="Arial"/>
              </a:defRPr>
            </a:pPr>
            <a:r>
              <a:t>The ReturnLens Narrowed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3EC9B6"/>
                </a:solidFill>
              </a:defRPr>
            </a:pPr>
            <a:r>
              <a:t>✔ Evidence-Verifiable Triage: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ReturnLens inspects customer unboxing videos, cross-checks against actual order data, and validates claims before any action is suggested.</a:t>
            </a:r>
          </a:p>
          <a:p>
            <a:pPr>
              <a:defRPr b="1" sz="1300">
                <a:solidFill>
                  <a:srgbClr val="3EC9B6"/>
                </a:solidFill>
              </a:defRPr>
            </a:pPr>
            <a:r>
              <a:t>✔ Fail-Closed Safety Guarantee: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If evidence is ambiguous or contradictory, the agent escalates to the seller with timestamped proof clips. It NEVER hallucinates a rejection or issues an unverified refund.</a:t>
            </a:r>
          </a:p>
          <a:p>
            <a:pPr>
              <a:defRPr b="1" sz="1300">
                <a:solidFill>
                  <a:srgbClr val="3EC9B6"/>
                </a:solidFill>
              </a:defRPr>
            </a:pPr>
            <a:r>
              <a:t>✔ 10-Second Decision Package: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Compresses a 5-minute manual review into a 10-second 1-click decision for the seller, complete with exact video timestamps and policy citations.</a:t>
            </a:r>
          </a:p>
          <a:p>
            <a:pPr>
              <a:defRPr b="1" sz="1300">
                <a:solidFill>
                  <a:srgbClr val="3EC9B6"/>
                </a:solidFill>
              </a:defRPr>
            </a:pPr>
            <a:r>
              <a:t>✔ Fairness to Buyers as a Constraint: 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EDEEF0"/>
                </a:solidFill>
              </a:defRPr>
            </a:pPr>
            <a:r>
              <a:t>Escalation ensures legitimate buyers with blurry clips are asked for specific photos rather than being blindly rejected by an algorithm.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7F4F"/>
                </a:solidFill>
                <a:latin typeface="Arial"/>
              </a:defRPr>
            </a:pPr>
            <a:r>
              <a:t>02 · Solution Architecture &amp; End-to-End Workflow</a:t>
            </a:r>
          </a:p>
          <a:p>
            <a:pPr>
              <a:defRPr sz="2800" b="1">
                <a:solidFill>
                  <a:srgbClr val="EDEEF0"/>
                </a:solidFill>
                <a:latin typeface="Arial"/>
              </a:defRPr>
            </a:pPr>
            <a:r>
              <a:t>5-Step Verifiable Triage: From Customer Video to 1-Click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965960" cy="457200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07F4F"/>
                </a:solidFill>
                <a:latin typeface="Arial"/>
              </a:defRPr>
            </a:pPr>
            <a:r>
              <a:t>Step 1: Intake</a:t>
            </a:r>
          </a:p>
          <a:p>
            <a:pPr>
              <a:spcBef>
                <a:spcPts val="800"/>
              </a:spcBef>
              <a:defRPr sz="1150">
                <a:solidFill>
                  <a:srgbClr val="EDEEF0"/>
                </a:solidFill>
                <a:latin typeface="Arial"/>
              </a:defRPr>
            </a:pPr>
            <a:r>
              <a:t>Customer submits return claim via web chat:</a:t>
            </a:r>
            <a:br/>
            <a:r>
              <a:t>• Reason (damaged/wrong item)</a:t>
            </a:r>
            <a:br/>
            <a:r>
              <a:t>• 30–60s video or photo</a:t>
            </a:r>
            <a:br/>
            <a:r>
              <a:t>• Order ID 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1965960" cy="457200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07F4F"/>
                </a:solidFill>
                <a:latin typeface="Arial"/>
              </a:defRPr>
            </a:pPr>
            <a:r>
              <a:t>Step 2: Typed Plan</a:t>
            </a:r>
          </a:p>
          <a:p>
            <a:pPr>
              <a:spcBef>
                <a:spcPts val="800"/>
              </a:spcBef>
              <a:defRPr sz="1150">
                <a:solidFill>
                  <a:srgbClr val="EDEEF0"/>
                </a:solidFill>
                <a:latin typeface="Arial"/>
              </a:defRPr>
            </a:pPr>
            <a:r>
              <a:t>Planner emits structured plan object:</a:t>
            </a:r>
            <a:br/>
            <a:r>
              <a:t>• Sets refund ceiling</a:t>
            </a:r>
            <a:br/>
            <a:r>
              <a:t>• Specifies required checks</a:t>
            </a:r>
            <a:br/>
            <a:r>
              <a:t>• Defines tool calling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965960" cy="457200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07F4F"/>
                </a:solidFill>
                <a:latin typeface="Arial"/>
              </a:defRPr>
            </a:pPr>
            <a:r>
              <a:t>Step 3: Grounding</a:t>
            </a:r>
          </a:p>
          <a:p>
            <a:pPr>
              <a:spcBef>
                <a:spcPts val="800"/>
              </a:spcBef>
              <a:defRPr sz="1150">
                <a:solidFill>
                  <a:srgbClr val="EDEEF0"/>
                </a:solidFill>
                <a:latin typeface="Arial"/>
              </a:defRPr>
            </a:pPr>
            <a:r>
              <a:t>Retrieves dual truth:</a:t>
            </a:r>
            <a:br/>
            <a:r>
              <a:t>• Mock Store API (SKU, price, delivery date)</a:t>
            </a:r>
            <a:br/>
            <a:r>
              <a:t>• CPU ffmpeg frame extraction (~1 fps) + multimodal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59" y="1645920"/>
            <a:ext cx="1965960" cy="4572000"/>
          </a:xfrm>
          <a:prstGeom prst="roundRect">
            <a:avLst/>
          </a:prstGeom>
          <a:solidFill>
            <a:srgbClr val="1B1E23"/>
          </a:solidFill>
          <a:ln w="31750">
            <a:solidFill>
              <a:srgbClr val="3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39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C9B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219456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EC9B6"/>
                </a:solidFill>
                <a:latin typeface="Arial"/>
              </a:defRPr>
            </a:pPr>
            <a:r>
              <a:t>Step 4: Verify</a:t>
            </a:r>
          </a:p>
          <a:p>
            <a:pPr>
              <a:spcBef>
                <a:spcPts val="800"/>
              </a:spcBef>
              <a:defRPr sz="1150">
                <a:solidFill>
                  <a:srgbClr val="EDEEF0"/>
                </a:solidFill>
                <a:latin typeface="Arial"/>
              </a:defRPr>
            </a:pPr>
            <a:r>
              <a:t>Deterministic Policy Engine:</a:t>
            </a:r>
            <a:br/>
            <a:r>
              <a:t>• Verifies return window (≤ 7d)</a:t>
            </a:r>
            <a:br/>
            <a:r>
              <a:t>• Verifies refund amount ≤ cap</a:t>
            </a:r>
            <a:br/>
            <a:r>
              <a:t>• Matches SKU &amp; damage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645920"/>
            <a:ext cx="1965960" cy="457200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9456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07F4F"/>
                </a:solidFill>
                <a:latin typeface="Arial"/>
              </a:defRPr>
            </a:pPr>
            <a:r>
              <a:t>Step 5: Action</a:t>
            </a:r>
          </a:p>
          <a:p>
            <a:pPr>
              <a:spcBef>
                <a:spcPts val="800"/>
              </a:spcBef>
              <a:defRPr sz="1150">
                <a:solidFill>
                  <a:srgbClr val="EDEEF0"/>
                </a:solidFill>
                <a:latin typeface="Arial"/>
              </a:defRPr>
            </a:pPr>
            <a:r>
              <a:t>Human Approval Gate:</a:t>
            </a:r>
            <a:br/>
            <a:r>
              <a:t>• Within policy → 1-click approve → mock label &amp; refund</a:t>
            </a:r>
            <a:br/>
            <a:r>
              <a:t>• Discrepancy → Escalate with timestamped proof pack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7F4F"/>
                </a:solidFill>
                <a:latin typeface="Arial"/>
              </a:defRPr>
            </a:pPr>
            <a:r>
              <a:t>03 · Agent Design: Planner → Tools → Verifier → Human Gate</a:t>
            </a:r>
          </a:p>
          <a:p>
            <a:pPr>
              <a:defRPr sz="2800" b="1">
                <a:solidFill>
                  <a:srgbClr val="EDEEF0"/>
                </a:solidFill>
                <a:latin typeface="Arial"/>
              </a:defRPr>
            </a:pPr>
            <a:r>
              <a:t>Deterministic Policy Verification &amp; The Fail-Closed Principle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1874519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A. Planner (Typed 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7548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DEEF0"/>
                </a:solidFill>
                <a:latin typeface="Arial"/>
              </a:defRPr>
            </a:pPr>
            <a:r>
              <a:t>• Generates structured typed plan (steps, expected outputs, refund caps)</a:t>
            </a:r>
            <a:br/>
            <a:r>
              <a:t>• Enforces policy constraints upfront</a:t>
            </a:r>
            <a:br/>
            <a:r>
              <a:t>• Code never evaluates freeform prose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874519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C9B6"/>
                </a:solidFill>
                <a:latin typeface="Arial"/>
              </a:defRPr>
            </a:pPr>
            <a:r>
              <a:t>B. Tool Execution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47548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DEEF0"/>
                </a:solidFill>
                <a:latin typeface="Arial"/>
              </a:defRPr>
            </a:pPr>
            <a:r>
              <a:t>• Mock Store &amp; Shipping API: FastAPI + SQLite seed data (orders, delivery dates)</a:t>
            </a:r>
            <a:br/>
            <a:r>
              <a:t>• Video Indexer: CPU ffmpeg frame extraction + free-tier multimodal LLM</a:t>
            </a:r>
            <a:br/>
            <a:r>
              <a:t>• Audit Logger: Immutable JSONL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5029200" cy="1874519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3B341"/>
                </a:solidFill>
                <a:latin typeface="Arial"/>
              </a:defRPr>
            </a:pPr>
            <a:r>
              <a:t>C. Deterministic Verifier (Code)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47548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DEEF0"/>
                </a:solidFill>
                <a:latin typeface="Arial"/>
              </a:defRPr>
            </a:pPr>
            <a:r>
              <a:t>• Pure code — zero LLM override:</a:t>
            </a:r>
            <a:br/>
            <a:r>
              <a:t>  1. Order exists &amp; matches buyer</a:t>
            </a:r>
            <a:br/>
            <a:r>
              <a:t>  2. Within return window (≤ 7 days)</a:t>
            </a:r>
            <a:br/>
            <a:r>
              <a:t>  3. Refund amount ≤ cap &amp; order total</a:t>
            </a:r>
            <a:br/>
            <a:r>
              <a:t>  4. Every claim backed by tool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029200" cy="1874519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94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8A7A"/>
                </a:solidFill>
                <a:latin typeface="Arial"/>
              </a:defRPr>
            </a:pPr>
            <a:r>
              <a:t>D. Critic &amp; Human Approval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475488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DEEF0"/>
                </a:solidFill>
                <a:latin typeface="Arial"/>
              </a:defRPr>
            </a:pPr>
            <a:r>
              <a:t>• Independent Critic LLM (temp 0) audits for claim-evidence mismatches</a:t>
            </a:r>
            <a:br/>
            <a:r>
              <a:t>• Human-in-the-Loop interrupt before any money or label is issued</a:t>
            </a:r>
            <a:br/>
            <a:r>
              <a:t>• Turns review into a 10s 1-click 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solidFill>
            <a:srgbClr val="1E293B"/>
          </a:solidFill>
          <a:ln w="19050">
            <a:solidFill>
              <a:srgbClr val="F07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F07F4F"/>
                </a:solidFill>
                <a:latin typeface="Arial"/>
              </a:defRPr>
            </a:pPr>
            <a:r>
              <a:t>THE FAIL-CLOSED PRINCIPLE: "If evidence, policy, or checkers disagree — we escalate. Never auto-reject a buyer; never auto-refund on weak evidence."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7F4F"/>
                </a:solidFill>
                <a:latin typeface="Arial"/>
              </a:defRPr>
            </a:pPr>
            <a:r>
              <a:t>04 · Evidence Proof Package &amp; 3 Demo Scenarios</a:t>
            </a:r>
          </a:p>
          <a:p>
            <a:pPr>
              <a:defRPr sz="2800" b="1">
                <a:solidFill>
                  <a:srgbClr val="EDEEF0"/>
                </a:solidFill>
                <a:latin typeface="Arial"/>
              </a:defRPr>
            </a:pPr>
            <a:r>
              <a:t>Timestamped Video Grounding &amp; Robust Fallback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347472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C9B6"/>
                </a:solidFill>
                <a:latin typeface="Arial"/>
              </a:defRPr>
            </a:pPr>
            <a:r>
              <a:t>Case 1 · Clear Approval (45s)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DEEF0"/>
                </a:solidFill>
                <a:latin typeface="Arial"/>
              </a:defRPr>
            </a:pPr>
            <a:r>
              <a:t>Buyer reports torn seam with 35s unboxing video:</a:t>
            </a:r>
            <a:br/>
            <a:r>
              <a:t>• Order verified delivered 3 days ago (within 7d window)</a:t>
            </a:r>
            <a:br/>
            <a:r>
              <a:t>• Damage detected at 0:12–0:18 with high confidence</a:t>
            </a:r>
            <a:br/>
            <a:r>
              <a:t>• Refund within category ceiling (₹850 ≤ ₹1,500)</a:t>
            </a:r>
            <a:br/>
            <a:r>
              <a:t>• Seller 1-click approves → mock return label issued &amp; logged.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91840" cy="3474720"/>
          </a:xfrm>
          <a:prstGeom prst="roundRect">
            <a:avLst/>
          </a:prstGeom>
          <a:solidFill>
            <a:srgbClr val="1B1E23"/>
          </a:solidFill>
          <a:ln w="31750">
            <a:solidFill>
              <a:srgbClr val="F07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Case 2 · Star Case: Escalated (60s)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4884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DEEF0"/>
                </a:solidFill>
                <a:latin typeface="Arial"/>
              </a:defRPr>
            </a:pPr>
            <a:r>
              <a:t>Buyer claims wrong item; video shows mismatched SKU &amp; missing original brand tag:</a:t>
            </a:r>
            <a:br/>
            <a:r>
              <a:t>• Policy requires tags attached for apparel returns</a:t>
            </a:r>
            <a:br/>
            <a:r>
              <a:t>• Deterministic verifier rejects auto-approval</a:t>
            </a:r>
            <a:br/>
            <a:r>
              <a:t>• Agent ESCALATES to seller with proof pack &amp; timestamp citations (does NOT auto-reject buyer).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347472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3B341"/>
                </a:solidFill>
                <a:latin typeface="Arial"/>
              </a:defRPr>
            </a:pPr>
            <a:r>
              <a:t>Case 3 · Missing Evidence (45s)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14884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DEEF0"/>
                </a:solidFill>
                <a:latin typeface="Arial"/>
              </a:defRPr>
            </a:pPr>
            <a:r>
              <a:t>Video too dark / blurry to discern item condition:</a:t>
            </a:r>
            <a:br/>
            <a:r>
              <a:t>• Verifier identifies confidence &lt; threshold</a:t>
            </a:r>
            <a:br/>
            <a:r>
              <a:t>• Agent asks buyer for specific photo of brand tag</a:t>
            </a:r>
            <a:br/>
            <a:r>
              <a:t>• Case remains open with checklist</a:t>
            </a:r>
            <a:br/>
            <a:r>
              <a:t>• Closing 30s: Live audit trail &amp; seller time savings.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03520"/>
            <a:ext cx="10332720" cy="109728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406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C9B6"/>
                </a:solidFill>
                <a:latin typeface="Arial"/>
              </a:defRPr>
            </a:pPr>
            <a:r>
              <a:t>Mock Data Integrity &amp; Fallback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DEEF0"/>
                </a:solidFill>
                <a:latin typeface="Arial"/>
              </a:defRPr>
            </a:pPr>
            <a:r>
              <a:t>• Mock Store &amp; Videos: Staged demo video clips &amp; SQLite mock database (no real customer PII, 100% compliant with hackathon rules).</a:t>
            </a:r>
            <a:br/>
            <a:r>
              <a:t>• Graceful Fallback: Multimodal model timeout → degrade confidence &amp; escalate to seller; shipping API unconfirmed → escalate. Zero blind guesses.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7F4F"/>
                </a:solidFill>
                <a:latin typeface="Arial"/>
              </a:defRPr>
            </a:pPr>
            <a:r>
              <a:t>05 · 24-Hour Sprint Plan &amp; PS-04 Compliance</a:t>
            </a:r>
          </a:p>
          <a:p>
            <a:pPr>
              <a:defRPr sz="2800" b="1">
                <a:solidFill>
                  <a:srgbClr val="EDEEF0"/>
                </a:solidFill>
                <a:latin typeface="Arial"/>
              </a:defRPr>
            </a:pPr>
            <a:r>
              <a:t>Realistic 2-Person Division of Labor &amp; Zero-GPU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943600" cy="448056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7F4F"/>
                </a:solidFill>
                <a:latin typeface="Arial"/>
              </a:defRPr>
            </a:pPr>
            <a:r>
              <a:t>24-Hour Build Sprint Plan (11-12 Nov)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50">
                <a:solidFill>
                  <a:srgbClr val="F07F4F"/>
                </a:solidFill>
              </a:defRPr>
            </a:pPr>
            <a:r>
              <a:t>⏱ Hours 00 – 06: Core StateGraph &amp; Mock Store API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EDEEF0"/>
                </a:solidFill>
              </a:defRPr>
            </a:pPr>
            <a:r>
              <a:t>Member A builds LangGraph state machine &amp; SQLite/FastAPI store. Member B builds CPU ffmpeg video frame extractor.</a:t>
            </a:r>
          </a:p>
          <a:p>
            <a:pPr>
              <a:defRPr b="1" sz="1250">
                <a:solidFill>
                  <a:srgbClr val="F07F4F"/>
                </a:solidFill>
              </a:defRPr>
            </a:pPr>
            <a:r>
              <a:t>⏱ Hours 06 – 12: Grounding &amp; Deterministic Verifier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EDEEF0"/>
                </a:solidFill>
              </a:defRPr>
            </a:pPr>
            <a:r>
              <a:t>Member A implements hardcoded policy engine (caps, dates). Member B integrates Gemini/Groq free tier multimodal grounding.</a:t>
            </a:r>
          </a:p>
          <a:p>
            <a:pPr>
              <a:defRPr b="1" sz="1250">
                <a:solidFill>
                  <a:srgbClr val="F07F4F"/>
                </a:solidFill>
              </a:defRPr>
            </a:pPr>
            <a:r>
              <a:t>⏱ Hours 12 – 18: Dashboard &amp; Human Approval UI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EDEEF0"/>
                </a:solidFill>
              </a:defRPr>
            </a:pPr>
            <a:r>
              <a:t>Member A wires audit logging &amp; Critic agent. Member B builds Streamlit/React seller dashboard with timestamped proof clips.</a:t>
            </a:r>
          </a:p>
          <a:p>
            <a:pPr>
              <a:defRPr b="1" sz="1250">
                <a:solidFill>
                  <a:srgbClr val="F07F4F"/>
                </a:solidFill>
              </a:defRPr>
            </a:pPr>
            <a:r>
              <a:t>⏱ Hours 18 – 22: End-to-End Testing &amp; 3 Demo Cases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EDEEF0"/>
                </a:solidFill>
              </a:defRPr>
            </a:pPr>
            <a:r>
              <a:t>Dry run across the 3 benchmark cases (Approved, Escalated, Incomplete). Validate 100% test pass rate.</a:t>
            </a:r>
          </a:p>
          <a:p>
            <a:pPr>
              <a:defRPr b="1" sz="1250">
                <a:solidFill>
                  <a:srgbClr val="F07F4F"/>
                </a:solidFill>
              </a:defRPr>
            </a:pPr>
            <a:r>
              <a:t>⏱ Hours 22 – 24: Demo Recording &amp; Final Packaging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150">
                <a:solidFill>
                  <a:srgbClr val="EDEEF0"/>
                </a:solidFill>
              </a:defRPr>
            </a:pPr>
            <a:r>
              <a:t>Record 3-minute video walk-through, polish GitHub README, verify submission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114800" cy="4480560"/>
          </a:xfrm>
          <a:prstGeom prst="roundRect">
            <a:avLst/>
          </a:prstGeom>
          <a:solidFill>
            <a:srgbClr val="1B1E23"/>
          </a:solidFill>
          <a:ln w="19050">
            <a:solidFill>
              <a:srgbClr val="333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EC9B6"/>
                </a:solidFill>
                <a:latin typeface="Arial"/>
              </a:defRPr>
            </a:pPr>
            <a:r>
              <a:t>PS-04 Must-Have Checklist &amp;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94560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3B341"/>
                </a:solidFill>
              </a:defRPr>
            </a:pPr>
            <a:r>
              <a:t>MANDATORY REQUIREMENTS:</a:t>
            </a:r>
          </a:p>
          <a:p>
            <a:pPr>
              <a:defRPr b="1" sz="1150">
                <a:solidFill>
                  <a:srgbClr val="3EC9B6"/>
                </a:solidFill>
              </a:defRPr>
            </a:pPr>
            <a:r>
              <a:t>✔ Tool Calls on Mock Store: 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100">
                <a:solidFill>
                  <a:srgbClr val="EDEEF0"/>
                </a:solidFill>
              </a:defRPr>
            </a:pPr>
            <a:r>
              <a:t>Verified via FastAPI + SQLite seed</a:t>
            </a:r>
          </a:p>
          <a:p>
            <a:pPr>
              <a:defRPr b="1" sz="1150">
                <a:solidFill>
                  <a:srgbClr val="3EC9B6"/>
                </a:solidFill>
              </a:defRPr>
            </a:pPr>
            <a:r>
              <a:t>✔ Refund-Limit Guardrails: 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100">
                <a:solidFill>
                  <a:srgbClr val="EDEEF0"/>
                </a:solidFill>
              </a:defRPr>
            </a:pPr>
            <a:r>
              <a:t>Hardcoded in deterministic code</a:t>
            </a:r>
          </a:p>
          <a:p>
            <a:pPr>
              <a:defRPr b="1" sz="1150">
                <a:solidFill>
                  <a:srgbClr val="3EC9B6"/>
                </a:solidFill>
              </a:defRPr>
            </a:pPr>
            <a:r>
              <a:t>✔ Log Every Action Taken: 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100">
                <a:solidFill>
                  <a:srgbClr val="EDEEF0"/>
                </a:solidFill>
              </a:defRPr>
            </a:pPr>
            <a:r>
              <a:t>Immutable append-only JSONL audit log</a:t>
            </a:r>
          </a:p>
          <a:p>
            <a:pPr>
              <a:defRPr b="1" sz="1150">
                <a:solidFill>
                  <a:srgbClr val="3EC9B6"/>
                </a:solidFill>
              </a:defRPr>
            </a:pPr>
            <a:r>
              <a:t>✔ Human Confirmation Step: 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100">
                <a:solidFill>
                  <a:srgbClr val="EDEEF0"/>
                </a:solidFill>
              </a:defRPr>
            </a:pPr>
            <a:r>
              <a:t>Mandatory 1-click seller sign-off</a:t>
            </a:r>
          </a:p>
          <a:p>
            <a:pPr>
              <a:defRPr b="1" sz="1150">
                <a:solidFill>
                  <a:srgbClr val="3EC9B6"/>
                </a:solidFill>
              </a:defRPr>
            </a:pPr>
            <a:r>
              <a:t>✔ Zero GPU Dependency: 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100">
                <a:solidFill>
                  <a:srgbClr val="EDEEF0"/>
                </a:solidFill>
              </a:defRPr>
            </a:pPr>
            <a:r>
              <a:t>CPU ffmpeg + free tier hosted LLMs</a:t>
            </a:r>
          </a:p>
          <a:p>
            <a:pPr>
              <a:spcBef>
                <a:spcPts val="600"/>
              </a:spcBef>
              <a:defRPr sz="1050">
                <a:solidFill>
                  <a:srgbClr val="F07F4F"/>
                </a:solidFill>
              </a:defRPr>
            </a:pPr>
            <a:r>
              <a:t>TECH STACK: Python 3.12, LangGraph, FastAPI, SQLite, ffmpeg, Gemini 2.5 Flash, Streamlit.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