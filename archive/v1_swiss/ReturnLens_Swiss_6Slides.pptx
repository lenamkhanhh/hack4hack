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46520"/>
            <a:ext cx="10362895" cy="274320"/>
          </a:xfrm>
          <a:prstGeom prst="rect">
            <a:avLst/>
          </a:prstGeom>
          <a:noFill/>
        </p:spPr>
        <p:txBody>
          <a:bodyPr wrap="none" lIns="0" tIns="0" rIns="0" bIns="0">
            <a:spAutoFit/>
          </a:bodyPr>
          <a:lstStyle/>
          <a:p>
            <a:pPr>
              <a:defRPr sz="1100">
                <a:solidFill>
                  <a:srgbClr val="666666"/>
                </a:solidFill>
                <a:latin typeface="Arial"/>
              </a:defRPr>
            </a:pPr>
            <a:r>
              <a:t>ReturnLens · PS-04 · 1/6</a:t>
            </a:r>
          </a:p>
        </p:txBody>
      </p:sp>
      <p:sp>
        <p:nvSpPr>
          <p:cNvPr id="4" name="TextBox 3"/>
          <p:cNvSpPr txBox="1"/>
          <p:nvPr/>
        </p:nvSpPr>
        <p:spPr>
          <a:xfrm>
            <a:off x="914400" y="457200"/>
            <a:ext cx="10362895" cy="320040"/>
          </a:xfrm>
          <a:prstGeom prst="rect">
            <a:avLst/>
          </a:prstGeom>
          <a:noFill/>
        </p:spPr>
        <p:txBody>
          <a:bodyPr wrap="square" lIns="0" tIns="0" rIns="0" bIns="0">
            <a:spAutoFit/>
          </a:bodyPr>
          <a:lstStyle/>
          <a:p>
            <a:pPr>
              <a:defRPr sz="1100" b="1">
                <a:solidFill>
                  <a:srgbClr val="0E7C6B"/>
                </a:solidFill>
                <a:latin typeface="Arial"/>
              </a:defRPr>
            </a:pPr>
            <a:r>
              <a:t>PS-04 | TEAM ROOKIE | AGENTX HACKATHON 2026</a:t>
            </a:r>
          </a:p>
        </p:txBody>
      </p:sp>
      <p:sp>
        <p:nvSpPr>
          <p:cNvPr id="5" name="TextBox 4"/>
          <p:cNvSpPr txBox="1"/>
          <p:nvPr/>
        </p:nvSpPr>
        <p:spPr>
          <a:xfrm>
            <a:off x="914400" y="914400"/>
            <a:ext cx="10362895" cy="914400"/>
          </a:xfrm>
          <a:prstGeom prst="rect">
            <a:avLst/>
          </a:prstGeom>
          <a:noFill/>
        </p:spPr>
        <p:txBody>
          <a:bodyPr wrap="square" lIns="0" tIns="0" rIns="0" bIns="0">
            <a:spAutoFit/>
          </a:bodyPr>
          <a:lstStyle/>
          <a:p>
            <a:pPr>
              <a:defRPr sz="4400" b="1">
                <a:solidFill>
                  <a:srgbClr val="111111"/>
                </a:solidFill>
                <a:latin typeface="Arial"/>
              </a:defRPr>
            </a:pPr>
            <a:r>
              <a:t>ReturnLens</a:t>
            </a:r>
          </a:p>
        </p:txBody>
      </p:sp>
      <p:sp>
        <p:nvSpPr>
          <p:cNvPr id="6" name="TextBox 5"/>
          <p:cNvSpPr txBox="1"/>
          <p:nvPr/>
        </p:nvSpPr>
        <p:spPr>
          <a:xfrm>
            <a:off x="914400" y="1874519"/>
            <a:ext cx="10058400" cy="731520"/>
          </a:xfrm>
          <a:prstGeom prst="rect">
            <a:avLst/>
          </a:prstGeom>
          <a:noFill/>
        </p:spPr>
        <p:txBody>
          <a:bodyPr wrap="square" lIns="0" tIns="0" rIns="0" bIns="0">
            <a:spAutoFit/>
          </a:bodyPr>
          <a:lstStyle/>
          <a:p>
            <a:pPr>
              <a:defRPr sz="2000">
                <a:solidFill>
                  <a:srgbClr val="0E7C6B"/>
                </a:solidFill>
                <a:latin typeface="Arial"/>
              </a:defRPr>
            </a:pPr>
            <a:r>
              <a:t>An evidence-checked returns agent for small direct-to-consumer sellers.</a:t>
            </a:r>
          </a:p>
        </p:txBody>
      </p:sp>
      <p:sp>
        <p:nvSpPr>
          <p:cNvPr id="7" name="Rectangle 6"/>
          <p:cNvSpPr/>
          <p:nvPr/>
        </p:nvSpPr>
        <p:spPr>
          <a:xfrm>
            <a:off x="914400" y="274320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3017520"/>
            <a:ext cx="3291840" cy="201168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246120"/>
            <a:ext cx="2834640" cy="1554480"/>
          </a:xfrm>
          <a:prstGeom prst="rect">
            <a:avLst/>
          </a:prstGeom>
          <a:noFill/>
        </p:spPr>
        <p:txBody>
          <a:bodyPr wrap="square" lIns="0" tIns="0" rIns="0" bIns="0">
            <a:spAutoFit/>
          </a:bodyPr>
          <a:lstStyle/>
          <a:p>
            <a:pPr>
              <a:defRPr sz="1200" b="1">
                <a:solidFill>
                  <a:srgbClr val="666666"/>
                </a:solidFill>
                <a:latin typeface="Arial"/>
              </a:defRPr>
            </a:pPr>
            <a:r>
              <a:t>USER</a:t>
            </a:r>
          </a:p>
          <a:p>
            <a:pPr>
              <a:spcBef>
                <a:spcPts val="1200"/>
              </a:spcBef>
              <a:defRPr sz="1600" b="1">
                <a:solidFill>
                  <a:srgbClr val="111111"/>
                </a:solidFill>
                <a:latin typeface="Arial"/>
              </a:defRPr>
            </a:pPr>
            <a:r>
              <a:t>A seller who manages orders and returns alone.</a:t>
            </a:r>
          </a:p>
        </p:txBody>
      </p:sp>
      <p:sp>
        <p:nvSpPr>
          <p:cNvPr id="10" name="Rectangle 9"/>
          <p:cNvSpPr/>
          <p:nvPr/>
        </p:nvSpPr>
        <p:spPr>
          <a:xfrm>
            <a:off x="4434840" y="3017520"/>
            <a:ext cx="3291840" cy="201168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3246120"/>
            <a:ext cx="2834640" cy="1554480"/>
          </a:xfrm>
          <a:prstGeom prst="rect">
            <a:avLst/>
          </a:prstGeom>
          <a:noFill/>
        </p:spPr>
        <p:txBody>
          <a:bodyPr wrap="square" lIns="0" tIns="0" rIns="0" bIns="0">
            <a:spAutoFit/>
          </a:bodyPr>
          <a:lstStyle/>
          <a:p>
            <a:pPr>
              <a:defRPr sz="1200" b="1">
                <a:solidFill>
                  <a:srgbClr val="666666"/>
                </a:solidFill>
                <a:latin typeface="Arial"/>
              </a:defRPr>
            </a:pPr>
            <a:r>
              <a:t>SCOPE IN 24 HOURS</a:t>
            </a:r>
          </a:p>
          <a:p>
            <a:pPr>
              <a:spcBef>
                <a:spcPts val="1200"/>
              </a:spcBef>
              <a:defRPr sz="1600" b="1">
                <a:solidFill>
                  <a:srgbClr val="111111"/>
                </a:solidFill>
                <a:latin typeface="Arial"/>
              </a:defRPr>
            </a:pPr>
            <a:r>
              <a:t>Return triage only, mock store data.</a:t>
            </a:r>
          </a:p>
        </p:txBody>
      </p:sp>
      <p:sp>
        <p:nvSpPr>
          <p:cNvPr id="12" name="Rectangle 11"/>
          <p:cNvSpPr/>
          <p:nvPr/>
        </p:nvSpPr>
        <p:spPr>
          <a:xfrm>
            <a:off x="7955279" y="3017520"/>
            <a:ext cx="3291840" cy="201168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3246120"/>
            <a:ext cx="2834640" cy="1554480"/>
          </a:xfrm>
          <a:prstGeom prst="rect">
            <a:avLst/>
          </a:prstGeom>
          <a:noFill/>
        </p:spPr>
        <p:txBody>
          <a:bodyPr wrap="square" lIns="0" tIns="0" rIns="0" bIns="0">
            <a:spAutoFit/>
          </a:bodyPr>
          <a:lstStyle/>
          <a:p>
            <a:pPr>
              <a:defRPr sz="1200" b="1">
                <a:solidFill>
                  <a:srgbClr val="666666"/>
                </a:solidFill>
                <a:latin typeface="Arial"/>
              </a:defRPr>
            </a:pPr>
            <a:r>
              <a:t>WHAT IT IS NOT</a:t>
            </a:r>
          </a:p>
          <a:p>
            <a:pPr>
              <a:spcBef>
                <a:spcPts val="1200"/>
              </a:spcBef>
              <a:defRPr sz="1600" b="1">
                <a:solidFill>
                  <a:srgbClr val="111111"/>
                </a:solidFill>
                <a:latin typeface="Arial"/>
              </a:defRPr>
            </a:pPr>
            <a:r>
              <a:t>Another order-status chatbot.</a:t>
            </a:r>
          </a:p>
        </p:txBody>
      </p:sp>
      <p:sp>
        <p:nvSpPr>
          <p:cNvPr id="14" name="Rectangle 13"/>
          <p:cNvSpPr/>
          <p:nvPr/>
        </p:nvSpPr>
        <p:spPr>
          <a:xfrm>
            <a:off x="914400" y="530352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486400"/>
            <a:ext cx="10362895" cy="777240"/>
          </a:xfrm>
          <a:prstGeom prst="rect">
            <a:avLst/>
          </a:prstGeom>
          <a:noFill/>
        </p:spPr>
        <p:txBody>
          <a:bodyPr wrap="square" lIns="0" tIns="0" rIns="0" bIns="0">
            <a:spAutoFit/>
          </a:bodyPr>
          <a:lstStyle/>
          <a:p>
            <a:pPr>
              <a:defRPr sz="1300" b="1">
                <a:solidFill>
                  <a:srgbClr val="0E7C6B"/>
                </a:solidFill>
                <a:latin typeface="Arial"/>
              </a:defRPr>
            </a:pPr>
            <a:r>
              <a:t>CORE PIPELINE:  Video  →  Plan  →  Evidence  →  Verify  →  Approve</a:t>
            </a:r>
          </a:p>
          <a:p>
            <a:pPr>
              <a:spcBef>
                <a:spcPts val="600"/>
              </a:spcBef>
              <a:defRPr sz="1300">
                <a:solidFill>
                  <a:srgbClr val="666666"/>
                </a:solidFill>
                <a:latin typeface="Arial"/>
              </a:defRPr>
            </a:pPr>
            <a:r>
              <a:t>Team Rookie · 3 members · PS-04 submission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46520"/>
            <a:ext cx="10362895" cy="274320"/>
          </a:xfrm>
          <a:prstGeom prst="rect">
            <a:avLst/>
          </a:prstGeom>
          <a:noFill/>
        </p:spPr>
        <p:txBody>
          <a:bodyPr wrap="none" lIns="0" tIns="0" rIns="0" bIns="0">
            <a:spAutoFit/>
          </a:bodyPr>
          <a:lstStyle/>
          <a:p>
            <a:pPr>
              <a:defRPr sz="1100">
                <a:solidFill>
                  <a:srgbClr val="666666"/>
                </a:solidFill>
                <a:latin typeface="Arial"/>
              </a:defRPr>
            </a:pPr>
            <a:r>
              <a:t>ReturnLens · PS-04 · 2/6</a:t>
            </a:r>
          </a:p>
        </p:txBody>
      </p:sp>
      <p:sp>
        <p:nvSpPr>
          <p:cNvPr id="4" name="TextBox 3"/>
          <p:cNvSpPr txBox="1"/>
          <p:nvPr/>
        </p:nvSpPr>
        <p:spPr>
          <a:xfrm>
            <a:off x="914400" y="457200"/>
            <a:ext cx="10362895" cy="320040"/>
          </a:xfrm>
          <a:prstGeom prst="rect">
            <a:avLst/>
          </a:prstGeom>
          <a:noFill/>
        </p:spPr>
        <p:txBody>
          <a:bodyPr wrap="square" lIns="0" tIns="0" rIns="0" bIns="0">
            <a:spAutoFit/>
          </a:bodyPr>
          <a:lstStyle/>
          <a:p>
            <a:pPr>
              <a:defRPr sz="1100" b="1">
                <a:solidFill>
                  <a:srgbClr val="0E7C6B"/>
                </a:solidFill>
                <a:latin typeface="Arial"/>
              </a:defRPr>
            </a:pPr>
            <a:r>
              <a:t>PROBLEM CONTEXT</a:t>
            </a:r>
          </a:p>
        </p:txBody>
      </p:sp>
      <p:sp>
        <p:nvSpPr>
          <p:cNvPr id="5" name="TextBox 4"/>
          <p:cNvSpPr txBox="1"/>
          <p:nvPr/>
        </p:nvSpPr>
        <p:spPr>
          <a:xfrm>
            <a:off x="914400" y="777240"/>
            <a:ext cx="10362895" cy="731520"/>
          </a:xfrm>
          <a:prstGeom prst="rect">
            <a:avLst/>
          </a:prstGeom>
          <a:noFill/>
        </p:spPr>
        <p:txBody>
          <a:bodyPr wrap="square" lIns="0" tIns="0" rIns="0" bIns="0">
            <a:spAutoFit/>
          </a:bodyPr>
          <a:lstStyle/>
          <a:p>
            <a:pPr>
              <a:defRPr sz="2900" b="1">
                <a:solidFill>
                  <a:srgbClr val="111111"/>
                </a:solidFill>
                <a:latin typeface="Arial"/>
              </a:defRPr>
            </a:pPr>
            <a:r>
              <a:t>The return decision is made from memory, before the evidence is checked.</a:t>
            </a:r>
          </a:p>
        </p:txBody>
      </p:sp>
      <p:sp>
        <p:nvSpPr>
          <p:cNvPr id="6" name="Rectangle 5"/>
          <p:cNvSpPr/>
          <p:nvPr/>
        </p:nvSpPr>
        <p:spPr>
          <a:xfrm>
            <a:off x="914400" y="178308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362895" cy="4114800"/>
          </a:xfrm>
          <a:prstGeom prst="rect">
            <a:avLst/>
          </a:prstGeom>
          <a:noFill/>
        </p:spPr>
        <p:txBody>
          <a:bodyPr wrap="square" lIns="0" tIns="0" rIns="0" bIns="0">
            <a:spAutoFit/>
          </a:bodyPr>
          <a:lstStyle/>
          <a:p>
            <a:r>
              <a:rPr sz="1700" b="1">
                <a:solidFill>
                  <a:srgbClr val="111111"/>
                </a:solidFill>
                <a:latin typeface="Arial"/>
              </a:rPr>
              <a:t>—  Today the seller opens many tabs: </a:t>
            </a:r>
            <a:r>
              <a:rPr sz="1600">
                <a:solidFill>
                  <a:srgbClr val="111111"/>
                </a:solidFill>
                <a:latin typeface="Arial"/>
              </a:rPr>
              <a:t>watch the video, check the order, check shipping, remember the SKU and the return window, then decide alone.</a:t>
            </a:r>
          </a:p>
          <a:p>
            <a:pPr>
              <a:spcBef>
                <a:spcPts val="2000"/>
              </a:spcBef>
            </a:pPr>
            <a:r>
              <a:rPr sz="1700" b="1">
                <a:solidFill>
                  <a:srgbClr val="111111"/>
                </a:solidFill>
                <a:latin typeface="Arial"/>
              </a:rPr>
              <a:t>—  A wrong decision costs both ways: </a:t>
            </a:r>
            <a:r>
              <a:rPr sz="1600">
                <a:solidFill>
                  <a:srgbClr val="111111"/>
                </a:solidFill>
                <a:latin typeface="Arial"/>
              </a:rPr>
              <a:t>a wrong refund loses money and stock, an unfair denial loses a repeat customer.</a:t>
            </a:r>
          </a:p>
          <a:p>
            <a:pPr>
              <a:spcBef>
                <a:spcPts val="2000"/>
              </a:spcBef>
            </a:pPr>
            <a:r>
              <a:rPr sz="1700" b="1">
                <a:solidFill>
                  <a:srgbClr val="111111"/>
                </a:solidFill>
                <a:latin typeface="Arial"/>
              </a:rPr>
              <a:t>—  Sourced signal: </a:t>
            </a:r>
            <a:r>
              <a:rPr sz="1550">
                <a:solidFill>
                  <a:srgbClr val="111111"/>
                </a:solidFill>
                <a:latin typeface="Arial"/>
              </a:rPr>
              <a:t>Fraud estimates differ by definition: 9% (NRF 2025, fraud only) vs 15.14% (Appriss/Deloitte 2024, fraud + abuse).</a:t>
            </a:r>
          </a:p>
          <a:p>
            <a:pPr>
              <a:spcBef>
                <a:spcPts val="2000"/>
              </a:spcBef>
            </a:pPr>
            <a:r>
              <a:rPr sz="1700" b="1">
                <a:solidFill>
                  <a:srgbClr val="111111"/>
                </a:solidFill>
                <a:latin typeface="Arial"/>
              </a:rPr>
              <a:t>—  The gap is not a missing returns portal: </a:t>
            </a:r>
            <a:r>
              <a:rPr sz="1600">
                <a:solidFill>
                  <a:srgbClr val="111111"/>
                </a:solidFill>
                <a:latin typeface="Arial"/>
              </a:rPr>
              <a:t>It is that no single record ties order, video frame, policy clause, and decision together.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46520"/>
            <a:ext cx="10362895" cy="274320"/>
          </a:xfrm>
          <a:prstGeom prst="rect">
            <a:avLst/>
          </a:prstGeom>
          <a:noFill/>
        </p:spPr>
        <p:txBody>
          <a:bodyPr wrap="none" lIns="0" tIns="0" rIns="0" bIns="0">
            <a:spAutoFit/>
          </a:bodyPr>
          <a:lstStyle/>
          <a:p>
            <a:pPr>
              <a:defRPr sz="1100">
                <a:solidFill>
                  <a:srgbClr val="666666"/>
                </a:solidFill>
                <a:latin typeface="Arial"/>
              </a:defRPr>
            </a:pPr>
            <a:r>
              <a:t>ReturnLens · PS-04 · 3/6</a:t>
            </a:r>
          </a:p>
        </p:txBody>
      </p:sp>
      <p:sp>
        <p:nvSpPr>
          <p:cNvPr id="4" name="TextBox 3"/>
          <p:cNvSpPr txBox="1"/>
          <p:nvPr/>
        </p:nvSpPr>
        <p:spPr>
          <a:xfrm>
            <a:off x="914400" y="457200"/>
            <a:ext cx="10362895" cy="320040"/>
          </a:xfrm>
          <a:prstGeom prst="rect">
            <a:avLst/>
          </a:prstGeom>
          <a:noFill/>
        </p:spPr>
        <p:txBody>
          <a:bodyPr wrap="square" lIns="0" tIns="0" rIns="0" bIns="0">
            <a:spAutoFit/>
          </a:bodyPr>
          <a:lstStyle/>
          <a:p>
            <a:pPr>
              <a:defRPr sz="1100" b="1">
                <a:solidFill>
                  <a:srgbClr val="0E7C6B"/>
                </a:solidFill>
                <a:latin typeface="Arial"/>
              </a:defRPr>
            </a:pPr>
            <a:r>
              <a:t>END-TO-END WORKFLOW</a:t>
            </a:r>
          </a:p>
        </p:txBody>
      </p:sp>
      <p:sp>
        <p:nvSpPr>
          <p:cNvPr id="5" name="TextBox 4"/>
          <p:cNvSpPr txBox="1"/>
          <p:nvPr/>
        </p:nvSpPr>
        <p:spPr>
          <a:xfrm>
            <a:off x="914400" y="777240"/>
            <a:ext cx="10362895" cy="731520"/>
          </a:xfrm>
          <a:prstGeom prst="rect">
            <a:avLst/>
          </a:prstGeom>
          <a:noFill/>
        </p:spPr>
        <p:txBody>
          <a:bodyPr wrap="square" lIns="0" tIns="0" rIns="0" bIns="0">
            <a:spAutoFit/>
          </a:bodyPr>
          <a:lstStyle/>
          <a:p>
            <a:pPr>
              <a:defRPr sz="3200" b="1">
                <a:solidFill>
                  <a:srgbClr val="111111"/>
                </a:solidFill>
                <a:latin typeface="Arial"/>
              </a:defRPr>
            </a:pPr>
            <a:r>
              <a:t>Verify first. Act only after approval.</a:t>
            </a:r>
          </a:p>
        </p:txBody>
      </p:sp>
      <p:sp>
        <p:nvSpPr>
          <p:cNvPr id="6" name="Rectangle 5"/>
          <p:cNvSpPr/>
          <p:nvPr/>
        </p:nvSpPr>
        <p:spPr>
          <a:xfrm>
            <a:off x="914400" y="178308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103120"/>
            <a:ext cx="1874519" cy="310896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2286000"/>
            <a:ext cx="1581911" cy="2743200"/>
          </a:xfrm>
          <a:prstGeom prst="rect">
            <a:avLst/>
          </a:prstGeom>
          <a:noFill/>
        </p:spPr>
        <p:txBody>
          <a:bodyPr wrap="square" lIns="0" tIns="0" rIns="0" bIns="0">
            <a:spAutoFit/>
          </a:bodyPr>
          <a:lstStyle/>
          <a:p>
            <a:pPr>
              <a:defRPr sz="1500" b="1">
                <a:solidFill>
                  <a:srgbClr val="0E7C6B"/>
                </a:solidFill>
                <a:latin typeface="Arial"/>
              </a:defRPr>
            </a:pPr>
            <a:r>
              <a:t>1. Intake</a:t>
            </a:r>
          </a:p>
          <a:p>
            <a:pPr>
              <a:spcBef>
                <a:spcPts val="1000"/>
              </a:spcBef>
              <a:defRPr sz="1250">
                <a:solidFill>
                  <a:srgbClr val="111111"/>
                </a:solidFill>
                <a:latin typeface="Arial"/>
              </a:defRPr>
            </a:pPr>
            <a:r>
              <a:t>Buyer video, 30-60 seconds, mock web chat</a:t>
            </a:r>
          </a:p>
          <a:p>
            <a:pPr>
              <a:spcBef>
                <a:spcPts val="1200"/>
              </a:spcBef>
              <a:defRPr sz="1050">
                <a:solidFill>
                  <a:srgbClr val="666666"/>
                </a:solidFill>
                <a:latin typeface="Arial"/>
              </a:defRPr>
            </a:pPr>
            <a:r>
              <a:t>Ex: video + order_id + reason</a:t>
            </a:r>
          </a:p>
        </p:txBody>
      </p:sp>
      <p:sp>
        <p:nvSpPr>
          <p:cNvPr id="9" name="TextBox 8"/>
          <p:cNvSpPr txBox="1"/>
          <p:nvPr/>
        </p:nvSpPr>
        <p:spPr>
          <a:xfrm>
            <a:off x="2788919" y="3383280"/>
            <a:ext cx="228600" cy="365760"/>
          </a:xfrm>
          <a:prstGeom prst="rect">
            <a:avLst/>
          </a:prstGeom>
          <a:noFill/>
        </p:spPr>
        <p:txBody>
          <a:bodyPr wrap="none" lIns="0" tIns="0" rIns="0" bIns="0">
            <a:spAutoFit/>
          </a:bodyPr>
          <a:lstStyle/>
          <a:p>
            <a:pPr algn="ctr">
              <a:defRPr sz="1800">
                <a:solidFill>
                  <a:srgbClr val="666666"/>
                </a:solidFill>
                <a:latin typeface="Arial"/>
              </a:defRPr>
            </a:pPr>
            <a:r>
              <a:t>→</a:t>
            </a:r>
          </a:p>
        </p:txBody>
      </p:sp>
      <p:sp>
        <p:nvSpPr>
          <p:cNvPr id="10" name="Rectangle 9"/>
          <p:cNvSpPr/>
          <p:nvPr/>
        </p:nvSpPr>
        <p:spPr>
          <a:xfrm>
            <a:off x="3017520" y="2103120"/>
            <a:ext cx="1874519" cy="310896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63824" y="2286000"/>
            <a:ext cx="1581911" cy="2743200"/>
          </a:xfrm>
          <a:prstGeom prst="rect">
            <a:avLst/>
          </a:prstGeom>
          <a:noFill/>
        </p:spPr>
        <p:txBody>
          <a:bodyPr wrap="square" lIns="0" tIns="0" rIns="0" bIns="0">
            <a:spAutoFit/>
          </a:bodyPr>
          <a:lstStyle/>
          <a:p>
            <a:pPr>
              <a:defRPr sz="1500" b="1">
                <a:solidFill>
                  <a:srgbClr val="0E7C6B"/>
                </a:solidFill>
                <a:latin typeface="Arial"/>
              </a:defRPr>
            </a:pPr>
            <a:r>
              <a:t>2. Plan</a:t>
            </a:r>
          </a:p>
          <a:p>
            <a:pPr>
              <a:spcBef>
                <a:spcPts val="1000"/>
              </a:spcBef>
              <a:defRPr sz="1250">
                <a:solidFill>
                  <a:srgbClr val="111111"/>
                </a:solidFill>
                <a:latin typeface="Arial"/>
              </a:defRPr>
            </a:pPr>
            <a:r>
              <a:t>Typed plan, schema-validated</a:t>
            </a:r>
          </a:p>
          <a:p>
            <a:pPr>
              <a:spcBef>
                <a:spcPts val="1200"/>
              </a:spcBef>
              <a:defRPr sz="1050">
                <a:solidFill>
                  <a:srgbClr val="666666"/>
                </a:solidFill>
                <a:latin typeface="Arial"/>
              </a:defRPr>
            </a:pPr>
            <a:r>
              <a:t>Ex: typed JSON, requires_seller_approval: true</a:t>
            </a:r>
          </a:p>
        </p:txBody>
      </p:sp>
      <p:sp>
        <p:nvSpPr>
          <p:cNvPr id="12" name="TextBox 11"/>
          <p:cNvSpPr txBox="1"/>
          <p:nvPr/>
        </p:nvSpPr>
        <p:spPr>
          <a:xfrm>
            <a:off x="4892039" y="3383280"/>
            <a:ext cx="228600" cy="365760"/>
          </a:xfrm>
          <a:prstGeom prst="rect">
            <a:avLst/>
          </a:prstGeom>
          <a:noFill/>
        </p:spPr>
        <p:txBody>
          <a:bodyPr wrap="none" lIns="0" tIns="0" rIns="0" bIns="0">
            <a:spAutoFit/>
          </a:bodyPr>
          <a:lstStyle/>
          <a:p>
            <a:pPr algn="ctr">
              <a:defRPr sz="1800">
                <a:solidFill>
                  <a:srgbClr val="666666"/>
                </a:solidFill>
                <a:latin typeface="Arial"/>
              </a:defRPr>
            </a:pPr>
            <a:r>
              <a:t>→</a:t>
            </a:r>
          </a:p>
        </p:txBody>
      </p:sp>
      <p:sp>
        <p:nvSpPr>
          <p:cNvPr id="13" name="Rectangle 12"/>
          <p:cNvSpPr/>
          <p:nvPr/>
        </p:nvSpPr>
        <p:spPr>
          <a:xfrm>
            <a:off x="5120640" y="2103120"/>
            <a:ext cx="1874519" cy="310896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66944" y="2286000"/>
            <a:ext cx="1581911" cy="2743200"/>
          </a:xfrm>
          <a:prstGeom prst="rect">
            <a:avLst/>
          </a:prstGeom>
          <a:noFill/>
        </p:spPr>
        <p:txBody>
          <a:bodyPr wrap="square" lIns="0" tIns="0" rIns="0" bIns="0">
            <a:spAutoFit/>
          </a:bodyPr>
          <a:lstStyle/>
          <a:p>
            <a:pPr>
              <a:defRPr sz="1500" b="1">
                <a:solidFill>
                  <a:srgbClr val="0E7C6B"/>
                </a:solidFill>
                <a:latin typeface="Arial"/>
              </a:defRPr>
            </a:pPr>
            <a:r>
              <a:t>3. Evidence</a:t>
            </a:r>
          </a:p>
          <a:p>
            <a:pPr>
              <a:spcBef>
                <a:spcPts val="1000"/>
              </a:spcBef>
              <a:defRPr sz="1250">
                <a:solidFill>
                  <a:srgbClr val="111111"/>
                </a:solidFill>
                <a:latin typeface="Arial"/>
              </a:defRPr>
            </a:pPr>
            <a:r>
              <a:t>Mock order &amp; shipping APIs, plus timestamped video frames</a:t>
            </a:r>
          </a:p>
          <a:p>
            <a:pPr>
              <a:spcBef>
                <a:spcPts val="1200"/>
              </a:spcBef>
              <a:defRPr sz="1050">
                <a:solidFill>
                  <a:srgbClr val="666666"/>
                </a:solidFill>
                <a:latin typeface="Arial"/>
              </a:defRPr>
            </a:pPr>
            <a:r>
              <a:t>Ex: order, shipping, frame 00:07</a:t>
            </a:r>
          </a:p>
        </p:txBody>
      </p:sp>
      <p:sp>
        <p:nvSpPr>
          <p:cNvPr id="15" name="TextBox 14"/>
          <p:cNvSpPr txBox="1"/>
          <p:nvPr/>
        </p:nvSpPr>
        <p:spPr>
          <a:xfrm>
            <a:off x="6995159" y="3383280"/>
            <a:ext cx="228600" cy="365760"/>
          </a:xfrm>
          <a:prstGeom prst="rect">
            <a:avLst/>
          </a:prstGeom>
          <a:noFill/>
        </p:spPr>
        <p:txBody>
          <a:bodyPr wrap="none" lIns="0" tIns="0" rIns="0" bIns="0">
            <a:spAutoFit/>
          </a:bodyPr>
          <a:lstStyle/>
          <a:p>
            <a:pPr algn="ctr">
              <a:defRPr sz="1800">
                <a:solidFill>
                  <a:srgbClr val="666666"/>
                </a:solidFill>
                <a:latin typeface="Arial"/>
              </a:defRPr>
            </a:pPr>
            <a:r>
              <a:t>→</a:t>
            </a:r>
          </a:p>
        </p:txBody>
      </p:sp>
      <p:sp>
        <p:nvSpPr>
          <p:cNvPr id="16" name="Rectangle 15"/>
          <p:cNvSpPr/>
          <p:nvPr/>
        </p:nvSpPr>
        <p:spPr>
          <a:xfrm>
            <a:off x="7223759" y="2103120"/>
            <a:ext cx="1874519" cy="310896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70063" y="2286000"/>
            <a:ext cx="1581911" cy="2743200"/>
          </a:xfrm>
          <a:prstGeom prst="rect">
            <a:avLst/>
          </a:prstGeom>
          <a:noFill/>
        </p:spPr>
        <p:txBody>
          <a:bodyPr wrap="square" lIns="0" tIns="0" rIns="0" bIns="0">
            <a:spAutoFit/>
          </a:bodyPr>
          <a:lstStyle/>
          <a:p>
            <a:pPr>
              <a:defRPr sz="1500" b="1">
                <a:solidFill>
                  <a:srgbClr val="0E7C6B"/>
                </a:solidFill>
                <a:latin typeface="Arial"/>
              </a:defRPr>
            </a:pPr>
            <a:r>
              <a:t>4. Verify</a:t>
            </a:r>
          </a:p>
          <a:p>
            <a:pPr>
              <a:spcBef>
                <a:spcPts val="1000"/>
              </a:spcBef>
              <a:defRPr sz="1250">
                <a:solidFill>
                  <a:srgbClr val="111111"/>
                </a:solidFill>
                <a:latin typeface="Arial"/>
              </a:defRPr>
            </a:pPr>
            <a:r>
              <a:t>Deterministic policy in code, plus an independent critic</a:t>
            </a:r>
          </a:p>
          <a:p>
            <a:pPr>
              <a:spcBef>
                <a:spcPts val="1200"/>
              </a:spcBef>
              <a:defRPr sz="1050">
                <a:solidFill>
                  <a:srgbClr val="666666"/>
                </a:solidFill>
                <a:latin typeface="Arial"/>
              </a:defRPr>
            </a:pPr>
            <a:r>
              <a:t>Ex: P-01 to P-08, critic veto only</a:t>
            </a:r>
          </a:p>
        </p:txBody>
      </p:sp>
      <p:sp>
        <p:nvSpPr>
          <p:cNvPr id="18" name="TextBox 17"/>
          <p:cNvSpPr txBox="1"/>
          <p:nvPr/>
        </p:nvSpPr>
        <p:spPr>
          <a:xfrm>
            <a:off x="9098278" y="3383280"/>
            <a:ext cx="228600" cy="365760"/>
          </a:xfrm>
          <a:prstGeom prst="rect">
            <a:avLst/>
          </a:prstGeom>
          <a:noFill/>
        </p:spPr>
        <p:txBody>
          <a:bodyPr wrap="none" lIns="0" tIns="0" rIns="0" bIns="0">
            <a:spAutoFit/>
          </a:bodyPr>
          <a:lstStyle/>
          <a:p>
            <a:pPr algn="ctr">
              <a:defRPr sz="1800">
                <a:solidFill>
                  <a:srgbClr val="666666"/>
                </a:solidFill>
                <a:latin typeface="Arial"/>
              </a:defRPr>
            </a:pPr>
            <a:r>
              <a:t>→</a:t>
            </a:r>
          </a:p>
        </p:txBody>
      </p:sp>
      <p:sp>
        <p:nvSpPr>
          <p:cNvPr id="19" name="Rectangle 18"/>
          <p:cNvSpPr/>
          <p:nvPr/>
        </p:nvSpPr>
        <p:spPr>
          <a:xfrm>
            <a:off x="9326880" y="2103120"/>
            <a:ext cx="1874519" cy="310896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3184" y="2286000"/>
            <a:ext cx="1581911" cy="2743200"/>
          </a:xfrm>
          <a:prstGeom prst="rect">
            <a:avLst/>
          </a:prstGeom>
          <a:noFill/>
        </p:spPr>
        <p:txBody>
          <a:bodyPr wrap="square" lIns="0" tIns="0" rIns="0" bIns="0">
            <a:spAutoFit/>
          </a:bodyPr>
          <a:lstStyle/>
          <a:p>
            <a:pPr>
              <a:defRPr sz="1500" b="1">
                <a:solidFill>
                  <a:srgbClr val="0E7C6B"/>
                </a:solidFill>
                <a:latin typeface="Arial"/>
              </a:defRPr>
            </a:pPr>
            <a:r>
              <a:t>5. Decide</a:t>
            </a:r>
          </a:p>
          <a:p>
            <a:pPr>
              <a:spcBef>
                <a:spcPts val="1000"/>
              </a:spcBef>
              <a:defRPr sz="1250">
                <a:solidFill>
                  <a:srgbClr val="111111"/>
                </a:solidFill>
                <a:latin typeface="Arial"/>
              </a:defRPr>
            </a:pPr>
            <a:r>
              <a:t>Seller approves in one click, or the case escalates</a:t>
            </a:r>
          </a:p>
          <a:p>
            <a:pPr>
              <a:spcBef>
                <a:spcPts val="1200"/>
              </a:spcBef>
              <a:defRPr sz="1050">
                <a:solidFill>
                  <a:srgbClr val="666666"/>
                </a:solidFill>
                <a:latin typeface="Arial"/>
              </a:defRPr>
            </a:pPr>
            <a:r>
              <a:t>Ex: label + draft pending, or escalate</a:t>
            </a:r>
          </a:p>
        </p:txBody>
      </p:sp>
      <p:sp>
        <p:nvSpPr>
          <p:cNvPr id="21" name="Rectangle 20"/>
          <p:cNvSpPr/>
          <p:nvPr/>
        </p:nvSpPr>
        <p:spPr>
          <a:xfrm>
            <a:off x="914400" y="548640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669280"/>
            <a:ext cx="10362895" cy="548640"/>
          </a:xfrm>
          <a:prstGeom prst="rect">
            <a:avLst/>
          </a:prstGeom>
          <a:noFill/>
        </p:spPr>
        <p:txBody>
          <a:bodyPr wrap="square" lIns="0" tIns="0" rIns="0" bIns="0">
            <a:spAutoFit/>
          </a:bodyPr>
          <a:lstStyle/>
          <a:p>
            <a:pPr>
              <a:defRPr sz="1300">
                <a:solidFill>
                  <a:srgbClr val="666666"/>
                </a:solidFill>
                <a:latin typeface="Arial"/>
              </a:defRPr>
            </a:pPr>
            <a:r>
              <a:t>Returns only in 24 hours. Plus one tiny order-status route for PS-04 fit: ask order, call order and shipping APIs, return a grounded status.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46520"/>
            <a:ext cx="10362895" cy="274320"/>
          </a:xfrm>
          <a:prstGeom prst="rect">
            <a:avLst/>
          </a:prstGeom>
          <a:noFill/>
        </p:spPr>
        <p:txBody>
          <a:bodyPr wrap="none" lIns="0" tIns="0" rIns="0" bIns="0">
            <a:spAutoFit/>
          </a:bodyPr>
          <a:lstStyle/>
          <a:p>
            <a:pPr>
              <a:defRPr sz="1100">
                <a:solidFill>
                  <a:srgbClr val="666666"/>
                </a:solidFill>
                <a:latin typeface="Arial"/>
              </a:defRPr>
            </a:pPr>
            <a:r>
              <a:t>ReturnLens · PS-04 · 4/6</a:t>
            </a:r>
          </a:p>
        </p:txBody>
      </p:sp>
      <p:sp>
        <p:nvSpPr>
          <p:cNvPr id="4" name="TextBox 3"/>
          <p:cNvSpPr txBox="1"/>
          <p:nvPr/>
        </p:nvSpPr>
        <p:spPr>
          <a:xfrm>
            <a:off x="914400" y="457200"/>
            <a:ext cx="10362895" cy="320040"/>
          </a:xfrm>
          <a:prstGeom prst="rect">
            <a:avLst/>
          </a:prstGeom>
          <a:noFill/>
        </p:spPr>
        <p:txBody>
          <a:bodyPr wrap="square" lIns="0" tIns="0" rIns="0" bIns="0">
            <a:spAutoFit/>
          </a:bodyPr>
          <a:lstStyle/>
          <a:p>
            <a:pPr>
              <a:defRPr sz="1100" b="1">
                <a:solidFill>
                  <a:srgbClr val="0E7C6B"/>
                </a:solidFill>
                <a:latin typeface="Arial"/>
              </a:defRPr>
            </a:pPr>
            <a:r>
              <a:t>SYSTEM ARCHITECTURE</a:t>
            </a:r>
          </a:p>
        </p:txBody>
      </p:sp>
      <p:sp>
        <p:nvSpPr>
          <p:cNvPr id="5" name="TextBox 4"/>
          <p:cNvSpPr txBox="1"/>
          <p:nvPr/>
        </p:nvSpPr>
        <p:spPr>
          <a:xfrm>
            <a:off x="914400" y="777240"/>
            <a:ext cx="10362895" cy="731520"/>
          </a:xfrm>
          <a:prstGeom prst="rect">
            <a:avLst/>
          </a:prstGeom>
          <a:noFill/>
        </p:spPr>
        <p:txBody>
          <a:bodyPr wrap="square" lIns="0" tIns="0" rIns="0" bIns="0">
            <a:spAutoFit/>
          </a:bodyPr>
          <a:lstStyle/>
          <a:p>
            <a:pPr>
              <a:defRPr sz="3000" b="1">
                <a:solidFill>
                  <a:srgbClr val="111111"/>
                </a:solidFill>
                <a:latin typeface="Arial"/>
              </a:defRPr>
            </a:pPr>
            <a:r>
              <a:t>Policy checks and seller approval control actions</a:t>
            </a:r>
          </a:p>
        </p:txBody>
      </p:sp>
      <p:sp>
        <p:nvSpPr>
          <p:cNvPr id="6" name="Rectangle 5"/>
          <p:cNvSpPr/>
          <p:nvPr/>
        </p:nvSpPr>
        <p:spPr>
          <a:xfrm>
            <a:off x="914400" y="160020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783080"/>
            <a:ext cx="1463040" cy="45720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20"/>
            <a:ext cx="1463040" cy="292608"/>
          </a:xfrm>
          <a:prstGeom prst="rect">
            <a:avLst/>
          </a:prstGeom>
          <a:noFill/>
        </p:spPr>
        <p:txBody>
          <a:bodyPr wrap="none" lIns="0" tIns="0" rIns="0" bIns="0">
            <a:spAutoFit/>
          </a:bodyPr>
          <a:lstStyle/>
          <a:p>
            <a:pPr algn="ctr">
              <a:defRPr sz="1150" b="1">
                <a:solidFill>
                  <a:srgbClr val="111111"/>
                </a:solidFill>
                <a:latin typeface="Arial"/>
              </a:defRPr>
            </a:pPr>
            <a:r>
              <a:t>Planner</a:t>
            </a:r>
          </a:p>
        </p:txBody>
      </p:sp>
      <p:sp>
        <p:nvSpPr>
          <p:cNvPr id="9" name="TextBox 8"/>
          <p:cNvSpPr txBox="1"/>
          <p:nvPr/>
        </p:nvSpPr>
        <p:spPr>
          <a:xfrm>
            <a:off x="2377440" y="1837944"/>
            <a:ext cx="310896" cy="320040"/>
          </a:xfrm>
          <a:prstGeom prst="rect">
            <a:avLst/>
          </a:prstGeom>
          <a:noFill/>
        </p:spPr>
        <p:txBody>
          <a:bodyPr wrap="none" lIns="0" tIns="0" rIns="0" bIns="0">
            <a:spAutoFit/>
          </a:bodyPr>
          <a:lstStyle/>
          <a:p>
            <a:pPr algn="ctr">
              <a:defRPr sz="1400">
                <a:solidFill>
                  <a:srgbClr val="666666"/>
                </a:solidFill>
                <a:latin typeface="Arial"/>
              </a:defRPr>
            </a:pPr>
            <a:r>
              <a:t>→</a:t>
            </a:r>
          </a:p>
        </p:txBody>
      </p:sp>
      <p:sp>
        <p:nvSpPr>
          <p:cNvPr id="10" name="Rectangle 9"/>
          <p:cNvSpPr/>
          <p:nvPr/>
        </p:nvSpPr>
        <p:spPr>
          <a:xfrm>
            <a:off x="2688336" y="1783080"/>
            <a:ext cx="1463040" cy="45720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88336" y="1874520"/>
            <a:ext cx="1463040" cy="292608"/>
          </a:xfrm>
          <a:prstGeom prst="rect">
            <a:avLst/>
          </a:prstGeom>
          <a:noFill/>
        </p:spPr>
        <p:txBody>
          <a:bodyPr wrap="none" lIns="0" tIns="0" rIns="0" bIns="0">
            <a:spAutoFit/>
          </a:bodyPr>
          <a:lstStyle/>
          <a:p>
            <a:pPr algn="ctr">
              <a:defRPr sz="1150" b="1">
                <a:solidFill>
                  <a:srgbClr val="111111"/>
                </a:solidFill>
                <a:latin typeface="Arial"/>
              </a:defRPr>
            </a:pPr>
            <a:r>
              <a:t>Tools</a:t>
            </a:r>
          </a:p>
        </p:txBody>
      </p:sp>
      <p:sp>
        <p:nvSpPr>
          <p:cNvPr id="12" name="TextBox 11"/>
          <p:cNvSpPr txBox="1"/>
          <p:nvPr/>
        </p:nvSpPr>
        <p:spPr>
          <a:xfrm>
            <a:off x="4151376" y="1837944"/>
            <a:ext cx="310896" cy="320040"/>
          </a:xfrm>
          <a:prstGeom prst="rect">
            <a:avLst/>
          </a:prstGeom>
          <a:noFill/>
        </p:spPr>
        <p:txBody>
          <a:bodyPr wrap="none" lIns="0" tIns="0" rIns="0" bIns="0">
            <a:spAutoFit/>
          </a:bodyPr>
          <a:lstStyle/>
          <a:p>
            <a:pPr algn="ctr">
              <a:defRPr sz="1400">
                <a:solidFill>
                  <a:srgbClr val="666666"/>
                </a:solidFill>
                <a:latin typeface="Arial"/>
              </a:defRPr>
            </a:pPr>
            <a:r>
              <a:t>→</a:t>
            </a:r>
          </a:p>
        </p:txBody>
      </p:sp>
      <p:sp>
        <p:nvSpPr>
          <p:cNvPr id="13" name="Rectangle 12"/>
          <p:cNvSpPr/>
          <p:nvPr/>
        </p:nvSpPr>
        <p:spPr>
          <a:xfrm>
            <a:off x="4462272" y="1783080"/>
            <a:ext cx="1463040" cy="457200"/>
          </a:xfrm>
          <a:prstGeom prst="rect">
            <a:avLst/>
          </a:prstGeom>
          <a:solidFill>
            <a:srgbClr val="F7F7F5"/>
          </a:solidFill>
          <a:ln w="19050">
            <a:solidFill>
              <a:srgbClr val="0E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1874520"/>
            <a:ext cx="1463040" cy="292608"/>
          </a:xfrm>
          <a:prstGeom prst="rect">
            <a:avLst/>
          </a:prstGeom>
          <a:noFill/>
        </p:spPr>
        <p:txBody>
          <a:bodyPr wrap="none" lIns="0" tIns="0" rIns="0" bIns="0">
            <a:spAutoFit/>
          </a:bodyPr>
          <a:lstStyle/>
          <a:p>
            <a:pPr algn="ctr">
              <a:defRPr sz="1150" b="1">
                <a:solidFill>
                  <a:srgbClr val="0E7C6B"/>
                </a:solidFill>
                <a:latin typeface="Arial"/>
              </a:defRPr>
            </a:pPr>
            <a:r>
              <a:t>Policy engine</a:t>
            </a:r>
          </a:p>
        </p:txBody>
      </p:sp>
      <p:sp>
        <p:nvSpPr>
          <p:cNvPr id="15" name="TextBox 14"/>
          <p:cNvSpPr txBox="1"/>
          <p:nvPr/>
        </p:nvSpPr>
        <p:spPr>
          <a:xfrm>
            <a:off x="5925312" y="1837944"/>
            <a:ext cx="310896" cy="320040"/>
          </a:xfrm>
          <a:prstGeom prst="rect">
            <a:avLst/>
          </a:prstGeom>
          <a:noFill/>
        </p:spPr>
        <p:txBody>
          <a:bodyPr wrap="none" lIns="0" tIns="0" rIns="0" bIns="0">
            <a:spAutoFit/>
          </a:bodyPr>
          <a:lstStyle/>
          <a:p>
            <a:pPr algn="ctr">
              <a:defRPr sz="1400">
                <a:solidFill>
                  <a:srgbClr val="666666"/>
                </a:solidFill>
                <a:latin typeface="Arial"/>
              </a:defRPr>
            </a:pPr>
            <a:r>
              <a:t>→</a:t>
            </a:r>
          </a:p>
        </p:txBody>
      </p:sp>
      <p:sp>
        <p:nvSpPr>
          <p:cNvPr id="16" name="Rectangle 15"/>
          <p:cNvSpPr/>
          <p:nvPr/>
        </p:nvSpPr>
        <p:spPr>
          <a:xfrm>
            <a:off x="6236208" y="1783080"/>
            <a:ext cx="1463040" cy="45720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8" y="1874520"/>
            <a:ext cx="1463040" cy="292608"/>
          </a:xfrm>
          <a:prstGeom prst="rect">
            <a:avLst/>
          </a:prstGeom>
          <a:noFill/>
        </p:spPr>
        <p:txBody>
          <a:bodyPr wrap="none" lIns="0" tIns="0" rIns="0" bIns="0">
            <a:spAutoFit/>
          </a:bodyPr>
          <a:lstStyle/>
          <a:p>
            <a:pPr algn="ctr">
              <a:defRPr sz="1150" b="1">
                <a:solidFill>
                  <a:srgbClr val="111111"/>
                </a:solidFill>
                <a:latin typeface="Arial"/>
              </a:defRPr>
            </a:pPr>
            <a:r>
              <a:t>Critic</a:t>
            </a:r>
          </a:p>
        </p:txBody>
      </p:sp>
      <p:sp>
        <p:nvSpPr>
          <p:cNvPr id="18" name="TextBox 17"/>
          <p:cNvSpPr txBox="1"/>
          <p:nvPr/>
        </p:nvSpPr>
        <p:spPr>
          <a:xfrm>
            <a:off x="7699248" y="1837944"/>
            <a:ext cx="310896" cy="320040"/>
          </a:xfrm>
          <a:prstGeom prst="rect">
            <a:avLst/>
          </a:prstGeom>
          <a:noFill/>
        </p:spPr>
        <p:txBody>
          <a:bodyPr wrap="none" lIns="0" tIns="0" rIns="0" bIns="0">
            <a:spAutoFit/>
          </a:bodyPr>
          <a:lstStyle/>
          <a:p>
            <a:pPr algn="ctr">
              <a:defRPr sz="1400">
                <a:solidFill>
                  <a:srgbClr val="666666"/>
                </a:solidFill>
                <a:latin typeface="Arial"/>
              </a:defRPr>
            </a:pPr>
            <a:r>
              <a:t>→</a:t>
            </a:r>
          </a:p>
        </p:txBody>
      </p:sp>
      <p:sp>
        <p:nvSpPr>
          <p:cNvPr id="19" name="Rectangle 18"/>
          <p:cNvSpPr/>
          <p:nvPr/>
        </p:nvSpPr>
        <p:spPr>
          <a:xfrm>
            <a:off x="8010144" y="1783080"/>
            <a:ext cx="1463040" cy="457200"/>
          </a:xfrm>
          <a:prstGeom prst="rect">
            <a:avLst/>
          </a:prstGeom>
          <a:solidFill>
            <a:srgbClr val="F7F7F5"/>
          </a:solidFill>
          <a:ln w="19050">
            <a:solidFill>
              <a:srgbClr val="0E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10144" y="1874520"/>
            <a:ext cx="1463040" cy="292608"/>
          </a:xfrm>
          <a:prstGeom prst="rect">
            <a:avLst/>
          </a:prstGeom>
          <a:noFill/>
        </p:spPr>
        <p:txBody>
          <a:bodyPr wrap="none" lIns="0" tIns="0" rIns="0" bIns="0">
            <a:spAutoFit/>
          </a:bodyPr>
          <a:lstStyle/>
          <a:p>
            <a:pPr algn="ctr">
              <a:defRPr sz="1150" b="1">
                <a:solidFill>
                  <a:srgbClr val="0E7C6B"/>
                </a:solidFill>
                <a:latin typeface="Arial"/>
              </a:defRPr>
            </a:pPr>
            <a:r>
              <a:t>Seller gate</a:t>
            </a:r>
          </a:p>
        </p:txBody>
      </p:sp>
      <p:sp>
        <p:nvSpPr>
          <p:cNvPr id="21" name="TextBox 20"/>
          <p:cNvSpPr txBox="1"/>
          <p:nvPr/>
        </p:nvSpPr>
        <p:spPr>
          <a:xfrm>
            <a:off x="9473184" y="1837944"/>
            <a:ext cx="310896" cy="320040"/>
          </a:xfrm>
          <a:prstGeom prst="rect">
            <a:avLst/>
          </a:prstGeom>
          <a:noFill/>
        </p:spPr>
        <p:txBody>
          <a:bodyPr wrap="none" lIns="0" tIns="0" rIns="0" bIns="0">
            <a:spAutoFit/>
          </a:bodyPr>
          <a:lstStyle/>
          <a:p>
            <a:pPr algn="ctr">
              <a:defRPr sz="1400">
                <a:solidFill>
                  <a:srgbClr val="666666"/>
                </a:solidFill>
                <a:latin typeface="Arial"/>
              </a:defRPr>
            </a:pPr>
            <a:r>
              <a:t>→</a:t>
            </a:r>
          </a:p>
        </p:txBody>
      </p:sp>
      <p:sp>
        <p:nvSpPr>
          <p:cNvPr id="22" name="Rectangle 21"/>
          <p:cNvSpPr/>
          <p:nvPr/>
        </p:nvSpPr>
        <p:spPr>
          <a:xfrm>
            <a:off x="9784080" y="1783080"/>
            <a:ext cx="1463040" cy="45720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1874520"/>
            <a:ext cx="1463040" cy="292608"/>
          </a:xfrm>
          <a:prstGeom prst="rect">
            <a:avLst/>
          </a:prstGeom>
          <a:noFill/>
        </p:spPr>
        <p:txBody>
          <a:bodyPr wrap="none" lIns="0" tIns="0" rIns="0" bIns="0">
            <a:spAutoFit/>
          </a:bodyPr>
          <a:lstStyle/>
          <a:p>
            <a:pPr algn="ctr">
              <a:defRPr sz="1150" b="1">
                <a:solidFill>
                  <a:srgbClr val="111111"/>
                </a:solidFill>
                <a:latin typeface="Arial"/>
              </a:defRPr>
            </a:pPr>
            <a:r>
              <a:t>Audit log</a:t>
            </a:r>
          </a:p>
        </p:txBody>
      </p:sp>
      <p:sp>
        <p:nvSpPr>
          <p:cNvPr id="24" name="Rectangle 23"/>
          <p:cNvSpPr/>
          <p:nvPr/>
        </p:nvSpPr>
        <p:spPr>
          <a:xfrm>
            <a:off x="914400" y="242316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606040"/>
            <a:ext cx="4937760" cy="2926080"/>
          </a:xfrm>
          <a:prstGeom prst="rect">
            <a:avLst/>
          </a:prstGeom>
          <a:noFill/>
        </p:spPr>
        <p:txBody>
          <a:bodyPr wrap="square" lIns="0" tIns="0" rIns="0" bIns="0">
            <a:spAutoFit/>
          </a:bodyPr>
          <a:lstStyle/>
          <a:p>
            <a:r>
              <a:rPr sz="1250" b="1">
                <a:solidFill>
                  <a:srgbClr val="111111"/>
                </a:solidFill>
                <a:latin typeface="Arial"/>
              </a:rPr>
              <a:t>• Tools: </a:t>
            </a:r>
            <a:r>
              <a:rPr sz="1200">
                <a:solidFill>
                  <a:srgbClr val="111111"/>
                </a:solidFill>
                <a:latin typeface="Arial"/>
              </a:rPr>
              <a:t>Mock store API, mock shipping API, video indexer.</a:t>
            </a:r>
          </a:p>
          <a:p>
            <a:pPr>
              <a:spcBef>
                <a:spcPts val="1000"/>
              </a:spcBef>
            </a:pPr>
            <a:r>
              <a:rPr sz="1250" b="1">
                <a:solidFill>
                  <a:srgbClr val="111111"/>
                </a:solidFill>
                <a:latin typeface="Arial"/>
              </a:rPr>
              <a:t>• Policy clauses: </a:t>
            </a:r>
            <a:r>
              <a:rPr sz="1200">
                <a:solidFill>
                  <a:srgbClr val="111111"/>
                </a:solidFill>
                <a:latin typeface="Arial"/>
              </a:rPr>
              <a:t>Delivered, within 7 days, exact SKU match, tag if required, defect visible with a frame if claimed, video quality gates, refund cap, no contradiction.</a:t>
            </a:r>
          </a:p>
          <a:p>
            <a:pPr>
              <a:spcBef>
                <a:spcPts val="1000"/>
              </a:spcBef>
            </a:pPr>
            <a:r>
              <a:rPr sz="1250" b="1">
                <a:solidFill>
                  <a:srgbClr val="111111"/>
                </a:solidFill>
                <a:latin typeface="Arial"/>
              </a:rPr>
              <a:t>• Model calls: </a:t>
            </a:r>
            <a:r>
              <a:rPr sz="1200">
                <a:solidFill>
                  <a:srgbClr val="111111"/>
                </a:solidFill>
                <a:latin typeface="Arial"/>
              </a:rPr>
              <a:t>Exactly 3 base calls per case (planner, vision, critic) plus retries.</a:t>
            </a:r>
          </a:p>
        </p:txBody>
      </p:sp>
      <p:sp>
        <p:nvSpPr>
          <p:cNvPr id="26" name="TextBox 25"/>
          <p:cNvSpPr txBox="1"/>
          <p:nvPr/>
        </p:nvSpPr>
        <p:spPr>
          <a:xfrm>
            <a:off x="6217920" y="2606040"/>
            <a:ext cx="5029200" cy="2926080"/>
          </a:xfrm>
          <a:prstGeom prst="rect">
            <a:avLst/>
          </a:prstGeom>
          <a:noFill/>
        </p:spPr>
        <p:txBody>
          <a:bodyPr wrap="square" lIns="0" tIns="0" rIns="0" bIns="0">
            <a:spAutoFit/>
          </a:bodyPr>
          <a:lstStyle/>
          <a:p>
            <a:r>
              <a:rPr sz="1250" b="1">
                <a:solidFill>
                  <a:srgbClr val="111111"/>
                </a:solidFill>
                <a:latin typeface="Arial"/>
              </a:rPr>
              <a:t>• Frames: </a:t>
            </a:r>
            <a:r>
              <a:rPr sz="1200">
                <a:solidFill>
                  <a:srgbClr val="111111"/>
                </a:solidFill>
                <a:latin typeface="Arial"/>
              </a:rPr>
              <a:t>Server-generated frame list with frame_id, timestamp, video hash, and frame hash. The model may only cite frames it was given.</a:t>
            </a:r>
          </a:p>
          <a:p>
            <a:pPr>
              <a:spcBef>
                <a:spcPts val="800"/>
              </a:spcBef>
            </a:pPr>
            <a:r>
              <a:rPr sz="1250" b="1">
                <a:solidFill>
                  <a:srgbClr val="111111"/>
                </a:solidFill>
                <a:latin typeface="Arial"/>
              </a:rPr>
              <a:t>• Critic: </a:t>
            </a:r>
            <a:r>
              <a:rPr sz="1200">
                <a:solidFill>
                  <a:srgbClr val="111111"/>
                </a:solidFill>
                <a:latin typeface="Arial"/>
              </a:rPr>
              <a:t>The critic reviews cited frames and flags unsupported observations.</a:t>
            </a:r>
          </a:p>
          <a:p>
            <a:pPr>
              <a:spcBef>
                <a:spcPts val="800"/>
              </a:spcBef>
            </a:pPr>
            <a:r>
              <a:rPr sz="1250" b="1">
                <a:solidFill>
                  <a:srgbClr val="111111"/>
                </a:solidFill>
                <a:latin typeface="Arial"/>
              </a:rPr>
              <a:t>• Fail-closed rule: </a:t>
            </a:r>
            <a:r>
              <a:rPr sz="1200">
                <a:solidFill>
                  <a:srgbClr val="111111"/>
                </a:solidFill>
                <a:latin typeface="Arial"/>
              </a:rPr>
              <a:t>Weak evidence escalates. Never auto-deny. Never auto-refund.</a:t>
            </a:r>
          </a:p>
          <a:p>
            <a:pPr>
              <a:spcBef>
                <a:spcPts val="800"/>
              </a:spcBef>
            </a:pPr>
            <a:r>
              <a:rPr sz="1250" b="1">
                <a:solidFill>
                  <a:srgbClr val="111111"/>
                </a:solidFill>
                <a:latin typeface="Arial"/>
              </a:rPr>
              <a:t>• Injection limit (honest): </a:t>
            </a:r>
            <a:r>
              <a:rPr sz="1200">
                <a:solidFill>
                  <a:srgbClr val="111111"/>
                </a:solidFill>
                <a:latin typeface="Arial"/>
              </a:rPr>
              <a:t>Injection cannot change the law, exceed the server cap, or execute an action alone, but it can change an observation field, so the seller must check the frames in the evidence pack.</a:t>
            </a:r>
          </a:p>
        </p:txBody>
      </p:sp>
      <p:sp>
        <p:nvSpPr>
          <p:cNvPr id="27" name="Rectangle 26"/>
          <p:cNvSpPr/>
          <p:nvPr/>
        </p:nvSpPr>
        <p:spPr>
          <a:xfrm>
            <a:off x="914400" y="557784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4400" y="5715000"/>
            <a:ext cx="10362895" cy="502920"/>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806440"/>
            <a:ext cx="10058400" cy="365760"/>
          </a:xfrm>
          <a:prstGeom prst="rect">
            <a:avLst/>
          </a:prstGeom>
          <a:noFill/>
        </p:spPr>
        <p:txBody>
          <a:bodyPr wrap="none" lIns="0" tIns="0" rIns="0" bIns="0">
            <a:spAutoFit/>
          </a:bodyPr>
          <a:lstStyle/>
          <a:p>
            <a:pPr>
              <a:defRPr sz="1150" b="1">
                <a:solidFill>
                  <a:srgbClr val="0E7C6B"/>
                </a:solidFill>
                <a:latin typeface="Arial"/>
              </a:defRPr>
            </a:pPr>
            <a:r>
              <a:t>DECISION STRIP: Contradiction → Escalate  |  Hard fail → Escalate  |  Unclear only → Ask more  |  All pass → Approve for seller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46520"/>
            <a:ext cx="10362895" cy="274320"/>
          </a:xfrm>
          <a:prstGeom prst="rect">
            <a:avLst/>
          </a:prstGeom>
          <a:noFill/>
        </p:spPr>
        <p:txBody>
          <a:bodyPr wrap="none" lIns="0" tIns="0" rIns="0" bIns="0">
            <a:spAutoFit/>
          </a:bodyPr>
          <a:lstStyle/>
          <a:p>
            <a:pPr>
              <a:defRPr sz="1100">
                <a:solidFill>
                  <a:srgbClr val="666666"/>
                </a:solidFill>
                <a:latin typeface="Arial"/>
              </a:defRPr>
            </a:pPr>
            <a:r>
              <a:t>ReturnLens · PS-04 · 5/6</a:t>
            </a:r>
          </a:p>
        </p:txBody>
      </p:sp>
      <p:sp>
        <p:nvSpPr>
          <p:cNvPr id="4" name="TextBox 3"/>
          <p:cNvSpPr txBox="1"/>
          <p:nvPr/>
        </p:nvSpPr>
        <p:spPr>
          <a:xfrm>
            <a:off x="914400" y="457200"/>
            <a:ext cx="10362895" cy="320040"/>
          </a:xfrm>
          <a:prstGeom prst="rect">
            <a:avLst/>
          </a:prstGeom>
          <a:noFill/>
        </p:spPr>
        <p:txBody>
          <a:bodyPr wrap="square" lIns="0" tIns="0" rIns="0" bIns="0">
            <a:spAutoFit/>
          </a:bodyPr>
          <a:lstStyle/>
          <a:p>
            <a:pPr>
              <a:defRPr sz="1100" b="1">
                <a:solidFill>
                  <a:srgbClr val="0E7C6B"/>
                </a:solidFill>
                <a:latin typeface="Arial"/>
              </a:defRPr>
            </a:pPr>
            <a:r>
              <a:t>VERIFICATION &amp; DEMO EVIDENCE</a:t>
            </a:r>
          </a:p>
        </p:txBody>
      </p:sp>
      <p:sp>
        <p:nvSpPr>
          <p:cNvPr id="5" name="TextBox 4"/>
          <p:cNvSpPr txBox="1"/>
          <p:nvPr/>
        </p:nvSpPr>
        <p:spPr>
          <a:xfrm>
            <a:off x="914400" y="777240"/>
            <a:ext cx="10362895" cy="731520"/>
          </a:xfrm>
          <a:prstGeom prst="rect">
            <a:avLst/>
          </a:prstGeom>
          <a:noFill/>
        </p:spPr>
        <p:txBody>
          <a:bodyPr wrap="square" lIns="0" tIns="0" rIns="0" bIns="0">
            <a:spAutoFit/>
          </a:bodyPr>
          <a:lstStyle/>
          <a:p>
            <a:pPr>
              <a:defRPr sz="2900" b="1">
                <a:solidFill>
                  <a:srgbClr val="111111"/>
                </a:solidFill>
                <a:latin typeface="Arial"/>
              </a:defRPr>
            </a:pPr>
            <a:r>
              <a:t>Every decision can be clicked back to a frame, a clause, and a log entry.</a:t>
            </a:r>
          </a:p>
        </p:txBody>
      </p:sp>
      <p:sp>
        <p:nvSpPr>
          <p:cNvPr id="6" name="Rectangle 5"/>
          <p:cNvSpPr/>
          <p:nvPr/>
        </p:nvSpPr>
        <p:spPr>
          <a:xfrm>
            <a:off x="914400" y="164592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828800"/>
            <a:ext cx="4389120" cy="3749039"/>
          </a:xfrm>
          <a:prstGeom prst="rect">
            <a:avLst/>
          </a:prstGeom>
          <a:solidFill>
            <a:srgbClr val="F7F7F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11680"/>
            <a:ext cx="3931920" cy="3383279"/>
          </a:xfrm>
          <a:prstGeom prst="rect">
            <a:avLst/>
          </a:prstGeom>
          <a:noFill/>
        </p:spPr>
        <p:txBody>
          <a:bodyPr wrap="square" lIns="0" tIns="0" rIns="0" bIns="0">
            <a:spAutoFit/>
          </a:bodyPr>
          <a:lstStyle/>
          <a:p>
            <a:pPr>
              <a:defRPr sz="1200" b="1">
                <a:solidFill>
                  <a:srgbClr val="666666"/>
                </a:solidFill>
                <a:latin typeface="Arial"/>
              </a:defRPr>
            </a:pPr>
            <a:r>
              <a:t>CASE B (AUDIT PROOF: ESCALATED)</a:t>
            </a:r>
          </a:p>
          <a:p>
            <a:pPr>
              <a:spcBef>
                <a:spcPts val="800"/>
              </a:spcBef>
            </a:pPr>
            <a:r>
              <a:rPr sz="1300" b="1">
                <a:solidFill>
                  <a:srgbClr val="111111"/>
                </a:solidFill>
                <a:latin typeface="Arial"/>
              </a:rPr>
              <a:t>Order: </a:t>
            </a:r>
            <a:r>
              <a:rPr sz="1250">
                <a:solidFill>
                  <a:srgbClr val="111111"/>
                </a:solidFill>
                <a:latin typeface="Arial"/>
              </a:rPr>
              <a:t>HEAD-WHT-02, White</a:t>
            </a:r>
          </a:p>
          <a:p>
            <a:pPr>
              <a:spcBef>
                <a:spcPts val="800"/>
              </a:spcBef>
            </a:pPr>
            <a:r>
              <a:rPr sz="1300" b="1">
                <a:solidFill>
                  <a:srgbClr val="111111"/>
                </a:solidFill>
                <a:latin typeface="Arial"/>
              </a:rPr>
              <a:t>Frame 00:07: </a:t>
            </a:r>
            <a:r>
              <a:rPr sz="1250">
                <a:solidFill>
                  <a:srgbClr val="111111"/>
                </a:solidFill>
                <a:latin typeface="Arial"/>
              </a:rPr>
              <a:t>HEAD-BLK-09, Black</a:t>
            </a:r>
          </a:p>
          <a:p>
            <a:pPr>
              <a:spcBef>
                <a:spcPts val="800"/>
              </a:spcBef>
            </a:pPr>
            <a:r>
              <a:rPr sz="1300" b="1">
                <a:solidFill>
                  <a:srgbClr val="111111"/>
                </a:solidFill>
                <a:latin typeface="Arial"/>
              </a:rPr>
              <a:t>Policy: </a:t>
            </a:r>
            <a:r>
              <a:rPr sz="1250">
                <a:solidFill>
                  <a:srgbClr val="111111"/>
                </a:solidFill>
                <a:latin typeface="Arial"/>
              </a:rPr>
              <a:t>P-03 SKU mismatch, FAIL</a:t>
            </a:r>
          </a:p>
          <a:p>
            <a:pPr>
              <a:spcBef>
                <a:spcPts val="800"/>
              </a:spcBef>
            </a:pPr>
            <a:r>
              <a:rPr sz="1300" b="1">
                <a:solidFill>
                  <a:srgbClr val="111111"/>
                </a:solidFill>
                <a:latin typeface="Arial"/>
              </a:rPr>
              <a:t>Result: </a:t>
            </a:r>
            <a:r>
              <a:rPr sz="1300" b="1">
                <a:solidFill>
                  <a:srgbClr val="B45309"/>
                </a:solidFill>
                <a:latin typeface="Arial"/>
              </a:rPr>
              <a:t>ESCALATE</a:t>
            </a:r>
            <a:r>
              <a:rPr sz="1250">
                <a:solidFill>
                  <a:srgbClr val="111111"/>
                </a:solidFill>
                <a:latin typeface="Arial"/>
              </a:rPr>
              <a:t>, no label, no refund draft, no denial</a:t>
            </a:r>
          </a:p>
          <a:p>
            <a:pPr>
              <a:spcBef>
                <a:spcPts val="1200"/>
              </a:spcBef>
              <a:defRPr sz="1150">
                <a:solidFill>
                  <a:srgbClr val="666666"/>
                </a:solidFill>
                <a:latin typeface="Arial"/>
              </a:defRPr>
            </a:pPr>
            <a:r>
              <a:t>Seller options: Accept as mis-shipment / Ask for outside-box label / Hold for inspection.</a:t>
            </a:r>
          </a:p>
        </p:txBody>
      </p:sp>
      <p:sp>
        <p:nvSpPr>
          <p:cNvPr id="9" name="TextBox 8"/>
          <p:cNvSpPr txBox="1"/>
          <p:nvPr/>
        </p:nvSpPr>
        <p:spPr>
          <a:xfrm>
            <a:off x="5669280" y="1828800"/>
            <a:ext cx="5577840" cy="3749039"/>
          </a:xfrm>
          <a:prstGeom prst="rect">
            <a:avLst/>
          </a:prstGeom>
          <a:noFill/>
        </p:spPr>
        <p:txBody>
          <a:bodyPr wrap="square" lIns="0" tIns="0" rIns="0" bIns="0">
            <a:spAutoFit/>
          </a:bodyPr>
          <a:lstStyle/>
          <a:p>
            <a:r>
              <a:rPr sz="1350" b="1">
                <a:solidFill>
                  <a:srgbClr val="111111"/>
                </a:solidFill>
                <a:latin typeface="Arial"/>
              </a:rPr>
              <a:t>• Case A, approved for review: </a:t>
            </a:r>
            <a:r>
              <a:rPr sz="1300">
                <a:solidFill>
                  <a:srgbClr val="111111"/>
                </a:solidFill>
                <a:latin typeface="Arial"/>
              </a:rPr>
              <a:t>ORD-1042 (₹1,499), SKU matches, tag present, within window. Seller approval creates a mock return label and a refund draft in pending_return_receipt, not an executed refund.</a:t>
            </a:r>
          </a:p>
          <a:p>
            <a:pPr>
              <a:spcBef>
                <a:spcPts val="1400"/>
              </a:spcBef>
            </a:pPr>
            <a:r>
              <a:rPr sz="1350" b="1">
                <a:solidFill>
                  <a:srgbClr val="111111"/>
                </a:solidFill>
                <a:latin typeface="Arial"/>
              </a:rPr>
              <a:t>• Case C, ask for more evidence: </a:t>
            </a:r>
            <a:r>
              <a:rPr sz="1300">
                <a:solidFill>
                  <a:srgbClr val="111111"/>
                </a:solidFill>
                <a:latin typeface="Arial"/>
              </a:rPr>
              <a:t>4-second dark video, brightness 28, only 2 usable frames. Case stays open with an exact re-film checklist.</a:t>
            </a:r>
          </a:p>
          <a:p>
            <a:pPr>
              <a:spcBef>
                <a:spcPts val="1400"/>
              </a:spcBef>
            </a:pPr>
            <a:r>
              <a:rPr sz="1350" b="1">
                <a:solidFill>
                  <a:srgbClr val="111111"/>
                </a:solidFill>
                <a:latin typeface="Arial"/>
              </a:rPr>
              <a:t>• Case D, why video beats photos: </a:t>
            </a:r>
            <a:r>
              <a:rPr sz="1300">
                <a:solidFill>
                  <a:srgbClr val="111111"/>
                </a:solidFill>
                <a:latin typeface="Arial"/>
              </a:rPr>
              <a:t>One continuous take from opening a sealed parcel to showing the label in one continuous sequence.</a:t>
            </a:r>
          </a:p>
        </p:txBody>
      </p:sp>
      <p:sp>
        <p:nvSpPr>
          <p:cNvPr id="10" name="Rectangle 9"/>
          <p:cNvSpPr/>
          <p:nvPr/>
        </p:nvSpPr>
        <p:spPr>
          <a:xfrm>
            <a:off x="914400" y="571500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33872"/>
            <a:ext cx="10362895" cy="548640"/>
          </a:xfrm>
          <a:prstGeom prst="rect">
            <a:avLst/>
          </a:prstGeom>
          <a:noFill/>
        </p:spPr>
        <p:txBody>
          <a:bodyPr wrap="square" lIns="0" tIns="0" rIns="0" bIns="0">
            <a:spAutoFit/>
          </a:bodyPr>
          <a:lstStyle/>
          <a:p>
            <a:pPr>
              <a:defRPr sz="1200">
                <a:solidFill>
                  <a:srgbClr val="666666"/>
                </a:solidFill>
                <a:latin typeface="Arial"/>
              </a:defRPr>
            </a:pPr>
            <a:r>
              <a:t>Staged sample videos, mock data, no real customer data. If the model fails or the quota runs out, escalate. Do not approve without evidence.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46520"/>
            <a:ext cx="10362895" cy="274320"/>
          </a:xfrm>
          <a:prstGeom prst="rect">
            <a:avLst/>
          </a:prstGeom>
          <a:noFill/>
        </p:spPr>
        <p:txBody>
          <a:bodyPr wrap="none" lIns="0" tIns="0" rIns="0" bIns="0">
            <a:spAutoFit/>
          </a:bodyPr>
          <a:lstStyle/>
          <a:p>
            <a:pPr>
              <a:defRPr sz="1100">
                <a:solidFill>
                  <a:srgbClr val="666666"/>
                </a:solidFill>
                <a:latin typeface="Arial"/>
              </a:defRPr>
            </a:pPr>
            <a:r>
              <a:t>ReturnLens · PS-04 · 6/6</a:t>
            </a:r>
          </a:p>
        </p:txBody>
      </p:sp>
      <p:sp>
        <p:nvSpPr>
          <p:cNvPr id="4" name="TextBox 3"/>
          <p:cNvSpPr txBox="1"/>
          <p:nvPr/>
        </p:nvSpPr>
        <p:spPr>
          <a:xfrm>
            <a:off x="914400" y="457200"/>
            <a:ext cx="10362895" cy="320040"/>
          </a:xfrm>
          <a:prstGeom prst="rect">
            <a:avLst/>
          </a:prstGeom>
          <a:noFill/>
        </p:spPr>
        <p:txBody>
          <a:bodyPr wrap="square" lIns="0" tIns="0" rIns="0" bIns="0">
            <a:spAutoFit/>
          </a:bodyPr>
          <a:lstStyle/>
          <a:p>
            <a:pPr>
              <a:defRPr sz="1100" b="1">
                <a:solidFill>
                  <a:srgbClr val="0E7C6B"/>
                </a:solidFill>
                <a:latin typeface="Arial"/>
              </a:defRPr>
            </a:pPr>
            <a:r>
              <a:t>DELIVERY &amp; GOVERNANCE</a:t>
            </a:r>
          </a:p>
        </p:txBody>
      </p:sp>
      <p:sp>
        <p:nvSpPr>
          <p:cNvPr id="5" name="TextBox 4"/>
          <p:cNvSpPr txBox="1"/>
          <p:nvPr/>
        </p:nvSpPr>
        <p:spPr>
          <a:xfrm>
            <a:off x="914400" y="777240"/>
            <a:ext cx="10362895" cy="731520"/>
          </a:xfrm>
          <a:prstGeom prst="rect">
            <a:avLst/>
          </a:prstGeom>
          <a:noFill/>
        </p:spPr>
        <p:txBody>
          <a:bodyPr wrap="square" lIns="0" tIns="0" rIns="0" bIns="0">
            <a:spAutoFit/>
          </a:bodyPr>
          <a:lstStyle/>
          <a:p>
            <a:pPr>
              <a:defRPr sz="2900" b="1">
                <a:solidFill>
                  <a:srgbClr val="111111"/>
                </a:solidFill>
                <a:latin typeface="Arial"/>
              </a:defRPr>
            </a:pPr>
            <a:r>
              <a:t>Buildable in 24 hours by 3 people, if the scope stays narrow.</a:t>
            </a:r>
          </a:p>
        </p:txBody>
      </p:sp>
      <p:sp>
        <p:nvSpPr>
          <p:cNvPr id="6" name="Rectangle 5"/>
          <p:cNvSpPr/>
          <p:nvPr/>
        </p:nvSpPr>
        <p:spPr>
          <a:xfrm>
            <a:off x="914400" y="160020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3657600"/>
          </a:xfrm>
          <a:prstGeom prst="rect">
            <a:avLst/>
          </a:prstGeom>
          <a:noFill/>
        </p:spPr>
        <p:txBody>
          <a:bodyPr wrap="square" lIns="0" tIns="0" rIns="0" bIns="0">
            <a:spAutoFit/>
          </a:bodyPr>
          <a:lstStyle/>
          <a:p>
            <a:pPr>
              <a:defRPr sz="1200" b="1">
                <a:solidFill>
                  <a:srgbClr val="0E7C6B"/>
                </a:solidFill>
                <a:latin typeface="Arial"/>
              </a:defRPr>
            </a:pPr>
            <a:r>
              <a:t>24-HOUR PLAN &amp; SCOPE CUTS</a:t>
            </a:r>
          </a:p>
          <a:p>
            <a:pPr>
              <a:spcBef>
                <a:spcPts val="500"/>
              </a:spcBef>
            </a:pPr>
            <a:r>
              <a:rPr sz="1150" b="1">
                <a:solidFill>
                  <a:srgbClr val="111111"/>
                </a:solidFill>
                <a:latin typeface="Arial"/>
              </a:rPr>
              <a:t>• Person A: </a:t>
            </a:r>
            <a:r>
              <a:rPr sz="1100">
                <a:solidFill>
                  <a:srgbClr val="111111"/>
                </a:solidFill>
                <a:latin typeface="Arial"/>
              </a:rPr>
              <a:t>Backend, agent graph, policy, critic, audit log.</a:t>
            </a:r>
          </a:p>
          <a:p>
            <a:pPr>
              <a:spcBef>
                <a:spcPts val="500"/>
              </a:spcBef>
            </a:pPr>
            <a:r>
              <a:rPr sz="1150" b="1">
                <a:solidFill>
                  <a:srgbClr val="111111"/>
                </a:solidFill>
                <a:latin typeface="Arial"/>
              </a:rPr>
              <a:t>• Person B: </a:t>
            </a:r>
            <a:r>
              <a:rPr sz="1100">
                <a:solidFill>
                  <a:srgbClr val="111111"/>
                </a:solidFill>
                <a:latin typeface="Arial"/>
              </a:rPr>
              <a:t>Video pipeline, video indexer, seller console, evidence pack view.</a:t>
            </a:r>
          </a:p>
          <a:p>
            <a:pPr>
              <a:spcBef>
                <a:spcPts val="500"/>
              </a:spcBef>
            </a:pPr>
            <a:r>
              <a:rPr sz="1150" b="1">
                <a:solidFill>
                  <a:srgbClr val="111111"/>
                </a:solidFill>
                <a:latin typeface="Arial"/>
              </a:rPr>
              <a:t>• Person C: </a:t>
            </a:r>
            <a:r>
              <a:rPr sz="1100">
                <a:solidFill>
                  <a:srgbClr val="111111"/>
                </a:solidFill>
                <a:latin typeface="Arial"/>
              </a:rPr>
              <a:t>Integration, mock data, 4 demo cases, fallback testing, demo video, README.</a:t>
            </a:r>
          </a:p>
          <a:p>
            <a:pPr>
              <a:spcBef>
                <a:spcPts val="500"/>
              </a:spcBef>
            </a:pPr>
            <a:r>
              <a:rPr sz="1150" b="1">
                <a:solidFill>
                  <a:srgbClr val="111111"/>
                </a:solidFill>
                <a:latin typeface="Arial"/>
              </a:rPr>
              <a:t>• Project logic: </a:t>
            </a:r>
            <a:r>
              <a:rPr sz="1100">
                <a:solidFill>
                  <a:srgbClr val="111111"/>
                </a:solidFill>
                <a:latin typeface="Arial"/>
              </a:rPr>
              <a:t>Written inside the 24 hours. Before that, only research, design, accounts, and library choice.</a:t>
            </a:r>
          </a:p>
          <a:p>
            <a:pPr>
              <a:spcBef>
                <a:spcPts val="500"/>
              </a:spcBef>
            </a:pPr>
            <a:r>
              <a:rPr sz="1150" b="1">
                <a:solidFill>
                  <a:srgbClr val="111111"/>
                </a:solidFill>
                <a:latin typeface="Arial"/>
              </a:rPr>
              <a:t>• Cut first: </a:t>
            </a:r>
            <a:r>
              <a:rPr sz="1100">
                <a:solidFill>
                  <a:srgbClr val="111111"/>
                </a:solidFill>
                <a:latin typeface="Arial"/>
              </a:rPr>
              <a:t>WhatsApp, exchanges, multi-seller, audio, public deployment.</a:t>
            </a:r>
          </a:p>
          <a:p>
            <a:pPr>
              <a:spcBef>
                <a:spcPts val="500"/>
              </a:spcBef>
            </a:pPr>
            <a:r>
              <a:rPr sz="1150" b="1">
                <a:solidFill>
                  <a:srgbClr val="111111"/>
                </a:solidFill>
                <a:latin typeface="Arial"/>
              </a:rPr>
              <a:t>• Never cut: </a:t>
            </a:r>
            <a:r>
              <a:rPr sz="1100">
                <a:solidFill>
                  <a:srgbClr val="111111"/>
                </a:solidFill>
                <a:latin typeface="Arial"/>
              </a:rPr>
              <a:t>Policy engine, critic, seller gate, audit log, 4 demo cases.</a:t>
            </a:r>
          </a:p>
        </p:txBody>
      </p:sp>
      <p:sp>
        <p:nvSpPr>
          <p:cNvPr id="8" name="TextBox 7"/>
          <p:cNvSpPr txBox="1"/>
          <p:nvPr/>
        </p:nvSpPr>
        <p:spPr>
          <a:xfrm>
            <a:off x="6126480" y="1783080"/>
            <a:ext cx="5120640" cy="3657600"/>
          </a:xfrm>
          <a:prstGeom prst="rect">
            <a:avLst/>
          </a:prstGeom>
          <a:noFill/>
        </p:spPr>
        <p:txBody>
          <a:bodyPr wrap="square" lIns="0" tIns="0" rIns="0" bIns="0">
            <a:spAutoFit/>
          </a:bodyPr>
          <a:lstStyle/>
          <a:p>
            <a:pPr>
              <a:defRPr sz="1200" b="1">
                <a:solidFill>
                  <a:srgbClr val="0E7C6B"/>
                </a:solidFill>
                <a:latin typeface="Arial"/>
              </a:defRPr>
            </a:pPr>
            <a:r>
              <a:t>RISKS AND GUARDS</a:t>
            </a:r>
          </a:p>
          <a:p>
            <a:pPr>
              <a:spcBef>
                <a:spcPts val="600"/>
              </a:spcBef>
            </a:pPr>
            <a:r>
              <a:rPr sz="1200" b="1">
                <a:solidFill>
                  <a:srgbClr val="111111"/>
                </a:solidFill>
                <a:latin typeface="Arial"/>
              </a:rPr>
              <a:t>• Video unclear: </a:t>
            </a:r>
            <a:r>
              <a:rPr sz="1150">
                <a:solidFill>
                  <a:srgbClr val="111111"/>
                </a:solidFill>
                <a:latin typeface="Arial"/>
              </a:rPr>
              <a:t>Ask for more evidence or escalate.</a:t>
            </a:r>
          </a:p>
          <a:p>
            <a:pPr>
              <a:spcBef>
                <a:spcPts val="600"/>
              </a:spcBef>
            </a:pPr>
            <a:r>
              <a:rPr sz="1200" b="1">
                <a:solidFill>
                  <a:srgbClr val="111111"/>
                </a:solidFill>
                <a:latin typeface="Arial"/>
              </a:rPr>
              <a:t>• Quota or timeout: </a:t>
            </a:r>
            <a:r>
              <a:rPr sz="1150">
                <a:solidFill>
                  <a:srgbClr val="111111"/>
                </a:solidFill>
                <a:latin typeface="Arial"/>
              </a:rPr>
              <a:t>Cached analysis with the correct cache key, or escalate.</a:t>
            </a:r>
          </a:p>
          <a:p>
            <a:pPr>
              <a:spcBef>
                <a:spcPts val="600"/>
              </a:spcBef>
            </a:pPr>
            <a:r>
              <a:rPr sz="1200" b="1">
                <a:solidFill>
                  <a:srgbClr val="111111"/>
                </a:solidFill>
                <a:latin typeface="Arial"/>
              </a:rPr>
              <a:t>• Duplicate or stale approval: </a:t>
            </a:r>
            <a:r>
              <a:rPr sz="1150">
                <a:solidFill>
                  <a:srgbClr val="111111"/>
                </a:solidFill>
                <a:latin typeface="Arial"/>
              </a:rPr>
              <a:t>One return process per order in MVP, label and refund draft both idempotent in one transaction, approval bound to case version, evidence hash, policy version, action, and amount.</a:t>
            </a:r>
          </a:p>
          <a:p>
            <a:pPr>
              <a:spcBef>
                <a:spcPts val="600"/>
              </a:spcBef>
            </a:pPr>
            <a:r>
              <a:rPr sz="1200" b="1">
                <a:solidFill>
                  <a:srgbClr val="111111"/>
                </a:solidFill>
                <a:latin typeface="Arial"/>
              </a:rPr>
              <a:t>• Refund cap (server-computed): </a:t>
            </a:r>
            <a:r>
              <a:rPr sz="1150">
                <a:solidFill>
                  <a:srgbClr val="111111"/>
                </a:solidFill>
                <a:latin typeface="Arial"/>
              </a:rPr>
              <a:t>0 &lt; amount &lt;= min(₹4,999, remaining refundable amount, order paid amount)</a:t>
            </a:r>
          </a:p>
        </p:txBody>
      </p:sp>
      <p:sp>
        <p:nvSpPr>
          <p:cNvPr id="9" name="Rectangle 8"/>
          <p:cNvSpPr/>
          <p:nvPr/>
        </p:nvSpPr>
        <p:spPr>
          <a:xfrm>
            <a:off x="914400" y="5440680"/>
            <a:ext cx="10362895" cy="1270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32120"/>
            <a:ext cx="10362895" cy="868680"/>
          </a:xfrm>
          <a:prstGeom prst="rect">
            <a:avLst/>
          </a:prstGeom>
          <a:noFill/>
        </p:spPr>
        <p:txBody>
          <a:bodyPr wrap="square" lIns="0" tIns="0" rIns="0" bIns="0">
            <a:spAutoFit/>
          </a:bodyPr>
          <a:lstStyle/>
          <a:p>
            <a:pPr>
              <a:defRPr sz="1200" b="1">
                <a:solidFill>
                  <a:srgbClr val="0E7C6B"/>
                </a:solidFill>
                <a:latin typeface="Arial"/>
              </a:defRPr>
            </a:pPr>
            <a:r>
              <a:t>PS-04 checklist: mock tool calls, refund-limit guardrails, action log, human confirmation before refund.</a:t>
            </a:r>
          </a:p>
          <a:p>
            <a:pPr>
              <a:spcBef>
                <a:spcPts val="400"/>
              </a:spcBef>
              <a:defRPr sz="1150">
                <a:solidFill>
                  <a:srgbClr val="666666"/>
                </a:solidFill>
                <a:latin typeface="Arial"/>
              </a:defRPr>
            </a:pPr>
            <a:r>
              <a:t>No idea can guarantee top-100 selection. This deck claims a checkable, buildable agent, not a guaranteed result.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