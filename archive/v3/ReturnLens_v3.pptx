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5A6661"/>
                </a:solidFill>
                <a:latin typeface="Arial"/>
              </a:defRPr>
            </a:pPr>
            <a:r>
              <a:t>ReturnLens · Evidence-Backed Return Triage  ·  Slide 1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Arial"/>
              </a:defRPr>
            </a:pPr>
            <a:r>
              <a:t>AGENTX HACKATHON 2026 · PS-04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172621"/>
                </a:solidFill>
                <a:latin typeface="Arial"/>
              </a:defRPr>
            </a:pPr>
            <a:r>
              <a:t>ReturnLens</a:t>
            </a:r>
          </a:p>
          <a:p>
            <a:pPr>
              <a:spcBef>
                <a:spcPts val="1200"/>
              </a:spcBef>
              <a:defRPr sz="2200" b="1">
                <a:solidFill>
                  <a:srgbClr val="006B55"/>
                </a:solidFill>
                <a:latin typeface="Arial"/>
              </a:defRPr>
            </a:pPr>
            <a:r>
              <a:t>Review returns with cited video evidence.</a:t>
            </a:r>
          </a:p>
          <a:p>
            <a:pPr>
              <a:spcBef>
                <a:spcPts val="1600"/>
              </a:spcBef>
              <a:defRPr sz="1500">
                <a:solidFill>
                  <a:srgbClr val="5A6661"/>
                </a:solidFill>
                <a:latin typeface="Arial"/>
              </a:defRPr>
            </a:pPr>
            <a:r>
              <a:t>A focused return triage agent for solo direct-to-consumer sellers. It links buyer unboxing clips to store records and policy rules for 1-click decision making.</a:t>
            </a:r>
          </a:p>
          <a:p>
            <a:pPr>
              <a:spcBef>
                <a:spcPts val="2400"/>
              </a:spcBef>
              <a:defRPr sz="1200" b="1">
                <a:solidFill>
                  <a:srgbClr val="172621"/>
                </a:solidFill>
                <a:latin typeface="Arial"/>
              </a:defRPr>
            </a:pPr>
            <a:r>
              <a:t>Team Rookie  ·  3 Members  ·  24-Hour Prototype  ·  Mock Data &amp; Staged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00584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234440"/>
            <a:ext cx="42976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D88C31"/>
                </a:solidFill>
                <a:latin typeface="Arial"/>
              </a:defRPr>
            </a:pPr>
            <a:r>
              <a:t>CASE #RET-2026-084  [PENDING REVIEW]</a:t>
            </a:r>
          </a:p>
          <a:p>
            <a:pPr>
              <a:spcBef>
                <a:spcPts val="400"/>
              </a:spcBef>
              <a:defRPr sz="1100">
                <a:solidFill>
                  <a:srgbClr val="5A6661"/>
                </a:solidFill>
                <a:latin typeface="Arial"/>
              </a:defRPr>
            </a:pPr>
            <a:r>
              <a:t>Order #ORD-1042  ·  Customer: Anita S.</a:t>
            </a:r>
          </a:p>
          <a:p>
            <a:pPr>
              <a:spcBef>
                <a:spcPts val="1000"/>
              </a:spcBef>
              <a:defRPr sz="1200">
                <a:solidFill>
                  <a:srgbClr val="172621"/>
                </a:solidFill>
                <a:latin typeface="Arial"/>
              </a:defRPr>
            </a:pPr>
            <a:r>
              <a:t>ITEM: Wireless Over-Ear Headphones (White)</a:t>
            </a:r>
            <a:br/>
            <a:r>
              <a:t>SKU: HEAD-WHT-02  ·  Paid: ₹1,499  ·  Delivered 4d ago</a:t>
            </a:r>
          </a:p>
        </p:txBody>
      </p:sp>
      <p:pic>
        <p:nvPicPr>
          <p:cNvPr id="9" name="Picture 8" descr="product_white_headph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468880"/>
            <a:ext cx="1645920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5360" y="246888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06B55"/>
                </a:solidFill>
                <a:latin typeface="Arial"/>
              </a:defRPr>
            </a:pPr>
            <a:r>
              <a:t>STORE RECORD:</a:t>
            </a:r>
            <a:br/>
            <a:r>
              <a:t>Delivered in 7d window</a:t>
            </a:r>
            <a:br/>
            <a:r>
              <a:t>Packaging verified</a:t>
            </a:r>
            <a:br/>
            <a:r>
              <a:t>Policy eligible: 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749040"/>
            <a:ext cx="42976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5A6661"/>
                </a:solidFill>
                <a:latin typeface="Arial"/>
              </a:defRPr>
            </a:pPr>
            <a:r>
              <a:t>CITED FRAME: 00:14 / 00:45</a:t>
            </a:r>
          </a:p>
          <a:p>
            <a:pPr>
              <a:spcBef>
                <a:spcPts val="300"/>
              </a:spcBef>
              <a:defRPr sz="1200">
                <a:solidFill>
                  <a:srgbClr val="172621"/>
                </a:solidFill>
                <a:latin typeface="Arial"/>
              </a:defRPr>
            </a:pPr>
            <a:r>
              <a:t>"Seam tear on left casing verified. Brand tag matches store SKU."</a:t>
            </a:r>
          </a:p>
          <a:p>
            <a:pPr>
              <a:spcBef>
                <a:spcPts val="1400"/>
              </a:spcBef>
              <a:defRPr sz="1300" b="1">
                <a:solidFill>
                  <a:srgbClr val="006B55"/>
                </a:solidFill>
                <a:latin typeface="Arial"/>
              </a:defRPr>
            </a:pPr>
            <a:r>
              <a:t>NEXT ACTION:  [ Approve Return (1-Click) ]</a:t>
            </a:r>
          </a:p>
          <a:p>
            <a:pPr>
              <a:spcBef>
                <a:spcPts val="400"/>
              </a:spcBef>
              <a:defRPr sz="1050">
                <a:solidFill>
                  <a:srgbClr val="5A6661"/>
                </a:solidFill>
                <a:latin typeface="Arial"/>
              </a:defRPr>
            </a:pPr>
            <a:r>
              <a:t>Seller approval mandatory · Creates mock label &amp; refund draft in pending_return_receipt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06B55"/>
                </a:solidFill>
                <a:latin typeface="Arial"/>
              </a:defRPr>
            </a:pPr>
            <a:r>
              <a:t>THE PROBLEM  ·  SOLO SELLER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72621"/>
                </a:solidFill>
                <a:latin typeface="Arial"/>
              </a:defRPr>
            </a:pPr>
            <a:r>
              <a:t>Return evidence is scattered across four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661"/>
                </a:solidFill>
                <a:latin typeface="Arial"/>
              </a:defRPr>
            </a:pPr>
            <a:r>
              <a:t>Sellers make high-stakes return decisions from memory while toggling between fragmented tabs.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5A6661"/>
                </a:solidFill>
                <a:latin typeface="Arial"/>
              </a:defRPr>
            </a:pPr>
            <a:r>
              <a:t>ReturnLens · Problem Context  ·  Slide 2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21945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Arial"/>
              </a:defRPr>
            </a:pPr>
            <a:r>
              <a:t>1. BUYER CHAT / VIDEO</a:t>
            </a:r>
          </a:p>
          <a:p>
            <a:pPr>
              <a:spcBef>
                <a:spcPts val="800"/>
              </a:spcBef>
              <a:defRPr sz="1200">
                <a:solidFill>
                  <a:srgbClr val="172621"/>
                </a:solidFill>
                <a:latin typeface="Arial"/>
              </a:defRPr>
            </a:pPr>
            <a:r>
              <a:t>"Received damaged unit. Need full refund."</a:t>
            </a:r>
            <a:br/>
            <a:r>
              <a:t>📎 unboxing_clip_32s.mp4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69164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874520"/>
            <a:ext cx="21945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Arial"/>
              </a:defRPr>
            </a:pPr>
            <a:r>
              <a:t>2. ORDER RECORD</a:t>
            </a:r>
          </a:p>
          <a:p>
            <a:pPr>
              <a:spcBef>
                <a:spcPts val="800"/>
              </a:spcBef>
              <a:defRPr sz="1200">
                <a:solidFill>
                  <a:srgbClr val="172621"/>
                </a:solidFill>
                <a:latin typeface="Arial"/>
              </a:defRPr>
            </a:pPr>
            <a:r>
              <a:t>ORD-8492  ·  ₹1,499</a:t>
            </a:r>
            <a:br/>
            <a:r>
              <a:t>SKU: HEAD-WHT-02</a:t>
            </a:r>
            <a:br/>
            <a:r>
              <a:t>Customer: Rohit 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9164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20"/>
            <a:ext cx="21945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Arial"/>
              </a:defRPr>
            </a:pPr>
            <a:r>
              <a:t>3. DELIVERY STATUS</a:t>
            </a:r>
          </a:p>
          <a:p>
            <a:pPr>
              <a:spcBef>
                <a:spcPts val="800"/>
              </a:spcBef>
              <a:defRPr sz="1200">
                <a:solidFill>
                  <a:srgbClr val="172621"/>
                </a:solidFill>
                <a:latin typeface="Arial"/>
              </a:defRPr>
            </a:pPr>
            <a:r>
              <a:t>Delivered: 26 Oct (4d ago)</a:t>
            </a:r>
            <a:br/>
            <a:r>
              <a:t>Tracking: TRK-98214-DEL</a:t>
            </a:r>
            <a:br/>
            <a:r>
              <a:t>Carrier: MockPost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69164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874520"/>
            <a:ext cx="21945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Arial"/>
              </a:defRPr>
            </a:pPr>
            <a:r>
              <a:t>4. RETURN POLICY</a:t>
            </a:r>
          </a:p>
          <a:p>
            <a:pPr>
              <a:spcBef>
                <a:spcPts val="800"/>
              </a:spcBef>
              <a:defRPr sz="1200">
                <a:solidFill>
                  <a:srgbClr val="172621"/>
                </a:solidFill>
                <a:latin typeface="Arial"/>
              </a:defRPr>
            </a:pPr>
            <a:r>
              <a:t>7-day limit from delivery.</a:t>
            </a:r>
            <a:br/>
            <a:r>
              <a:t>Tags intact. Original box.</a:t>
            </a:r>
            <a:br/>
            <a:r>
              <a:t>Refund cap: ₹4,999.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77639"/>
            <a:ext cx="64008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8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60519"/>
            <a:ext cx="59436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D88C31"/>
                </a:solidFill>
                <a:latin typeface="Arial"/>
              </a:defRPr>
            </a:pPr>
            <a:r>
              <a:t>THE COST OF GUESSWORK</a:t>
            </a:r>
          </a:p>
          <a:p>
            <a:pPr>
              <a:spcBef>
                <a:spcPts val="600"/>
              </a:spcBef>
              <a:defRPr sz="1200">
                <a:solidFill>
                  <a:srgbClr val="172621"/>
                </a:solidFill>
                <a:latin typeface="Arial"/>
              </a:defRPr>
            </a:pPr>
            <a:r>
              <a:t>• Wrong Approval: Unrecoverable cash, shipping fees, and inventory lost to fraud or abuse.</a:t>
            </a:r>
            <a:br/>
            <a:r>
              <a:t>• Unfair Denial: Permanent loss of customer goodwill, chargebacks, and marketplace penalties.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3977639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4160519"/>
            <a:ext cx="3566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6B55"/>
                </a:solidFill>
                <a:latin typeface="Arial"/>
              </a:defRPr>
            </a:pPr>
            <a:r>
              <a:t>SOURCED INDUSTRY BENCHMARK</a:t>
            </a:r>
          </a:p>
          <a:p>
            <a:pPr>
              <a:spcBef>
                <a:spcPts val="600"/>
              </a:spcBef>
              <a:defRPr sz="1150">
                <a:solidFill>
                  <a:srgbClr val="172621"/>
                </a:solidFill>
                <a:latin typeface="Arial"/>
              </a:defRPr>
            </a:pPr>
            <a:r>
              <a:t>Fraud estimates differ by definition: 9% (NRF 2025, fraud only) vs 15.14% (Appriss/Deloitte 2024, fraud &amp; abuse).</a:t>
            </a:r>
          </a:p>
          <a:p>
            <a:pPr>
              <a:spcBef>
                <a:spcPts val="400"/>
              </a:spcBef>
              <a:defRPr sz="1000">
                <a:solidFill>
                  <a:srgbClr val="5A6661"/>
                </a:solidFill>
                <a:latin typeface="Arial"/>
              </a:defRPr>
            </a:pPr>
            <a:r>
              <a:t>*U.S. retail estimates; not measured on our target sellers.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06B55"/>
                </a:solidFill>
                <a:latin typeface="Arial"/>
              </a:defRPr>
            </a:pPr>
            <a:r>
              <a:t>PRODUCT DEMONSTRATION  ·  VISUAL EVIDENCE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72621"/>
                </a:solidFill>
                <a:latin typeface="Arial"/>
              </a:defRPr>
            </a:pPr>
            <a:r>
              <a:t>A color mismatch needs seller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661"/>
                </a:solidFill>
                <a:latin typeface="Arial"/>
              </a:defRPr>
            </a:pPr>
            <a:r>
              <a:t>When video evidence contradicts store truth, ReturnLens surfaces the discrepancy without auto-denying.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5A6661"/>
                </a:solidFill>
                <a:latin typeface="Arial"/>
              </a:defRPr>
            </a:pPr>
            <a:r>
              <a:t>Illustrative Prototype · Staged Mock Evidence · No Real Customer PII  ·  Slide 3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Arial"/>
              </a:defRPr>
            </a:pPr>
            <a:r>
              <a:t>STORE API RECORD [ORDER TRUTH]</a:t>
            </a:r>
          </a:p>
        </p:txBody>
      </p:sp>
      <p:pic>
        <p:nvPicPr>
          <p:cNvPr id="10" name="Picture 9" descr="product_white_headph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3017520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2519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2621"/>
                </a:solidFill>
                <a:latin typeface="Arial"/>
              </a:defRPr>
            </a:pPr>
            <a:r>
              <a:t>SKU: HEAD-WHT-02</a:t>
            </a:r>
            <a:br/>
            <a:r>
              <a:t>Product: Wireless Headset</a:t>
            </a:r>
            <a:br/>
            <a:r>
              <a:t>Ordered Color: White</a:t>
            </a:r>
            <a:br/>
            <a:r>
              <a:t>Price: ₹1,499 · Delivered 4d ago</a:t>
            </a:r>
          </a:p>
          <a:p>
            <a:pPr>
              <a:spcBef>
                <a:spcPts val="600"/>
              </a:spcBef>
              <a:defRPr sz="1100">
                <a:solidFill>
                  <a:srgbClr val="5A6661"/>
                </a:solidFill>
                <a:latin typeface="Arial"/>
              </a:defRPr>
            </a:pPr>
            <a:r>
              <a:t>Customer: Rohit K. · In 7-day window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3383280" cy="4389120"/>
          </a:xfrm>
          <a:prstGeom prst="rect">
            <a:avLst/>
          </a:prstGeom>
          <a:solidFill>
            <a:srgbClr val="FFFFFF"/>
          </a:solidFill>
          <a:ln w="31750">
            <a:solidFill>
              <a:srgbClr val="D88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88C31"/>
                </a:solidFill>
                <a:latin typeface="Arial"/>
              </a:defRPr>
            </a:pPr>
            <a:r>
              <a:t>VIDEO EVIDENCE [STAGED FRAME 00:07]</a:t>
            </a:r>
          </a:p>
        </p:txBody>
      </p:sp>
      <p:pic>
        <p:nvPicPr>
          <p:cNvPr id="14" name="Picture 13" descr="video_frame_black_headph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48840"/>
            <a:ext cx="3017520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0" y="42519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2621"/>
                </a:solidFill>
                <a:latin typeface="Arial"/>
              </a:defRPr>
            </a:pPr>
            <a:r>
              <a:t>Observed color: Black</a:t>
            </a:r>
            <a:br/>
            <a:r>
              <a:t>SKU: Not verified (unreadable)</a:t>
            </a:r>
            <a:br/>
            <a:r>
              <a:t>Tag: Tag not visible in this frame</a:t>
            </a:r>
            <a:br/>
            <a:r>
              <a:t>Discrepancy: Color divergence detected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691640"/>
            <a:ext cx="3383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C53929"/>
                </a:solidFill>
                <a:latin typeface="Arial"/>
              </a:defRPr>
            </a:pPr>
            <a:r>
              <a:t>POLICY P-03: FAIL (MISMATCH)</a:t>
            </a:r>
          </a:p>
          <a:p>
            <a:pPr>
              <a:spcBef>
                <a:spcPts val="800"/>
              </a:spcBef>
              <a:defRPr sz="1300" b="1">
                <a:solidFill>
                  <a:srgbClr val="D88C31"/>
                </a:solidFill>
                <a:latin typeface="Arial"/>
              </a:defRPr>
            </a:pPr>
            <a:r>
              <a:t>STATUS: NEEDS SELLER REVIEW</a:t>
            </a:r>
          </a:p>
          <a:p>
            <a:pPr>
              <a:spcBef>
                <a:spcPts val="400"/>
              </a:spcBef>
              <a:defRPr sz="1150">
                <a:solidFill>
                  <a:srgbClr val="5A6661"/>
                </a:solidFill>
                <a:latin typeface="Arial"/>
              </a:defRPr>
            </a:pPr>
            <a:r>
              <a:t>No automatic denial. No return label or refund draft issued at this stage.</a:t>
            </a:r>
          </a:p>
          <a:p>
            <a:pPr>
              <a:spcBef>
                <a:spcPts val="1200"/>
              </a:spcBef>
              <a:defRPr sz="1150">
                <a:solidFill>
                  <a:srgbClr val="172621"/>
                </a:solidFill>
                <a:latin typeface="Arial"/>
              </a:defRPr>
            </a:pPr>
            <a:r>
              <a:t>Seller Resolution Options:</a:t>
            </a:r>
            <a:br/>
            <a:r>
              <a:t>1. Review possible warehouse mis-shipment</a:t>
            </a:r>
            <a:br/>
            <a:r>
              <a:t>2. Request outside-box shipping label photo</a:t>
            </a:r>
            <a:br/>
            <a:r>
              <a:t>3. Hold for physical inspection upon return</a:t>
            </a:r>
          </a:p>
          <a:p>
            <a:pPr>
              <a:spcBef>
                <a:spcPts val="1600"/>
              </a:spcBef>
              <a:defRPr sz="1000">
                <a:solidFill>
                  <a:srgbClr val="5A6661"/>
                </a:solidFill>
                <a:latin typeface="Arial"/>
              </a:defRPr>
            </a:pPr>
            <a:r>
              <a:t>Illustrative prototype · Staged mock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EC9B6"/>
                </a:solidFill>
                <a:latin typeface="Arial"/>
              </a:defRPr>
            </a:pPr>
            <a:r>
              <a:t>WORKFLOW &amp; DECISION AUTHORITY  ·  DETERMINISTIC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Evidence checks and seller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5A39D"/>
                </a:solidFill>
                <a:latin typeface="Arial"/>
              </a:defRPr>
            </a:pPr>
            <a:r>
              <a:t>A deterministic pipeline where models observe, code verifies, and the seller authorizes.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1F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95A39D"/>
                </a:solidFill>
                <a:latin typeface="Arial"/>
              </a:defRPr>
            </a:pPr>
            <a:r>
              <a:t>ReturnLens · System Architecture &amp; Decision Flow  ·  Slide 4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2057400" cy="2103120"/>
          </a:xfrm>
          <a:prstGeom prst="rect">
            <a:avLst/>
          </a:prstGeom>
          <a:solidFill>
            <a:srgbClr val="14221D"/>
          </a:solidFill>
          <a:ln w="12700">
            <a:solidFill>
              <a:srgbClr val="1F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17830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EC9B6"/>
                </a:solidFill>
                <a:latin typeface="Arial"/>
              </a:defRPr>
            </a:pPr>
            <a:r>
              <a:t>01 · INGEST</a:t>
            </a:r>
          </a:p>
          <a:p>
            <a:pPr>
              <a:spcBef>
                <a:spcPts val="4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Receive &amp; Retrieve</a:t>
            </a:r>
          </a:p>
          <a:p>
            <a:pPr>
              <a:spcBef>
                <a:spcPts val="600"/>
              </a:spcBef>
              <a:defRPr sz="1100">
                <a:solidFill>
                  <a:srgbClr val="95A39D"/>
                </a:solidFill>
                <a:latin typeface="Arial"/>
              </a:defRPr>
            </a:pPr>
            <a:r>
              <a:t>Buyer video via mock chat; queries order &amp; courier APIs.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07791" y="1737360"/>
            <a:ext cx="2057400" cy="2103120"/>
          </a:xfrm>
          <a:prstGeom prst="rect">
            <a:avLst/>
          </a:prstGeom>
          <a:solidFill>
            <a:srgbClr val="14221D"/>
          </a:solidFill>
          <a:ln w="12700">
            <a:solidFill>
              <a:srgbClr val="1F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1" y="1874520"/>
            <a:ext cx="17830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EC9B6"/>
                </a:solidFill>
                <a:latin typeface="Arial"/>
              </a:defRPr>
            </a:pPr>
            <a:r>
              <a:t>02 · OBSERVE</a:t>
            </a:r>
          </a:p>
          <a:p>
            <a:pPr>
              <a:spcBef>
                <a:spcPts val="4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Model Observation</a:t>
            </a:r>
          </a:p>
          <a:p>
            <a:pPr>
              <a:spcBef>
                <a:spcPts val="600"/>
              </a:spcBef>
              <a:defRPr sz="1100">
                <a:solidFill>
                  <a:srgbClr val="95A39D"/>
                </a:solidFill>
                <a:latin typeface="Arial"/>
              </a:defRPr>
            </a:pPr>
            <a:r>
              <a:t>Models inspect frames; output structured observations.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4064" y="1737360"/>
            <a:ext cx="2057400" cy="2103120"/>
          </a:xfrm>
          <a:prstGeom prst="rect">
            <a:avLst/>
          </a:prstGeom>
          <a:solidFill>
            <a:srgbClr val="14221D"/>
          </a:solidFill>
          <a:ln w="25400">
            <a:solidFill>
              <a:srgbClr val="3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1874520"/>
            <a:ext cx="17830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EC9B6"/>
                </a:solidFill>
                <a:latin typeface="Arial"/>
              </a:defRPr>
            </a:pPr>
            <a:r>
              <a:t>03 · CHECK</a:t>
            </a:r>
          </a:p>
          <a:p>
            <a:pPr>
              <a:spcBef>
                <a:spcPts val="4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Policy Engine (Code)</a:t>
            </a:r>
          </a:p>
          <a:p>
            <a:pPr>
              <a:spcBef>
                <a:spcPts val="600"/>
              </a:spcBef>
              <a:defRPr sz="1100">
                <a:solidFill>
                  <a:srgbClr val="95A39D"/>
                </a:solidFill>
                <a:latin typeface="Arial"/>
              </a:defRPr>
            </a:pPr>
            <a:r>
              <a:t>Pure code checks 7d window, delivery date, SKU match, refund cap.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0336" y="1737360"/>
            <a:ext cx="2057400" cy="2103120"/>
          </a:xfrm>
          <a:prstGeom prst="rect">
            <a:avLst/>
          </a:prstGeom>
          <a:solidFill>
            <a:srgbClr val="14221D"/>
          </a:solidFill>
          <a:ln w="12700">
            <a:solidFill>
              <a:srgbClr val="1F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7496" y="1874520"/>
            <a:ext cx="17830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EC9B6"/>
                </a:solidFill>
                <a:latin typeface="Arial"/>
              </a:defRPr>
            </a:pPr>
            <a:r>
              <a:t>04 · VERIFY</a:t>
            </a:r>
          </a:p>
          <a:p>
            <a:pPr>
              <a:spcBef>
                <a:spcPts val="4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Independent Critic</a:t>
            </a:r>
          </a:p>
          <a:p>
            <a:pPr>
              <a:spcBef>
                <a:spcPts val="600"/>
              </a:spcBef>
              <a:defRPr sz="1100">
                <a:solidFill>
                  <a:srgbClr val="95A39D"/>
                </a:solidFill>
                <a:latin typeface="Arial"/>
              </a:defRPr>
            </a:pPr>
            <a:r>
              <a:t>Audits cited frames to confirm observations are supported.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36608" y="1737360"/>
            <a:ext cx="2057400" cy="2103120"/>
          </a:xfrm>
          <a:prstGeom prst="rect">
            <a:avLst/>
          </a:prstGeom>
          <a:solidFill>
            <a:srgbClr val="14221D"/>
          </a:solidFill>
          <a:ln w="12700">
            <a:solidFill>
              <a:srgbClr val="1F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73768" y="1874520"/>
            <a:ext cx="17830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EC9B6"/>
                </a:solidFill>
                <a:latin typeface="Arial"/>
              </a:defRPr>
            </a:pPr>
            <a:r>
              <a:t>05 · AUTHORIZE</a:t>
            </a:r>
          </a:p>
          <a:p>
            <a:pPr>
              <a:spcBef>
                <a:spcPts val="400"/>
              </a:spcBef>
              <a:defRPr sz="1350" b="1">
                <a:solidFill>
                  <a:srgbClr val="FFFFFF"/>
                </a:solidFill>
                <a:latin typeface="Arial"/>
              </a:defRPr>
            </a:pPr>
            <a:r>
              <a:t>Seller Gate</a:t>
            </a:r>
          </a:p>
          <a:p>
            <a:pPr>
              <a:spcBef>
                <a:spcPts val="600"/>
              </a:spcBef>
              <a:defRPr sz="1100">
                <a:solidFill>
                  <a:srgbClr val="95A39D"/>
                </a:solidFill>
                <a:latin typeface="Arial"/>
              </a:defRPr>
            </a:pPr>
            <a:r>
              <a:t>Seller 1-click approval permits mock label &amp; refund draft.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383280" cy="1280160"/>
          </a:xfrm>
          <a:prstGeom prst="rect">
            <a:avLst/>
          </a:prstGeom>
          <a:solidFill>
            <a:srgbClr val="14221D"/>
          </a:solidFill>
          <a:ln w="19050">
            <a:solidFill>
              <a:srgbClr val="D88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88C31"/>
                </a:solidFill>
                <a:latin typeface="Arial"/>
              </a:defRPr>
            </a:pPr>
            <a:r>
              <a:t>UNCLEAR EVIDENCE</a:t>
            </a:r>
          </a:p>
          <a:p>
            <a:pPr>
              <a:spcBef>
                <a:spcPts val="400"/>
              </a:spcBef>
              <a:defRPr sz="1150">
                <a:solidFill>
                  <a:srgbClr val="EDEBE6"/>
                </a:solidFill>
                <a:latin typeface="Arial"/>
              </a:defRPr>
            </a:pPr>
            <a:r>
              <a:t>Asks for specific photo (e.g. tag/serial) and resumes the exact same case.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4023360"/>
            <a:ext cx="3383280" cy="1280160"/>
          </a:xfrm>
          <a:prstGeom prst="rect">
            <a:avLst/>
          </a:prstGeom>
          <a:solidFill>
            <a:srgbClr val="14221D"/>
          </a:solidFill>
          <a:ln w="19050">
            <a:solidFill>
              <a:srgbClr val="C53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16052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3929"/>
                </a:solidFill>
                <a:latin typeface="Arial"/>
              </a:defRPr>
            </a:pPr>
            <a:r>
              <a:t>MISMATCH / CONTRADICTION</a:t>
            </a:r>
          </a:p>
          <a:p>
            <a:pPr>
              <a:spcBef>
                <a:spcPts val="400"/>
              </a:spcBef>
              <a:defRPr sz="1150">
                <a:solidFill>
                  <a:srgbClr val="EDEBE6"/>
                </a:solidFill>
                <a:latin typeface="Arial"/>
              </a:defRPr>
            </a:pPr>
            <a:r>
              <a:t>Escalates directly to seller review with proof pack; never auto-denies.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023360"/>
            <a:ext cx="3383280" cy="1280160"/>
          </a:xfrm>
          <a:prstGeom prst="rect">
            <a:avLst/>
          </a:prstGeom>
          <a:solidFill>
            <a:srgbClr val="14221D"/>
          </a:solidFill>
          <a:ln w="19050">
            <a:solidFill>
              <a:srgbClr val="3EC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16052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EC9B6"/>
                </a:solidFill>
                <a:latin typeface="Arial"/>
              </a:defRPr>
            </a:pPr>
            <a:r>
              <a:t>ALL POLICY CHECKS PASS</a:t>
            </a:r>
          </a:p>
          <a:p>
            <a:pPr>
              <a:spcBef>
                <a:spcPts val="400"/>
              </a:spcBef>
              <a:defRPr sz="1150">
                <a:solidFill>
                  <a:srgbClr val="EDEBE6"/>
                </a:solidFill>
                <a:latin typeface="Arial"/>
              </a:defRPr>
            </a:pPr>
            <a:r>
              <a:t>Prepares 1-click approval package for seller; draft in pending_return_receipt.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532120"/>
            <a:ext cx="10728655" cy="548640"/>
          </a:xfrm>
          <a:prstGeom prst="rect">
            <a:avLst/>
          </a:prstGeom>
          <a:solidFill>
            <a:srgbClr val="14221D"/>
          </a:solidFill>
          <a:ln w="12700">
            <a:solidFill>
              <a:srgbClr val="1F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EC9B6"/>
                </a:solidFill>
                <a:latin typeface="Arial"/>
              </a:defRPr>
            </a:pPr>
            <a:r>
              <a:t>AUTHORITY MODEL: Server-enforced limits · Models observe; pure code evaluates policy · Seller approval required for all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06B55"/>
                </a:solidFill>
                <a:latin typeface="Arial"/>
              </a:defRPr>
            </a:pPr>
            <a:r>
              <a:t>DEMO SCENARIOS  ·  BENCHMARK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72621"/>
                </a:solidFill>
                <a:latin typeface="Arial"/>
              </a:defRPr>
            </a:pPr>
            <a:r>
              <a:t>Four return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661"/>
                </a:solidFill>
                <a:latin typeface="Arial"/>
              </a:defRPr>
            </a:pPr>
            <a:r>
              <a:t>Expected prototype behavior across diverse real-world return situations.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5A6661"/>
                </a:solidFill>
                <a:latin typeface="Arial"/>
              </a:defRPr>
            </a:pPr>
            <a:r>
              <a:t>Consistent Demo Benchmark Suite · 4 Scenarios  ·  Slide 5 / 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3736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3596335"/>
                <a:gridCol w="3657600"/>
              </a:tblGrid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6B55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EC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6B55"/>
                          </a:solidFill>
                          <a:latin typeface="Arial"/>
                        </a:defRPr>
                      </a:pPr>
                      <a:r>
                        <a:t>Case Identifier</a:t>
                      </a:r>
                    </a:p>
                  </a:txBody>
                  <a:tcPr>
                    <a:solidFill>
                      <a:srgbClr val="EC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6B55"/>
                          </a:solidFill>
                          <a:latin typeface="Arial"/>
                        </a:defRPr>
                      </a:pPr>
                      <a:r>
                        <a:t>Evidence Situation</a:t>
                      </a:r>
                    </a:p>
                  </a:txBody>
                  <a:tcPr>
                    <a:solidFill>
                      <a:srgbClr val="EC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6B55"/>
                          </a:solidFill>
                          <a:latin typeface="Arial"/>
                        </a:defRPr>
                      </a:pPr>
                      <a:r>
                        <a:t>Expected Prototype Behavior</a:t>
                      </a:r>
                    </a:p>
                  </a:txBody>
                  <a:tcPr>
                    <a:solidFill>
                      <a:srgbClr val="ECEEE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006B55"/>
                          </a:solidFill>
                          <a:latin typeface="Arial"/>
                        </a:defRPr>
                      </a:pPr>
                      <a: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Case A · ORD-1042</a:t>
                      </a:r>
                      <a:br/>
                      <a:r>
                        <a:t>₹1,499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Seam tear verified at 00:14; inside 7-day window; brand tag matches.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Prepare for seller approval → Generates mock label &amp; refund draft in pending_return_receipt.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D88C31"/>
                          </a:solidFill>
                          <a:latin typeface="Arial"/>
                        </a:defRPr>
                      </a:pPr>
                      <a:r>
                        <a:t>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Case B · ORD-8492</a:t>
                      </a:r>
                      <a:br/>
                      <a:r>
                        <a:t>₹1,499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White ordered vs Black observed in frame 00:07; tag missing.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Needs seller review → Flagged with proof pack for manual decision; no auto-denial, no label created.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Unclear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Case C · ORD-5120</a:t>
                      </a:r>
                      <a:br/>
                      <a:r>
                        <a:t>₹850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4-second dark video (brightness 28); only 2 usable frames.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Request specific evidence → Prompts buyer for well-lit tag photo; preserves active case session.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Case D · ORD-3391</a:t>
                      </a:r>
                      <a:br/>
                      <a:r>
                        <a:t>₹2,199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Continuous take tracking parcel from sealed label to unboxing.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72621"/>
                          </a:solidFill>
                          <a:latin typeface="Arial"/>
                        </a:defRPr>
                      </a:pPr>
                      <a:r>
                        <a:t>Check sequence continuity → Verifies chronological context; asks for missing angles if needed.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06B55"/>
                </a:solidFill>
                <a:latin typeface="Arial"/>
              </a:defRPr>
            </a:pPr>
            <a:r>
              <a:t>DELIVERY PLAN  ·  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72621"/>
                </a:solidFill>
                <a:latin typeface="Arial"/>
              </a:defRPr>
            </a:pPr>
            <a:r>
              <a:t>A focused 24-hour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5A6661"/>
                </a:solidFill>
                <a:latin typeface="Arial"/>
              </a:defRPr>
            </a:pPr>
            <a:r>
              <a:t>Realistic scope and role allocation for a 3-person sprint during the hackathon.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5A6661"/>
                </a:solidFill>
                <a:latin typeface="Arial"/>
              </a:defRPr>
            </a:pPr>
            <a:r>
              <a:t>Project-specific logic written inside the 24 hours · Checkable, buildable agent prototype  ·  Slide 6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852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5394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6B55"/>
                </a:solidFill>
                <a:latin typeface="Arial"/>
              </a:defRPr>
            </a:pPr>
            <a:r>
              <a:t>24-HOUR SPRINT TIMELINE</a:t>
            </a:r>
          </a:p>
          <a:p>
            <a:pPr>
              <a:spcBef>
                <a:spcPts val="800"/>
              </a:spcBef>
              <a:defRPr sz="1200" b="1">
                <a:solidFill>
                  <a:srgbClr val="172621"/>
                </a:solidFill>
                <a:latin typeface="Arial"/>
              </a:defRPr>
            </a:pPr>
            <a:r>
              <a:t>00h – 06h: Mock APIs &amp; Core Flow</a:t>
            </a:r>
          </a:p>
          <a:p>
            <a:pPr>
              <a:defRPr sz="1100">
                <a:solidFill>
                  <a:srgbClr val="5A6661"/>
                </a:solidFill>
                <a:latin typeface="Arial"/>
              </a:defRPr>
            </a:pPr>
            <a:r>
              <a:t>FastAPI mock store and shipping services, SQLite seed data, core StateGraph.</a:t>
            </a:r>
          </a:p>
          <a:p>
            <a:pPr>
              <a:spcBef>
                <a:spcPts val="800"/>
              </a:spcBef>
              <a:defRPr sz="1200" b="1">
                <a:solidFill>
                  <a:srgbClr val="172621"/>
                </a:solidFill>
                <a:latin typeface="Arial"/>
              </a:defRPr>
            </a:pPr>
            <a:r>
              <a:t>06h – 12h: Evidence Pipeline &amp; Policy Checks</a:t>
            </a:r>
          </a:p>
          <a:p>
            <a:pPr>
              <a:defRPr sz="1100">
                <a:solidFill>
                  <a:srgbClr val="5A6661"/>
                </a:solidFill>
                <a:latin typeface="Arial"/>
              </a:defRPr>
            </a:pPr>
            <a:r>
              <a:t>ffmpeg CPU frame extraction (~1 fps), multimodal prompt grounding, deterministic code policy rules.</a:t>
            </a:r>
          </a:p>
          <a:p>
            <a:pPr>
              <a:spcBef>
                <a:spcPts val="800"/>
              </a:spcBef>
              <a:defRPr sz="1200" b="1">
                <a:solidFill>
                  <a:srgbClr val="172621"/>
                </a:solidFill>
                <a:latin typeface="Arial"/>
              </a:defRPr>
            </a:pPr>
            <a:r>
              <a:t>12h – 18h: Integration &amp; 4 Demo Scenarios</a:t>
            </a:r>
          </a:p>
          <a:p>
            <a:pPr>
              <a:defRPr sz="1100">
                <a:solidFill>
                  <a:srgbClr val="5A6661"/>
                </a:solidFill>
                <a:latin typeface="Arial"/>
              </a:defRPr>
            </a:pPr>
            <a:r>
              <a:t>End-to-end testing across Cases A, B, C, D; critic checks; fallback error handling.</a:t>
            </a:r>
          </a:p>
          <a:p>
            <a:pPr>
              <a:spcBef>
                <a:spcPts val="800"/>
              </a:spcBef>
              <a:defRPr sz="1200" b="1">
                <a:solidFill>
                  <a:srgbClr val="172621"/>
                </a:solidFill>
                <a:latin typeface="Arial"/>
              </a:defRPr>
            </a:pPr>
            <a:r>
              <a:t>18h – 24h: Demo Polish &amp; Packaging</a:t>
            </a:r>
          </a:p>
          <a:p>
            <a:pPr>
              <a:defRPr sz="1100">
                <a:solidFill>
                  <a:srgbClr val="5A6661"/>
                </a:solidFill>
                <a:latin typeface="Arial"/>
              </a:defRPr>
            </a:pPr>
            <a:r>
              <a:t>Seller review console polish, 3-minute video walk-through, GitHub README, submission package.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737360"/>
            <a:ext cx="45720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920240"/>
            <a:ext cx="4114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6B55"/>
                </a:solidFill>
                <a:latin typeface="Arial"/>
              </a:defRPr>
            </a:pPr>
            <a:r>
              <a:t>TEAM ROLES (3 MEMBERS)</a:t>
            </a:r>
          </a:p>
          <a:p>
            <a:pPr>
              <a:spcBef>
                <a:spcPts val="600"/>
              </a:spcBef>
              <a:defRPr sz="1100">
                <a:solidFill>
                  <a:srgbClr val="172621"/>
                </a:solidFill>
                <a:latin typeface="Arial"/>
              </a:defRPr>
            </a:pPr>
            <a:r>
              <a:t>• Person A (Backend &amp; Logic): Agent flow, state graph, deterministic policy engine, critic, audit log.</a:t>
            </a:r>
            <a:br/>
            <a:r>
              <a:t>• Person B (Multimodal &amp; UI): Video pipeline, frame indexer, seller console, evidence pack view.</a:t>
            </a:r>
            <a:br/>
            <a:r>
              <a:t>• Person C (QA &amp; Integration): Integration, mock store data, 4 demo cases, fallback testing, demo video.</a:t>
            </a:r>
          </a:p>
          <a:p>
            <a:pPr>
              <a:spcBef>
                <a:spcPts val="1400"/>
              </a:spcBef>
              <a:defRPr sz="1150" b="1">
                <a:solidFill>
                  <a:srgbClr val="D88C31"/>
                </a:solidFill>
                <a:latin typeface="Arial"/>
              </a:defRPr>
            </a:pPr>
            <a:r>
              <a:t>STRICT 24-HOUR SCOPE GUARDRAILS:</a:t>
            </a:r>
          </a:p>
          <a:p>
            <a:pPr>
              <a:spcBef>
                <a:spcPts val="400"/>
              </a:spcBef>
              <a:defRPr sz="1100">
                <a:solidFill>
                  <a:srgbClr val="5A6661"/>
                </a:solidFill>
                <a:latin typeface="Arial"/>
              </a:defRPr>
            </a:pPr>
            <a:r>
              <a:t>• Mock services, staged evidence, single seller return workflow, no production payments.</a:t>
            </a:r>
            <a:br/>
            <a:r>
              <a:t>• Deliverable: Checkable, reproducible agent workflows with transparent action trail.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